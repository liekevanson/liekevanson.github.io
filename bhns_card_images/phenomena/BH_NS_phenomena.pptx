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2.xml" ContentType="application/inkml+xml"/>
  <Override PartName="/ppt/notesSlides/notesSlide6.xml" ContentType="application/vnd.openxmlformats-officedocument.presentationml.notesSlide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2" r:id="rId3"/>
    <p:sldId id="263" r:id="rId4"/>
    <p:sldId id="264" r:id="rId5"/>
    <p:sldId id="261" r:id="rId6"/>
    <p:sldId id="265" r:id="rId7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3324"/>
    <a:srgbClr val="90C9DD"/>
    <a:srgbClr val="FF8734"/>
    <a:srgbClr val="EECB39"/>
    <a:srgbClr val="AABC41"/>
    <a:srgbClr val="23221E"/>
    <a:srgbClr val="C1E462"/>
    <a:srgbClr val="8ACDEF"/>
    <a:srgbClr val="E3BCC9"/>
    <a:srgbClr val="7F97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85"/>
    <p:restoredTop sz="94658"/>
  </p:normalViewPr>
  <p:slideViewPr>
    <p:cSldViewPr snapToGrid="0">
      <p:cViewPr varScale="1">
        <p:scale>
          <a:sx n="120" d="100"/>
          <a:sy n="120" d="100"/>
        </p:scale>
        <p:origin x="7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2T15:51:12.624"/>
    </inkml:context>
    <inkml:brush xml:id="br0">
      <inkml:brushProperty name="width" value="0.1" units="cm"/>
      <inkml:brushProperty name="height" value="0.2" units="cm"/>
      <inkml:brushProperty name="color" value="#FCC04A"/>
      <inkml:brushProperty name="tip" value="rectangle"/>
      <inkml:brushProperty name="rasterOp" value="maskPen"/>
    </inkml:brush>
  </inkml:definitions>
  <inkml:trace contextRef="#ctx0" brushRef="#br0">183 1010,'-10'-21,"-1"-2,1 3,1 3,2 3,3 3,0-2,-1-3,0-2,-2-3,0 2,1 2,-1 2,2 1,-1-1,1 0,1 1,1 3,0 2,2 2,-1 0,1-2,-2-1,1-1,-1-2,0 1,1 0,-1-2,-1-2,1 0,0 1,1 2,0 3,1 1,-1-1,0-1,-1-1,0 2,2 2,0-1,0 0,-1-3,0-1,-1 0,1 0,0 3,1 0,0 1,0 0,0 1,0 0,1 1,0 1,0 0,0 0,0 0,0 0,0 0,0 0,0-1,0 0,0 0,0-1,0 2,0 1,0 0,0 0,0-1,0 1,0-2,0 3,0-2,0 0,0 0,0-1,0 3,0-1,0-2,0 3,0-2,0 0,0 1,2-2,-1 0,1 0,0 1,-1 1,0-1,1 0,0-4,0 2,0-1,0 4,-2 0,1 0,0-1,1-1,1 0,-1 0,2 0,-1-1,1-1,-1 2,1 0,-1 3,0 1,0-1,0-2,1-1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2T15:51:12.624"/>
    </inkml:context>
    <inkml:brush xml:id="br0">
      <inkml:brushProperty name="width" value="0.1" units="cm"/>
      <inkml:brushProperty name="height" value="0.2" units="cm"/>
      <inkml:brushProperty name="color" value="#FCC04A"/>
      <inkml:brushProperty name="tip" value="rectangle"/>
      <inkml:brushProperty name="rasterOp" value="maskPen"/>
    </inkml:brush>
  </inkml:definitions>
  <inkml:trace contextRef="#ctx0" brushRef="#br0">183 1010,'-10'-21,"-1"-2,1 3,1 3,2 3,3 3,0-2,-1-3,0-2,-2-3,0 2,1 2,-1 2,2 1,-1-1,1 0,1 1,1 3,0 2,2 2,-1 0,1-2,-2-1,1-1,-1-2,0 1,1 0,-1-2,-1-2,1 0,0 1,1 2,0 3,1 1,-1-1,0-1,-1-1,0 2,2 2,0-1,0 0,-1-3,0-1,-1 0,1 0,0 3,1 0,0 1,0 0,0 1,0 0,1 1,0 1,0 0,0 0,0 0,0 0,0 0,0 0,0-1,0 0,0 0,0-1,0 2,0 1,0 0,0 0,0-1,0 1,0-2,0 3,0-2,0 0,0 0,0-1,0 3,0-1,0-2,0 3,0-2,0 0,0 1,2-2,-1 0,1 0,0 1,-1 1,0-1,1 0,0-4,0 2,0-1,0 4,-2 0,1 0,0-1,1-1,1 0,-1 0,2 0,-1-1,1-1,-1 2,1 0,-1 3,0 1,0-1,0-2,1-1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2T15:51:12.624"/>
    </inkml:context>
    <inkml:brush xml:id="br0">
      <inkml:brushProperty name="width" value="0.1" units="cm"/>
      <inkml:brushProperty name="height" value="0.2" units="cm"/>
      <inkml:brushProperty name="color" value="#FCC04A"/>
      <inkml:brushProperty name="tip" value="rectangle"/>
      <inkml:brushProperty name="rasterOp" value="maskPen"/>
    </inkml:brush>
  </inkml:definitions>
  <inkml:trace contextRef="#ctx0" brushRef="#br0">183 1010,'-10'-21,"-1"-2,1 3,1 3,2 3,3 3,0-2,-1-3,0-2,-2-3,0 2,1 2,-1 2,2 1,-1-1,1 0,1 1,1 3,0 2,2 2,-1 0,1-2,-2-1,1-1,-1-2,0 1,1 0,-1-2,-1-2,1 0,0 1,1 2,0 3,1 1,-1-1,0-1,-1-1,0 2,2 2,0-1,0 0,-1-3,0-1,-1 0,1 0,0 3,1 0,0 1,0 0,0 1,0 0,1 1,0 1,0 0,0 0,0 0,0 0,0 0,0 0,0-1,0 0,0 0,0-1,0 2,0 1,0 0,0 0,0-1,0 1,0-2,0 3,0-2,0 0,0 0,0-1,0 3,0-1,0-2,0 3,0-2,0 0,0 1,2-2,-1 0,1 0,0 1,-1 1,0-1,1 0,0-4,0 2,0-1,0 4,-2 0,1 0,0-1,1-1,1 0,-1 0,2 0,-1-1,1-1,-1 2,1 0,-1 3,0 1,0-1,0-2,1-1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CD2E81-2FF3-7645-81CE-9F2ADE8F5859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D4579-26E6-EF4B-A34D-ECA46A79518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82168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66627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F9F6F-34B1-0D21-5C5A-131266AF7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0A28B3-45BD-BC17-BE9F-D7BDE11A9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3EA506-EF22-F8BF-B949-1DA97E5CAD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527424-C8C3-53D4-6A12-01797B323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043302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12382-464B-0D2C-161C-D0650F478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2C9EF-8354-A59A-FF53-C343F2BC5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B86CF-E0A9-5129-269A-E1D874C6D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B5443-BAB4-127B-1FCA-D9BE0DB76D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38833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EED58-393D-CC3E-7394-500EF22F5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1B2CC9-D2A0-2A40-312D-C554A80E2E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5CDCB-5E3B-B019-698C-E5D8BD06F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30487-1983-C272-F151-4D4A576223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7714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92B53-1FBA-0CB1-D610-6571A2F57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39319-DD91-762A-721B-E36D25FE9A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D5416-1BF3-902C-9971-929FA54E6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B9D66-CCB2-9E63-8CEC-9479DE527C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277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3D1D0-F745-5EAF-5E1A-F2B6F870E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BDAF6-8A86-B474-C395-97DA0C651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06D8B-1D0E-A086-2F3E-D81BAEF73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7DF18-F9BE-15BB-8D81-3B561F297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21074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65010-8337-276D-D1B4-63B28302D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8592C9-BFED-DFAB-A82F-1CD6FD0BC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57773-F63D-526C-B7FF-7BF2B643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4BF21-67AC-627B-F5CD-50A9668BE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547881-7AFE-08F2-B598-4A187F8D6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9511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54E58-8B17-293F-1238-6DF5A2D6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5ACB7-3846-12AD-51F7-7A770DDCA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7DBE7-D64C-C424-E258-596817B63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4D9240-FD9F-49C7-DDDB-C79EFC163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67A0C-7EB7-55B3-E535-1A240CED5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11844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3026-05D8-A50C-52BE-918F033EF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EE88B7-7CEE-8423-8A54-D28DC9B8FB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4DB8-8475-B043-9CAF-D3E33EC07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EE023-F788-0F65-6FEA-277464462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D6843-ED6D-6C54-7C98-6912ED20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9182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487C-D3CD-6DD1-1502-798F28C96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24427-02F5-C8B6-BD17-8D0A268C7D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50D866-7091-4A26-AE93-929BD7925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550513-3989-1FCA-BFE0-DC0321059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8F3B-7900-DB6D-A53E-FFEB5AF68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E79877-3163-82F3-B13B-EF39FAF98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0615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3B2FB-6C79-45C8-FE87-30B427509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F1F2E2-F2DC-2874-9A45-D6686E02A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702F8B-B950-32AD-B2E2-B622459861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6FBCE1-9861-D2D2-9BCF-61CFC3B093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0ED89B-4E11-8A60-B679-6B0C2892DB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23DF40-6CBA-ED91-91C7-7032CA3BF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628975-4352-BE7D-0A95-7382B29B0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46A5BE-5E93-9DF7-B0E6-57F7245FC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562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85D67-D8BD-7C34-D126-CB3391A9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D4BFD-74EC-B4C7-94BD-9C830DE06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C6BF5A-C473-134E-3FFF-BD68D1AFB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C244BF-7ED7-34D8-7916-8A24F7F60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45945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F93BB1-FBCE-F8DE-E13D-DDD31BE2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A233C-4824-68BC-F283-DB83AEBEB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163A3-D952-08C7-0554-536547A22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7655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EF75C-941C-D547-FA62-372A10CAC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4F5CA-1518-B973-9ECE-C9C323FE02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07DA40-F049-9AF2-CE3A-E60B20CF2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2F0D73-6588-6D81-D27D-FB6C1E7E4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AED35F-6FCA-D34A-C7C0-373BB6F41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16AA5A-3032-573B-1784-9DE7C14FE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84097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1FF7F-55EC-311F-6F1D-1FC1FF792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E1FFC5-182B-A22B-9E0E-9AA0DBE8B5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D4D550-582D-B4AC-AEB2-BBB1704329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E77419-77E1-2E14-D521-C172CD187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509A88-187B-31AE-3167-366F41308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B1E208-D123-BAC1-03BB-5DAEC1732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67311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64DA-8563-D313-E0F1-83C5B1FDE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00B671-27F3-6A20-D94B-9E6B618E1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49818-B360-DEDA-76E0-B5AB4D093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2FC6B8-FB5D-CD32-991B-3CCE45380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C1A76-C4BE-4029-F725-BFEB064FB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1709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AF55AE-08E0-6059-2227-A8CCFF99E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FB9454-DC4C-8DE5-D5BC-AD09C92D9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F5F6E-FF70-6E45-B51C-2CFB3F60D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9DEA2-8EE2-1004-9C15-B4BFFB28C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109CA5-0B06-6524-02C6-384B98A4F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22724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375D7-1F0D-17A7-A645-825DB5744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18778-9E55-EB40-B7BC-4FD7C176D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6BBFA-6219-1E6E-D440-8C5AA662D4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104612-83DF-984F-B51C-C4D0AB0D78C6}" type="datetimeFigureOut">
              <a:rPr lang="en-NL" smtClean="0"/>
              <a:t>13/06/2026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2A988-00C6-8744-CE5A-817770A6BC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DEEB7-5AA1-E0EA-CC6F-B59B09A769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84978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B8A066-6A74-9AFB-B067-6403AF035766}"/>
              </a:ext>
            </a:extLst>
          </p:cNvPr>
          <p:cNvSpPr txBox="1"/>
          <p:nvPr/>
        </p:nvSpPr>
        <p:spPr>
          <a:xfrm>
            <a:off x="474031" y="329960"/>
            <a:ext cx="47521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AABC41"/>
                </a:solidFill>
              </a:rPr>
              <a:t>A: Progenitors and precursors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79BD0-3F93-864F-4AA2-D38BC7C2232B}"/>
              </a:ext>
            </a:extLst>
          </p:cNvPr>
          <p:cNvSpPr txBox="1"/>
          <p:nvPr/>
        </p:nvSpPr>
        <p:spPr>
          <a:xfrm>
            <a:off x="611015" y="1411917"/>
            <a:ext cx="188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23221E"/>
                </a:solidFill>
              </a:rPr>
              <a:t>Massive OB stars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B65D66-A410-56D6-1A07-66A6AB93F1A8}"/>
              </a:ext>
            </a:extLst>
          </p:cNvPr>
          <p:cNvSpPr txBox="1"/>
          <p:nvPr/>
        </p:nvSpPr>
        <p:spPr>
          <a:xfrm>
            <a:off x="2500956" y="1982849"/>
            <a:ext cx="1523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DA45C"/>
                </a:solidFill>
              </a:rPr>
              <a:t>Algol binaries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C94EF1-7D40-59DB-D3B6-3ABF59F84FB0}"/>
              </a:ext>
            </a:extLst>
          </p:cNvPr>
          <p:cNvSpPr txBox="1"/>
          <p:nvPr/>
        </p:nvSpPr>
        <p:spPr>
          <a:xfrm>
            <a:off x="3373933" y="4033905"/>
            <a:ext cx="1357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82C9ED"/>
                </a:solidFill>
              </a:rPr>
              <a:t>EL CVn-like </a:t>
            </a:r>
          </a:p>
          <a:p>
            <a:r>
              <a:rPr lang="en-NL" dirty="0">
                <a:solidFill>
                  <a:srgbClr val="82C9ED"/>
                </a:solidFill>
              </a:rPr>
              <a:t>systems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6EEFC4-9B67-9C7B-D88D-FBA63BBE99DD}"/>
              </a:ext>
            </a:extLst>
          </p:cNvPr>
          <p:cNvSpPr txBox="1"/>
          <p:nvPr/>
        </p:nvSpPr>
        <p:spPr>
          <a:xfrm>
            <a:off x="4672675" y="4221601"/>
            <a:ext cx="1659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5DB6ED"/>
                </a:solidFill>
              </a:rPr>
              <a:t>Hot Subdwarfs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2ABB7D-5D8D-E03D-E4F6-8F15F4B22970}"/>
              </a:ext>
            </a:extLst>
          </p:cNvPr>
          <p:cNvSpPr txBox="1"/>
          <p:nvPr/>
        </p:nvSpPr>
        <p:spPr>
          <a:xfrm>
            <a:off x="5381216" y="4566340"/>
            <a:ext cx="1171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64A4E9"/>
                </a:solidFill>
              </a:rPr>
              <a:t>He Giants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CF8FC0-4FC8-D623-DED5-F00504A0EBCF}"/>
              </a:ext>
            </a:extLst>
          </p:cNvPr>
          <p:cNvSpPr txBox="1"/>
          <p:nvPr/>
        </p:nvSpPr>
        <p:spPr>
          <a:xfrm>
            <a:off x="6479121" y="4047323"/>
            <a:ext cx="1179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7D7AE5"/>
                </a:solidFill>
              </a:rPr>
              <a:t>Post-AGB </a:t>
            </a:r>
          </a:p>
          <a:p>
            <a:r>
              <a:rPr lang="en-NL" dirty="0">
                <a:solidFill>
                  <a:srgbClr val="7D7AE5"/>
                </a:solidFill>
              </a:rPr>
              <a:t>binaries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978050-E8DE-7E88-BA55-ED541D8D4606}"/>
              </a:ext>
            </a:extLst>
          </p:cNvPr>
          <p:cNvSpPr txBox="1"/>
          <p:nvPr/>
        </p:nvSpPr>
        <p:spPr>
          <a:xfrm>
            <a:off x="5565998" y="1655359"/>
            <a:ext cx="17720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070C0"/>
                </a:solidFill>
              </a:rPr>
              <a:t>Intermediate-M </a:t>
            </a:r>
          </a:p>
          <a:p>
            <a:r>
              <a:rPr lang="en-NL" dirty="0">
                <a:solidFill>
                  <a:srgbClr val="0070C0"/>
                </a:solidFill>
              </a:rPr>
              <a:t>stripped stars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7EAF629B-86F0-E9C2-FF18-A723B1551AFE}"/>
              </a:ext>
            </a:extLst>
          </p:cNvPr>
          <p:cNvGrpSpPr/>
          <p:nvPr/>
        </p:nvGrpSpPr>
        <p:grpSpPr>
          <a:xfrm rot="2305534">
            <a:off x="2339839" y="2537654"/>
            <a:ext cx="677611" cy="1249417"/>
            <a:chOff x="2272072" y="2994265"/>
            <a:chExt cx="677611" cy="1249417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E3249AB-1B2A-BCAD-12F7-565726B8C3CA}"/>
                    </a:ext>
                  </a:extLst>
                </p14:cNvPr>
                <p14:cNvContentPartPr/>
                <p14:nvPr/>
              </p14:nvContentPartPr>
              <p14:xfrm>
                <a:off x="2574630" y="3153072"/>
                <a:ext cx="66240" cy="363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E3249AB-1B2A-BCAD-12F7-565726B8C3C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56990" y="3117432"/>
                  <a:ext cx="101880" cy="43524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A446D0E-991F-113B-1AA7-782B3F18F257}"/>
                </a:ext>
              </a:extLst>
            </p:cNvPr>
            <p:cNvGrpSpPr/>
            <p:nvPr/>
          </p:nvGrpSpPr>
          <p:grpSpPr>
            <a:xfrm rot="5400000">
              <a:off x="1986169" y="3280168"/>
              <a:ext cx="1249417" cy="677611"/>
              <a:chOff x="1219177" y="3119420"/>
              <a:chExt cx="1321181" cy="716531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5C4EBD1-17F7-37FA-E454-663902FA7217}"/>
                  </a:ext>
                </a:extLst>
              </p:cNvPr>
              <p:cNvSpPr/>
              <p:nvPr/>
            </p:nvSpPr>
            <p:spPr>
              <a:xfrm>
                <a:off x="1219177" y="3334586"/>
                <a:ext cx="251498" cy="23484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  <a:gs pos="18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82" name="Teardrop 81">
                <a:extLst>
                  <a:ext uri="{FF2B5EF4-FFF2-40B4-BE49-F238E27FC236}">
                    <a16:creationId xmlns:a16="http://schemas.microsoft.com/office/drawing/2014/main" id="{31186B95-FDC1-A36E-96E6-4A0CBA6257E9}"/>
                  </a:ext>
                </a:extLst>
              </p:cNvPr>
              <p:cNvSpPr/>
              <p:nvPr/>
            </p:nvSpPr>
            <p:spPr>
              <a:xfrm rot="13502577">
                <a:off x="1823827" y="3119420"/>
                <a:ext cx="716531" cy="716531"/>
              </a:xfrm>
              <a:prstGeom prst="teardrop">
                <a:avLst/>
              </a:prstGeom>
              <a:gradFill>
                <a:gsLst>
                  <a:gs pos="85000">
                    <a:srgbClr val="F5941B"/>
                  </a:gs>
                  <a:gs pos="57000">
                    <a:srgbClr val="FFC000"/>
                  </a:gs>
                  <a:gs pos="4000">
                    <a:srgbClr val="FCF8D9"/>
                  </a:gs>
                  <a:gs pos="32000">
                    <a:srgbClr val="F4F7A0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EEDD383-FFB9-5E2C-F1C9-463419DC6F6D}"/>
              </a:ext>
            </a:extLst>
          </p:cNvPr>
          <p:cNvGrpSpPr/>
          <p:nvPr/>
        </p:nvGrpSpPr>
        <p:grpSpPr>
          <a:xfrm rot="21091238">
            <a:off x="1033304" y="2632784"/>
            <a:ext cx="493605" cy="978913"/>
            <a:chOff x="1041625" y="2523278"/>
            <a:chExt cx="493605" cy="97891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6BA45D2-44E7-10F0-B047-11DBADAE4D70}"/>
                </a:ext>
              </a:extLst>
            </p:cNvPr>
            <p:cNvGrpSpPr/>
            <p:nvPr/>
          </p:nvGrpSpPr>
          <p:grpSpPr>
            <a:xfrm rot="7789791">
              <a:off x="798971" y="2765932"/>
              <a:ext cx="978913" cy="493605"/>
              <a:chOff x="3723385" y="4934297"/>
              <a:chExt cx="2139986" cy="732045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16BC3E47-47F2-B915-A841-7A1192F489F8}"/>
                  </a:ext>
                </a:extLst>
              </p:cNvPr>
              <p:cNvSpPr/>
              <p:nvPr/>
            </p:nvSpPr>
            <p:spPr>
              <a:xfrm>
                <a:off x="3723385" y="4934297"/>
                <a:ext cx="1271446" cy="732045"/>
              </a:xfrm>
              <a:prstGeom prst="ellipse">
                <a:avLst/>
              </a:prstGeom>
              <a:gradFill>
                <a:gsLst>
                  <a:gs pos="59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8896161D-366F-35FC-B747-58DC309AF93A}"/>
                  </a:ext>
                </a:extLst>
              </p:cNvPr>
              <p:cNvSpPr/>
              <p:nvPr/>
            </p:nvSpPr>
            <p:spPr>
              <a:xfrm>
                <a:off x="4835365" y="5056978"/>
                <a:ext cx="1028006" cy="565671"/>
              </a:xfrm>
              <a:prstGeom prst="ellipse">
                <a:avLst/>
              </a:prstGeom>
              <a:gradFill>
                <a:gsLst>
                  <a:gs pos="54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5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C35ECC8-67E9-291D-17A4-1365240D470C}"/>
                </a:ext>
              </a:extLst>
            </p:cNvPr>
            <p:cNvSpPr/>
            <p:nvPr/>
          </p:nvSpPr>
          <p:spPr>
            <a:xfrm rot="2395926">
              <a:off x="1174339" y="2750145"/>
              <a:ext cx="94820" cy="575760"/>
            </a:xfrm>
            <a:prstGeom prst="ellipse">
              <a:avLst/>
            </a:prstGeom>
            <a:solidFill>
              <a:srgbClr val="E2F3FB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1B68026D-4248-7C55-567A-FCDCEE9AA623}"/>
              </a:ext>
            </a:extLst>
          </p:cNvPr>
          <p:cNvSpPr txBox="1"/>
          <p:nvPr/>
        </p:nvSpPr>
        <p:spPr>
          <a:xfrm>
            <a:off x="5966825" y="3548855"/>
            <a:ext cx="136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stripped star</a:t>
            </a:r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494B03C7-386D-CDD4-3D83-F1DB677DA236}"/>
              </a:ext>
            </a:extLst>
          </p:cNvPr>
          <p:cNvSpPr/>
          <p:nvPr/>
        </p:nvSpPr>
        <p:spPr>
          <a:xfrm rot="14049865" flipV="1">
            <a:off x="5607107" y="3683301"/>
            <a:ext cx="261775" cy="364279"/>
          </a:xfrm>
          <a:custGeom>
            <a:avLst/>
            <a:gdLst>
              <a:gd name="connsiteX0" fmla="*/ 0 w 209974"/>
              <a:gd name="connsiteY0" fmla="*/ 0 h 223520"/>
              <a:gd name="connsiteX1" fmla="*/ 74507 w 209974"/>
              <a:gd name="connsiteY1" fmla="*/ 162560 h 223520"/>
              <a:gd name="connsiteX2" fmla="*/ 209974 w 209974"/>
              <a:gd name="connsiteY2" fmla="*/ 22352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9974" h="223520">
                <a:moveTo>
                  <a:pt x="0" y="0"/>
                </a:moveTo>
                <a:cubicBezTo>
                  <a:pt x="19755" y="62653"/>
                  <a:pt x="39511" y="125307"/>
                  <a:pt x="74507" y="162560"/>
                </a:cubicBezTo>
                <a:cubicBezTo>
                  <a:pt x="109503" y="199813"/>
                  <a:pt x="159738" y="211666"/>
                  <a:pt x="209974" y="223520"/>
                </a:cubicBezTo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13E5C22-1970-D92D-D96C-A6F04B308E27}"/>
              </a:ext>
            </a:extLst>
          </p:cNvPr>
          <p:cNvGrpSpPr/>
          <p:nvPr/>
        </p:nvGrpSpPr>
        <p:grpSpPr>
          <a:xfrm>
            <a:off x="3784403" y="2642165"/>
            <a:ext cx="766016" cy="1093408"/>
            <a:chOff x="3582353" y="2575693"/>
            <a:chExt cx="766016" cy="1093408"/>
          </a:xfrm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1B25E582-0C85-040D-ABF8-5D0AC41005DF}"/>
                </a:ext>
              </a:extLst>
            </p:cNvPr>
            <p:cNvSpPr/>
            <p:nvPr/>
          </p:nvSpPr>
          <p:spPr>
            <a:xfrm rot="1472995">
              <a:off x="3702804" y="2719179"/>
              <a:ext cx="614181" cy="760477"/>
            </a:xfrm>
            <a:prstGeom prst="ellipse">
              <a:avLst/>
            </a:prstGeom>
            <a:noFill/>
            <a:ln w="12700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D8E56325-341B-46AA-E2A4-C0425C369B0B}"/>
                </a:ext>
              </a:extLst>
            </p:cNvPr>
            <p:cNvSpPr/>
            <p:nvPr/>
          </p:nvSpPr>
          <p:spPr>
            <a:xfrm>
              <a:off x="3582353" y="3256053"/>
              <a:ext cx="427541" cy="413048"/>
            </a:xfrm>
            <a:prstGeom prst="ellipse">
              <a:avLst/>
            </a:prstGeom>
            <a:gradFill>
              <a:gsLst>
                <a:gs pos="85000">
                  <a:srgbClr val="F5941B"/>
                </a:gs>
                <a:gs pos="74000">
                  <a:srgbClr val="FFC000"/>
                </a:gs>
                <a:gs pos="4000">
                  <a:srgbClr val="FCF8D9"/>
                </a:gs>
                <a:gs pos="41000">
                  <a:srgbClr val="F4F7A0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FCA6DF3-B99D-4607-09AE-CD5BEF73D27E}"/>
                </a:ext>
              </a:extLst>
            </p:cNvPr>
            <p:cNvGrpSpPr/>
            <p:nvPr/>
          </p:nvGrpSpPr>
          <p:grpSpPr>
            <a:xfrm>
              <a:off x="4026567" y="2575693"/>
              <a:ext cx="321802" cy="317900"/>
              <a:chOff x="4030666" y="2458275"/>
              <a:chExt cx="435368" cy="430089"/>
            </a:xfrm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29BD977D-5EFD-E683-C92C-996CD660E35E}"/>
                  </a:ext>
                </a:extLst>
              </p:cNvPr>
              <p:cNvSpPr/>
              <p:nvPr/>
            </p:nvSpPr>
            <p:spPr>
              <a:xfrm>
                <a:off x="4030666" y="2458275"/>
                <a:ext cx="435368" cy="430089"/>
              </a:xfrm>
              <a:prstGeom prst="ellipse">
                <a:avLst/>
              </a:prstGeom>
              <a:solidFill>
                <a:srgbClr val="77B0E6">
                  <a:alpha val="6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30E12CAF-4710-2776-9888-C336E7A19637}"/>
                  </a:ext>
                </a:extLst>
              </p:cNvPr>
              <p:cNvSpPr/>
              <p:nvPr/>
            </p:nvSpPr>
            <p:spPr>
              <a:xfrm>
                <a:off x="4079958" y="2506969"/>
                <a:ext cx="336786" cy="33270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FDBB0F9-63F0-C828-67B1-5390A758AB3A}"/>
              </a:ext>
            </a:extLst>
          </p:cNvPr>
          <p:cNvGrpSpPr/>
          <p:nvPr/>
        </p:nvGrpSpPr>
        <p:grpSpPr>
          <a:xfrm rot="1870429">
            <a:off x="5326274" y="2332452"/>
            <a:ext cx="724134" cy="1733082"/>
            <a:chOff x="4821425" y="2078831"/>
            <a:chExt cx="724134" cy="1733082"/>
          </a:xfrm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893AAAD-25C3-0DD9-A12F-01F717E45FD6}"/>
                </a:ext>
              </a:extLst>
            </p:cNvPr>
            <p:cNvSpPr/>
            <p:nvPr/>
          </p:nvSpPr>
          <p:spPr>
            <a:xfrm>
              <a:off x="4821425" y="2315377"/>
              <a:ext cx="724134" cy="136736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85232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67A10FC9-139C-2B63-E096-71644D4AE3E8}"/>
                </a:ext>
              </a:extLst>
            </p:cNvPr>
            <p:cNvSpPr/>
            <p:nvPr/>
          </p:nvSpPr>
          <p:spPr>
            <a:xfrm>
              <a:off x="5045746" y="3545760"/>
              <a:ext cx="275492" cy="266153"/>
            </a:xfrm>
            <a:prstGeom prst="ellipse">
              <a:avLst/>
            </a:prstGeom>
            <a:gradFill>
              <a:gsLst>
                <a:gs pos="57000">
                  <a:srgbClr val="72C0F3"/>
                </a:gs>
                <a:gs pos="95000">
                  <a:schemeClr val="tx2">
                    <a:lumMod val="50000"/>
                    <a:lumOff val="50000"/>
                  </a:schemeClr>
                </a:gs>
                <a:gs pos="67000">
                  <a:srgbClr val="C4E3F6"/>
                </a:gs>
                <a:gs pos="44000">
                  <a:srgbClr val="C4E3F6"/>
                </a:gs>
                <a:gs pos="14000">
                  <a:srgbClr val="E2F3FB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2E64A29D-57D1-44C4-ECF3-5568A1FA4D34}"/>
                </a:ext>
              </a:extLst>
            </p:cNvPr>
            <p:cNvSpPr/>
            <p:nvPr/>
          </p:nvSpPr>
          <p:spPr>
            <a:xfrm>
              <a:off x="4887379" y="2078831"/>
              <a:ext cx="592225" cy="590152"/>
            </a:xfrm>
            <a:prstGeom prst="ellipse">
              <a:avLst/>
            </a:prstGeom>
            <a:gradFill>
              <a:gsLst>
                <a:gs pos="88000">
                  <a:srgbClr val="608DBC">
                    <a:lumMod val="100000"/>
                  </a:srgbClr>
                </a:gs>
                <a:gs pos="55000">
                  <a:srgbClr val="83B7E8">
                    <a:lumMod val="96000"/>
                  </a:srgbClr>
                </a:gs>
                <a:gs pos="18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</p:grpSp>
      <p:sp>
        <p:nvSpPr>
          <p:cNvPr id="157" name="TextBox 156">
            <a:extLst>
              <a:ext uri="{FF2B5EF4-FFF2-40B4-BE49-F238E27FC236}">
                <a16:creationId xmlns:a16="http://schemas.microsoft.com/office/drawing/2014/main" id="{DBB5265F-19CC-3693-311C-550E5B81176A}"/>
              </a:ext>
            </a:extLst>
          </p:cNvPr>
          <p:cNvSpPr txBox="1"/>
          <p:nvPr/>
        </p:nvSpPr>
        <p:spPr>
          <a:xfrm>
            <a:off x="4238374" y="5214802"/>
            <a:ext cx="2586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8ACDEF"/>
                </a:solidFill>
              </a:rPr>
              <a:t>Low-M stripped</a:t>
            </a:r>
          </a:p>
        </p:txBody>
      </p:sp>
      <p:sp>
        <p:nvSpPr>
          <p:cNvPr id="161" name="Right Brace 160">
            <a:extLst>
              <a:ext uri="{FF2B5EF4-FFF2-40B4-BE49-F238E27FC236}">
                <a16:creationId xmlns:a16="http://schemas.microsoft.com/office/drawing/2014/main" id="{0724E251-5349-A338-799C-453EC6E032EE}"/>
              </a:ext>
            </a:extLst>
          </p:cNvPr>
          <p:cNvSpPr/>
          <p:nvPr/>
        </p:nvSpPr>
        <p:spPr>
          <a:xfrm rot="5400000">
            <a:off x="5263487" y="3146365"/>
            <a:ext cx="369334" cy="3933754"/>
          </a:xfrm>
          <a:prstGeom prst="rightBrace">
            <a:avLst>
              <a:gd name="adj1" fmla="val 81151"/>
              <a:gd name="adj2" fmla="val 50456"/>
            </a:avLst>
          </a:prstGeom>
          <a:ln>
            <a:solidFill>
              <a:srgbClr val="8AC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09663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A7889-CC44-5636-538F-5400B79A7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57CB46C-EA8A-7C43-F0A0-693D3E3D285A}"/>
              </a:ext>
            </a:extLst>
          </p:cNvPr>
          <p:cNvSpPr txBox="1"/>
          <p:nvPr/>
        </p:nvSpPr>
        <p:spPr>
          <a:xfrm>
            <a:off x="474031" y="329960"/>
            <a:ext cx="3662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EECB39"/>
                </a:solidFill>
              </a:rPr>
              <a:t>B, Explosive endpoints</a:t>
            </a:r>
          </a:p>
        </p:txBody>
      </p:sp>
    </p:spTree>
    <p:extLst>
      <p:ext uri="{BB962C8B-B14F-4D97-AF65-F5344CB8AC3E}">
        <p14:creationId xmlns:p14="http://schemas.microsoft.com/office/powerpoint/2010/main" val="2238468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C81F6-9F36-16E4-42A6-21BFAD0E5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C500377-FC15-94E9-2156-F97BA3D6B77A}"/>
              </a:ext>
            </a:extLst>
          </p:cNvPr>
          <p:cNvSpPr txBox="1"/>
          <p:nvPr/>
        </p:nvSpPr>
        <p:spPr>
          <a:xfrm>
            <a:off x="474031" y="329960"/>
            <a:ext cx="42327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8734"/>
                </a:solidFill>
              </a:rPr>
              <a:t>C. Single compact objects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60A1F9-4FE0-A129-50F8-93E41E60799A}"/>
              </a:ext>
            </a:extLst>
          </p:cNvPr>
          <p:cNvSpPr txBox="1"/>
          <p:nvPr/>
        </p:nvSpPr>
        <p:spPr>
          <a:xfrm>
            <a:off x="3351786" y="5045453"/>
            <a:ext cx="107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DDB7C7"/>
                </a:solidFill>
              </a:rPr>
              <a:t>WD +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C36A89-0CE9-97C4-2314-046A47A0A879}"/>
              </a:ext>
            </a:extLst>
          </p:cNvPr>
          <p:cNvSpPr txBox="1"/>
          <p:nvPr/>
        </p:nvSpPr>
        <p:spPr>
          <a:xfrm>
            <a:off x="7852286" y="2842321"/>
            <a:ext cx="9845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BDE255"/>
                </a:solidFill>
              </a:rPr>
              <a:t>P</a:t>
            </a:r>
            <a:r>
              <a:rPr lang="en-NL" dirty="0">
                <a:solidFill>
                  <a:srgbClr val="BDE255"/>
                </a:solidFill>
              </a:rPr>
              <a:t>ulsar </a:t>
            </a:r>
          </a:p>
          <a:p>
            <a:r>
              <a:rPr lang="en-NL" dirty="0">
                <a:solidFill>
                  <a:srgbClr val="BDE255"/>
                </a:solidFill>
              </a:rPr>
              <a:t>binaries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20AA81-8BB8-32FF-0231-8A7D438890E1}"/>
              </a:ext>
            </a:extLst>
          </p:cNvPr>
          <p:cNvSpPr txBox="1"/>
          <p:nvPr/>
        </p:nvSpPr>
        <p:spPr>
          <a:xfrm>
            <a:off x="8062832" y="2126270"/>
            <a:ext cx="15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81CB45"/>
                </a:solidFill>
              </a:rPr>
              <a:t>H</a:t>
            </a:r>
            <a:r>
              <a:rPr lang="en-NL" dirty="0">
                <a:solidFill>
                  <a:srgbClr val="81CB45"/>
                </a:solidFill>
              </a:rPr>
              <a:t>igh-M </a:t>
            </a:r>
          </a:p>
          <a:p>
            <a:r>
              <a:rPr lang="en-NL" dirty="0">
                <a:solidFill>
                  <a:srgbClr val="81CB45"/>
                </a:solidFill>
              </a:rPr>
              <a:t>X-ray binaries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70668C-708F-5897-ECC5-2D8CDFB227A9}"/>
              </a:ext>
            </a:extLst>
          </p:cNvPr>
          <p:cNvSpPr txBox="1"/>
          <p:nvPr/>
        </p:nvSpPr>
        <p:spPr>
          <a:xfrm>
            <a:off x="3552295" y="1300022"/>
            <a:ext cx="1995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46B636"/>
                </a:solidFill>
              </a:rPr>
              <a:t>Spectroscop. C.O.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5812E0-9F0D-2811-781D-A3E036B3F4A4}"/>
              </a:ext>
            </a:extLst>
          </p:cNvPr>
          <p:cNvSpPr txBox="1"/>
          <p:nvPr/>
        </p:nvSpPr>
        <p:spPr>
          <a:xfrm>
            <a:off x="4560707" y="1032337"/>
            <a:ext cx="189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79F27"/>
                </a:solidFill>
              </a:rPr>
              <a:t>Astrometric. C.O.</a:t>
            </a: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F39ADEF3-1C71-B4C0-49EE-BFB40E631B6E}"/>
              </a:ext>
            </a:extLst>
          </p:cNvPr>
          <p:cNvGrpSpPr/>
          <p:nvPr/>
        </p:nvGrpSpPr>
        <p:grpSpPr>
          <a:xfrm>
            <a:off x="2739014" y="4120935"/>
            <a:ext cx="1046992" cy="1022822"/>
            <a:chOff x="9583353" y="3466585"/>
            <a:chExt cx="1046992" cy="10228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A0C35147-99FA-5FA7-49E8-3C7BA2D9285F}"/>
                </a:ext>
              </a:extLst>
            </p:cNvPr>
            <p:cNvGrpSpPr/>
            <p:nvPr/>
          </p:nvGrpSpPr>
          <p:grpSpPr>
            <a:xfrm rot="6210821">
              <a:off x="9719420" y="3578481"/>
              <a:ext cx="1022822" cy="799029"/>
              <a:chOff x="10157605" y="1545234"/>
              <a:chExt cx="1022822" cy="799029"/>
            </a:xfrm>
          </p:grpSpPr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75D30516-D752-0BBE-036E-42754DC8EC7A}"/>
                  </a:ext>
                </a:extLst>
              </p:cNvPr>
              <p:cNvSpPr/>
              <p:nvPr/>
            </p:nvSpPr>
            <p:spPr>
              <a:xfrm rot="18472838">
                <a:off x="10317842" y="1481679"/>
                <a:ext cx="702347" cy="1022822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56996C25-7160-AAB7-F849-C3A908BC6052}"/>
                  </a:ext>
                </a:extLst>
              </p:cNvPr>
              <p:cNvGrpSpPr/>
              <p:nvPr/>
            </p:nvGrpSpPr>
            <p:grpSpPr>
              <a:xfrm>
                <a:off x="10174273" y="1545234"/>
                <a:ext cx="228203" cy="225436"/>
                <a:chOff x="4255383" y="2706764"/>
                <a:chExt cx="435368" cy="430089"/>
              </a:xfrm>
            </p:grpSpPr>
            <p:sp>
              <p:nvSpPr>
                <p:cNvPr id="150" name="Oval 149">
                  <a:extLst>
                    <a:ext uri="{FF2B5EF4-FFF2-40B4-BE49-F238E27FC236}">
                      <a16:creationId xmlns:a16="http://schemas.microsoft.com/office/drawing/2014/main" id="{16530457-535E-7B84-ED97-8C39371466D0}"/>
                    </a:ext>
                  </a:extLst>
                </p:cNvPr>
                <p:cNvSpPr/>
                <p:nvPr/>
              </p:nvSpPr>
              <p:spPr>
                <a:xfrm>
                  <a:off x="4304674" y="2755458"/>
                  <a:ext cx="336785" cy="332703"/>
                </a:xfrm>
                <a:prstGeom prst="ellipse">
                  <a:avLst/>
                </a:prstGeom>
                <a:solidFill>
                  <a:srgbClr val="FCCE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8B185661-05CB-3595-3DE9-C3FE26757382}"/>
                    </a:ext>
                  </a:extLst>
                </p:cNvPr>
                <p:cNvSpPr/>
                <p:nvPr/>
              </p:nvSpPr>
              <p:spPr>
                <a:xfrm>
                  <a:off x="4255383" y="2706764"/>
                  <a:ext cx="435368" cy="430089"/>
                </a:xfrm>
                <a:prstGeom prst="ellipse">
                  <a:avLst/>
                </a:prstGeom>
                <a:solidFill>
                  <a:srgbClr val="FCCE29">
                    <a:alpha val="4598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FC9D2AF0-988E-AAD7-0F26-6F930EF5590A}"/>
                </a:ext>
              </a:extLst>
            </p:cNvPr>
            <p:cNvSpPr/>
            <p:nvPr/>
          </p:nvSpPr>
          <p:spPr>
            <a:xfrm>
              <a:off x="9583353" y="4133245"/>
              <a:ext cx="341613" cy="330033"/>
            </a:xfrm>
            <a:prstGeom prst="ellipse">
              <a:avLst/>
            </a:prstGeom>
            <a:gradFill>
              <a:gsLst>
                <a:gs pos="84000">
                  <a:srgbClr val="D4D0D2"/>
                </a:gs>
                <a:gs pos="17000">
                  <a:srgbClr val="FFFFFF"/>
                </a:gs>
                <a:gs pos="39000">
                  <a:srgbClr val="FAF0FA"/>
                </a:gs>
              </a:gsLst>
              <a:path path="circle">
                <a:fillToRect l="50000" t="50000" r="50000" b="50000"/>
              </a:path>
            </a:gra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87C746C-F977-92F1-3401-BFC7E33F7406}"/>
              </a:ext>
            </a:extLst>
          </p:cNvPr>
          <p:cNvGrpSpPr/>
          <p:nvPr/>
        </p:nvGrpSpPr>
        <p:grpSpPr>
          <a:xfrm>
            <a:off x="3168603" y="1917160"/>
            <a:ext cx="898864" cy="1571492"/>
            <a:chOff x="4355487" y="726413"/>
            <a:chExt cx="898864" cy="1571492"/>
          </a:xfrm>
        </p:grpSpPr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101087A1-E07A-8B64-EB8F-8A410DC0FEDE}"/>
                </a:ext>
              </a:extLst>
            </p:cNvPr>
            <p:cNvGrpSpPr/>
            <p:nvPr/>
          </p:nvGrpSpPr>
          <p:grpSpPr>
            <a:xfrm rot="974216">
              <a:off x="4384515" y="726413"/>
              <a:ext cx="869836" cy="1326200"/>
              <a:chOff x="8727267" y="1895750"/>
              <a:chExt cx="685072" cy="1044499"/>
            </a:xfrm>
          </p:grpSpPr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8F2600EA-F852-9467-2CDA-17590D018012}"/>
                  </a:ext>
                </a:extLst>
              </p:cNvPr>
              <p:cNvSpPr/>
              <p:nvPr/>
            </p:nvSpPr>
            <p:spPr>
              <a:xfrm rot="1296632">
                <a:off x="8727267" y="2084015"/>
                <a:ext cx="568378" cy="774710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DC31ABD5-D496-10EF-DC7F-8B85B42FFE91}"/>
                  </a:ext>
                </a:extLst>
              </p:cNvPr>
              <p:cNvSpPr/>
              <p:nvPr/>
            </p:nvSpPr>
            <p:spPr>
              <a:xfrm>
                <a:off x="8750766" y="2777903"/>
                <a:ext cx="168042" cy="162346"/>
              </a:xfrm>
              <a:prstGeom prst="ellipse">
                <a:avLst/>
              </a:prstGeom>
              <a:gradFill>
                <a:gsLst>
                  <a:gs pos="91000">
                    <a:srgbClr val="AFDED0"/>
                  </a:gs>
                  <a:gs pos="70000">
                    <a:srgbClr val="92D050"/>
                  </a:gs>
                  <a:gs pos="21000">
                    <a:srgbClr val="C3E3B3"/>
                  </a:gs>
                  <a:gs pos="7000">
                    <a:srgbClr val="D8EBDE"/>
                  </a:gs>
                </a:gsLst>
                <a:path path="circle">
                  <a:fillToRect l="50000" t="50000" r="50000" b="50000"/>
                </a:path>
              </a:gradFill>
              <a:ln w="254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GB" sz="1200" dirty="0">
                  <a:solidFill>
                    <a:schemeClr val="bg1">
                      <a:lumMod val="50000"/>
                    </a:schemeClr>
                  </a:solidFill>
                  <a:latin typeface="Calibri" panose="020F0502020204030204"/>
                </a:endParaRPr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7BFFBB9D-FD2B-0565-07A7-6E0668F75868}"/>
                  </a:ext>
                </a:extLst>
              </p:cNvPr>
              <p:cNvSpPr/>
              <p:nvPr/>
            </p:nvSpPr>
            <p:spPr>
              <a:xfrm rot="7281029">
                <a:off x="8982440" y="1889043"/>
                <a:ext cx="423191" cy="436606"/>
              </a:xfrm>
              <a:prstGeom prst="ellipse">
                <a:avLst/>
              </a:prstGeom>
              <a:gradFill>
                <a:gsLst>
                  <a:gs pos="59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09F5FA9-CEC7-9A35-295E-6DC3EA96CE3A}"/>
                </a:ext>
              </a:extLst>
            </p:cNvPr>
            <p:cNvSpPr txBox="1"/>
            <p:nvPr/>
          </p:nvSpPr>
          <p:spPr>
            <a:xfrm>
              <a:off x="4355487" y="1928573"/>
              <a:ext cx="4395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NS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959AFDE-82C2-95CA-AD09-D8B84A6D9F86}"/>
              </a:ext>
            </a:extLst>
          </p:cNvPr>
          <p:cNvGrpSpPr/>
          <p:nvPr/>
        </p:nvGrpSpPr>
        <p:grpSpPr>
          <a:xfrm>
            <a:off x="4902710" y="2036949"/>
            <a:ext cx="845396" cy="1175315"/>
            <a:chOff x="10379169" y="1792915"/>
            <a:chExt cx="845396" cy="1175315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D5922C4A-118B-6BB0-4949-EDF36436766D}"/>
                </a:ext>
              </a:extLst>
            </p:cNvPr>
            <p:cNvGrpSpPr/>
            <p:nvPr/>
          </p:nvGrpSpPr>
          <p:grpSpPr>
            <a:xfrm rot="4536077">
              <a:off x="10308635" y="1863449"/>
              <a:ext cx="986463" cy="845396"/>
              <a:chOff x="10174273" y="1545234"/>
              <a:chExt cx="958526" cy="797395"/>
            </a:xfrm>
          </p:grpSpPr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F81E6B67-7148-B036-15D8-BED0B81905B6}"/>
                  </a:ext>
                </a:extLst>
              </p:cNvPr>
              <p:cNvSpPr/>
              <p:nvPr/>
            </p:nvSpPr>
            <p:spPr>
              <a:xfrm rot="18472838">
                <a:off x="10404730" y="1488311"/>
                <a:ext cx="493795" cy="945508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2E00B7DF-55AD-4102-3FF1-C8E96BE3A67E}"/>
                  </a:ext>
                </a:extLst>
              </p:cNvPr>
              <p:cNvSpPr/>
              <p:nvPr/>
            </p:nvSpPr>
            <p:spPr>
              <a:xfrm>
                <a:off x="10951554" y="2167528"/>
                <a:ext cx="181245" cy="175101"/>
              </a:xfrm>
              <a:prstGeom prst="ellipse">
                <a:avLst/>
              </a:prstGeom>
              <a:solidFill>
                <a:schemeClr val="tx1"/>
              </a:solidFill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GB" sz="1200" dirty="0">
                  <a:solidFill>
                    <a:schemeClr val="bg1">
                      <a:lumMod val="50000"/>
                    </a:schemeClr>
                  </a:solidFill>
                  <a:latin typeface="Calibri" panose="020F0502020204030204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4161B9-EC43-6797-A1B3-5D7B833230DB}"/>
                  </a:ext>
                </a:extLst>
              </p:cNvPr>
              <p:cNvGrpSpPr/>
              <p:nvPr/>
            </p:nvGrpSpPr>
            <p:grpSpPr>
              <a:xfrm>
                <a:off x="10174273" y="1545234"/>
                <a:ext cx="228203" cy="225436"/>
                <a:chOff x="4255383" y="2706764"/>
                <a:chExt cx="435368" cy="430089"/>
              </a:xfrm>
            </p:grpSpPr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578658CF-BE2B-081F-2CEB-7A15B865B97A}"/>
                    </a:ext>
                  </a:extLst>
                </p:cNvPr>
                <p:cNvSpPr/>
                <p:nvPr/>
              </p:nvSpPr>
              <p:spPr>
                <a:xfrm>
                  <a:off x="4304674" y="2755458"/>
                  <a:ext cx="336785" cy="332703"/>
                </a:xfrm>
                <a:prstGeom prst="ellipse">
                  <a:avLst/>
                </a:prstGeom>
                <a:solidFill>
                  <a:srgbClr val="FCCE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5B009E9C-B364-A9F9-9CB5-F818567855CF}"/>
                    </a:ext>
                  </a:extLst>
                </p:cNvPr>
                <p:cNvSpPr/>
                <p:nvPr/>
              </p:nvSpPr>
              <p:spPr>
                <a:xfrm>
                  <a:off x="4255383" y="2706764"/>
                  <a:ext cx="435368" cy="430089"/>
                </a:xfrm>
                <a:prstGeom prst="ellipse">
                  <a:avLst/>
                </a:prstGeom>
                <a:solidFill>
                  <a:srgbClr val="FCCE29">
                    <a:alpha val="4598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237316A-BE68-ACA1-3744-E163F468DA67}"/>
                </a:ext>
              </a:extLst>
            </p:cNvPr>
            <p:cNvSpPr txBox="1"/>
            <p:nvPr/>
          </p:nvSpPr>
          <p:spPr>
            <a:xfrm>
              <a:off x="10692530" y="2598898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BH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6669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36EDC-EC20-65B9-B174-1924481E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386EDD-1E93-ACEC-F824-182C04B95EC2}"/>
              </a:ext>
            </a:extLst>
          </p:cNvPr>
          <p:cNvSpPr txBox="1"/>
          <p:nvPr/>
        </p:nvSpPr>
        <p:spPr>
          <a:xfrm>
            <a:off x="474031" y="329960"/>
            <a:ext cx="49594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90C9DD"/>
                </a:solidFill>
              </a:rPr>
              <a:t>D. Compact objects in Binaries</a:t>
            </a:r>
          </a:p>
        </p:txBody>
      </p:sp>
    </p:spTree>
    <p:extLst>
      <p:ext uri="{BB962C8B-B14F-4D97-AF65-F5344CB8AC3E}">
        <p14:creationId xmlns:p14="http://schemas.microsoft.com/office/powerpoint/2010/main" val="3463176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BDEB-F70D-9288-FDA0-222A7BCF3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9C58B-9D60-24DA-5B89-A8D66206DBE9}"/>
              </a:ext>
            </a:extLst>
          </p:cNvPr>
          <p:cNvSpPr txBox="1"/>
          <p:nvPr/>
        </p:nvSpPr>
        <p:spPr>
          <a:xfrm>
            <a:off x="474031" y="329960"/>
            <a:ext cx="554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4D3324"/>
                </a:solidFill>
              </a:rPr>
              <a:t>E. Double compact object mergers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AD5CB-70C0-446B-4ABE-26535989A1AB}"/>
              </a:ext>
            </a:extLst>
          </p:cNvPr>
          <p:cNvSpPr txBox="1"/>
          <p:nvPr/>
        </p:nvSpPr>
        <p:spPr>
          <a:xfrm>
            <a:off x="490410" y="4594182"/>
            <a:ext cx="1484759" cy="5257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L</a:t>
            </a:r>
            <a:r>
              <a:rPr lang="en-NL" sz="2800" dirty="0">
                <a:solidFill>
                  <a:schemeClr val="bg2">
                    <a:lumMod val="75000"/>
                  </a:schemeClr>
                </a:solidFill>
              </a:rPr>
              <a:t>ow  M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3FC2F7-2517-8B6C-837B-726A9CFA0C35}"/>
              </a:ext>
            </a:extLst>
          </p:cNvPr>
          <p:cNvSpPr txBox="1"/>
          <p:nvPr/>
        </p:nvSpPr>
        <p:spPr>
          <a:xfrm>
            <a:off x="385212" y="4011709"/>
            <a:ext cx="1699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3C884"/>
                </a:solidFill>
              </a:rPr>
              <a:t>WUMa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E746BF-F033-5D6F-1974-7D64EE9DC61A}"/>
              </a:ext>
            </a:extLst>
          </p:cNvPr>
          <p:cNvSpPr txBox="1"/>
          <p:nvPr/>
        </p:nvSpPr>
        <p:spPr>
          <a:xfrm>
            <a:off x="611015" y="1411917"/>
            <a:ext cx="188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23221E"/>
                </a:solidFill>
              </a:rPr>
              <a:t>Massive OB stars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716230-C75D-1D5A-4994-DEC62981574E}"/>
              </a:ext>
            </a:extLst>
          </p:cNvPr>
          <p:cNvSpPr txBox="1"/>
          <p:nvPr/>
        </p:nvSpPr>
        <p:spPr>
          <a:xfrm>
            <a:off x="2500956" y="1982849"/>
            <a:ext cx="1523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DA45C"/>
                </a:solidFill>
              </a:rPr>
              <a:t>Algol binaries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FC77DE-2B96-E3C1-AF23-11942AD67B85}"/>
              </a:ext>
            </a:extLst>
          </p:cNvPr>
          <p:cNvSpPr txBox="1"/>
          <p:nvPr/>
        </p:nvSpPr>
        <p:spPr>
          <a:xfrm>
            <a:off x="3373933" y="4033905"/>
            <a:ext cx="1357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82C9ED"/>
                </a:solidFill>
              </a:rPr>
              <a:t>EL CVn-like </a:t>
            </a:r>
          </a:p>
          <a:p>
            <a:r>
              <a:rPr lang="en-NL" dirty="0">
                <a:solidFill>
                  <a:srgbClr val="82C9ED"/>
                </a:solidFill>
              </a:rPr>
              <a:t>systems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DE166-4D50-C14C-F47C-E342966BB795}"/>
              </a:ext>
            </a:extLst>
          </p:cNvPr>
          <p:cNvSpPr txBox="1"/>
          <p:nvPr/>
        </p:nvSpPr>
        <p:spPr>
          <a:xfrm>
            <a:off x="4672675" y="4221601"/>
            <a:ext cx="1659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5DB6ED"/>
                </a:solidFill>
              </a:rPr>
              <a:t>Hot Subdwarfs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F22CD2-5008-0C76-EA48-6EC41862219A}"/>
              </a:ext>
            </a:extLst>
          </p:cNvPr>
          <p:cNvSpPr txBox="1"/>
          <p:nvPr/>
        </p:nvSpPr>
        <p:spPr>
          <a:xfrm>
            <a:off x="5381216" y="4566340"/>
            <a:ext cx="1171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64A4E9"/>
                </a:solidFill>
              </a:rPr>
              <a:t>He Giants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7835D0-CB80-E062-CE5B-8154816D5734}"/>
              </a:ext>
            </a:extLst>
          </p:cNvPr>
          <p:cNvSpPr txBox="1"/>
          <p:nvPr/>
        </p:nvSpPr>
        <p:spPr>
          <a:xfrm>
            <a:off x="6479121" y="4047323"/>
            <a:ext cx="1179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7D7AE5"/>
                </a:solidFill>
              </a:rPr>
              <a:t>Post-AGB </a:t>
            </a:r>
          </a:p>
          <a:p>
            <a:r>
              <a:rPr lang="en-NL" dirty="0">
                <a:solidFill>
                  <a:srgbClr val="7D7AE5"/>
                </a:solidFill>
              </a:rPr>
              <a:t>binaries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C3B742-EF71-B0DF-93F6-84C2C23DDEE9}"/>
              </a:ext>
            </a:extLst>
          </p:cNvPr>
          <p:cNvSpPr txBox="1"/>
          <p:nvPr/>
        </p:nvSpPr>
        <p:spPr>
          <a:xfrm>
            <a:off x="5565998" y="1655359"/>
            <a:ext cx="17720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070C0"/>
                </a:solidFill>
              </a:rPr>
              <a:t>Intermediate-M </a:t>
            </a:r>
          </a:p>
          <a:p>
            <a:r>
              <a:rPr lang="en-NL" dirty="0">
                <a:solidFill>
                  <a:srgbClr val="0070C0"/>
                </a:solidFill>
              </a:rPr>
              <a:t>stripped stars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2F5B96-3A26-8C4F-FA89-BF24F44EB400}"/>
              </a:ext>
            </a:extLst>
          </p:cNvPr>
          <p:cNvSpPr txBox="1"/>
          <p:nvPr/>
        </p:nvSpPr>
        <p:spPr>
          <a:xfrm>
            <a:off x="8260993" y="4876344"/>
            <a:ext cx="2207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F799A"/>
                </a:solidFill>
              </a:rPr>
              <a:t>Blue straggler binary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BBC120-EEB4-B56F-5981-FD016B203279}"/>
              </a:ext>
            </a:extLst>
          </p:cNvPr>
          <p:cNvSpPr txBox="1"/>
          <p:nvPr/>
        </p:nvSpPr>
        <p:spPr>
          <a:xfrm>
            <a:off x="7736020" y="4487702"/>
            <a:ext cx="225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BD6D92"/>
                </a:solidFill>
              </a:rPr>
              <a:t>Chem. </a:t>
            </a:r>
            <a:r>
              <a:rPr lang="en-GB" dirty="0">
                <a:solidFill>
                  <a:srgbClr val="BD6D92"/>
                </a:solidFill>
              </a:rPr>
              <a:t>P</a:t>
            </a:r>
            <a:r>
              <a:rPr lang="en-NL" dirty="0">
                <a:solidFill>
                  <a:srgbClr val="BD6D92"/>
                </a:solidFill>
              </a:rPr>
              <a:t>eculiar stars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AE9E6C-1A1E-FF65-3A72-18A4F1ECD1EA}"/>
              </a:ext>
            </a:extLst>
          </p:cNvPr>
          <p:cNvSpPr txBox="1"/>
          <p:nvPr/>
        </p:nvSpPr>
        <p:spPr>
          <a:xfrm>
            <a:off x="10347860" y="4684396"/>
            <a:ext cx="107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DDB7C7"/>
                </a:solidFill>
              </a:rPr>
              <a:t>WD +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BED67F-63FE-727E-7CCE-7E32D8E69577}"/>
              </a:ext>
            </a:extLst>
          </p:cNvPr>
          <p:cNvSpPr txBox="1"/>
          <p:nvPr/>
        </p:nvSpPr>
        <p:spPr>
          <a:xfrm>
            <a:off x="7517460" y="2182959"/>
            <a:ext cx="9845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BDE255"/>
                </a:solidFill>
              </a:rPr>
              <a:t>P</a:t>
            </a:r>
            <a:r>
              <a:rPr lang="en-NL" dirty="0">
                <a:solidFill>
                  <a:srgbClr val="BDE255"/>
                </a:solidFill>
              </a:rPr>
              <a:t>ulsar </a:t>
            </a:r>
          </a:p>
          <a:p>
            <a:r>
              <a:rPr lang="en-NL" dirty="0">
                <a:solidFill>
                  <a:srgbClr val="BDE255"/>
                </a:solidFill>
              </a:rPr>
              <a:t>binaries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ABE4F-5604-FC12-7A37-22F3F9B6EC19}"/>
              </a:ext>
            </a:extLst>
          </p:cNvPr>
          <p:cNvSpPr txBox="1"/>
          <p:nvPr/>
        </p:nvSpPr>
        <p:spPr>
          <a:xfrm>
            <a:off x="7728006" y="1466908"/>
            <a:ext cx="15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81CB45"/>
                </a:solidFill>
              </a:rPr>
              <a:t>H</a:t>
            </a:r>
            <a:r>
              <a:rPr lang="en-NL" dirty="0">
                <a:solidFill>
                  <a:srgbClr val="81CB45"/>
                </a:solidFill>
              </a:rPr>
              <a:t>igh-M </a:t>
            </a:r>
          </a:p>
          <a:p>
            <a:r>
              <a:rPr lang="en-NL" dirty="0">
                <a:solidFill>
                  <a:srgbClr val="81CB45"/>
                </a:solidFill>
              </a:rPr>
              <a:t>X-ray binaries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D2042D-6728-A4DC-4AB7-FD6F742DBD12}"/>
              </a:ext>
            </a:extLst>
          </p:cNvPr>
          <p:cNvSpPr txBox="1"/>
          <p:nvPr/>
        </p:nvSpPr>
        <p:spPr>
          <a:xfrm>
            <a:off x="8899073" y="1472532"/>
            <a:ext cx="1995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46B636"/>
                </a:solidFill>
              </a:rPr>
              <a:t>Spectroscop. C.O.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C34B6B-14B5-2555-98CE-6139ABD3943B}"/>
              </a:ext>
            </a:extLst>
          </p:cNvPr>
          <p:cNvSpPr txBox="1"/>
          <p:nvPr/>
        </p:nvSpPr>
        <p:spPr>
          <a:xfrm>
            <a:off x="9907485" y="1204847"/>
            <a:ext cx="189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79F27"/>
                </a:solidFill>
              </a:rPr>
              <a:t>Astrometric. C.O.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D6F87644-9150-3F4E-CB2A-8480B1E8ACAD}"/>
              </a:ext>
            </a:extLst>
          </p:cNvPr>
          <p:cNvGrpSpPr/>
          <p:nvPr/>
        </p:nvGrpSpPr>
        <p:grpSpPr>
          <a:xfrm rot="2305534">
            <a:off x="2339839" y="2537654"/>
            <a:ext cx="677611" cy="1249417"/>
            <a:chOff x="2272072" y="2994265"/>
            <a:chExt cx="677611" cy="1249417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8487CAD-789F-197E-9664-0508061BF515}"/>
                    </a:ext>
                  </a:extLst>
                </p14:cNvPr>
                <p14:cNvContentPartPr/>
                <p14:nvPr/>
              </p14:nvContentPartPr>
              <p14:xfrm>
                <a:off x="2574630" y="3153072"/>
                <a:ext cx="66240" cy="3636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8487CAD-789F-197E-9664-0508061BF51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56532" y="3117072"/>
                  <a:ext cx="102075" cy="43524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A805FA9F-140D-2E59-9A97-9461CD936D52}"/>
                </a:ext>
              </a:extLst>
            </p:cNvPr>
            <p:cNvGrpSpPr/>
            <p:nvPr/>
          </p:nvGrpSpPr>
          <p:grpSpPr>
            <a:xfrm rot="5400000">
              <a:off x="1986169" y="3280168"/>
              <a:ext cx="1249417" cy="677611"/>
              <a:chOff x="1219177" y="3119420"/>
              <a:chExt cx="1321181" cy="716531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87A2370-D392-04A9-15AD-9EDD7FA5AD4C}"/>
                  </a:ext>
                </a:extLst>
              </p:cNvPr>
              <p:cNvSpPr/>
              <p:nvPr/>
            </p:nvSpPr>
            <p:spPr>
              <a:xfrm>
                <a:off x="1219177" y="3334586"/>
                <a:ext cx="251498" cy="23484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  <a:gs pos="18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82" name="Teardrop 81">
                <a:extLst>
                  <a:ext uri="{FF2B5EF4-FFF2-40B4-BE49-F238E27FC236}">
                    <a16:creationId xmlns:a16="http://schemas.microsoft.com/office/drawing/2014/main" id="{9AF63FC8-831E-506A-3468-17387C5C9390}"/>
                  </a:ext>
                </a:extLst>
              </p:cNvPr>
              <p:cNvSpPr/>
              <p:nvPr/>
            </p:nvSpPr>
            <p:spPr>
              <a:xfrm rot="13502577">
                <a:off x="1823827" y="3119420"/>
                <a:ext cx="716531" cy="716531"/>
              </a:xfrm>
              <a:prstGeom prst="teardrop">
                <a:avLst/>
              </a:prstGeom>
              <a:gradFill>
                <a:gsLst>
                  <a:gs pos="85000">
                    <a:srgbClr val="F5941B"/>
                  </a:gs>
                  <a:gs pos="57000">
                    <a:srgbClr val="FFC000"/>
                  </a:gs>
                  <a:gs pos="4000">
                    <a:srgbClr val="FCF8D9"/>
                  </a:gs>
                  <a:gs pos="32000">
                    <a:srgbClr val="F4F7A0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844621A8-363C-5C3F-87A8-AB3896DFF53B}"/>
              </a:ext>
            </a:extLst>
          </p:cNvPr>
          <p:cNvGrpSpPr/>
          <p:nvPr/>
        </p:nvGrpSpPr>
        <p:grpSpPr>
          <a:xfrm rot="21091238">
            <a:off x="1033304" y="2632784"/>
            <a:ext cx="493605" cy="978913"/>
            <a:chOff x="1041625" y="2523278"/>
            <a:chExt cx="493605" cy="97891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57D05F0-9982-CB98-2AFA-6D7E5B5699C0}"/>
                </a:ext>
              </a:extLst>
            </p:cNvPr>
            <p:cNvGrpSpPr/>
            <p:nvPr/>
          </p:nvGrpSpPr>
          <p:grpSpPr>
            <a:xfrm rot="7789791">
              <a:off x="798971" y="2765932"/>
              <a:ext cx="978913" cy="493605"/>
              <a:chOff x="3723385" y="4934297"/>
              <a:chExt cx="2139986" cy="732045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AAC2E8A2-D7F2-F654-A6E0-46811E7E0A1C}"/>
                  </a:ext>
                </a:extLst>
              </p:cNvPr>
              <p:cNvSpPr/>
              <p:nvPr/>
            </p:nvSpPr>
            <p:spPr>
              <a:xfrm>
                <a:off x="3723385" y="4934297"/>
                <a:ext cx="1271446" cy="732045"/>
              </a:xfrm>
              <a:prstGeom prst="ellipse">
                <a:avLst/>
              </a:prstGeom>
              <a:gradFill>
                <a:gsLst>
                  <a:gs pos="59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FC25BDA-EF37-A0A3-1961-37102056E2AD}"/>
                  </a:ext>
                </a:extLst>
              </p:cNvPr>
              <p:cNvSpPr/>
              <p:nvPr/>
            </p:nvSpPr>
            <p:spPr>
              <a:xfrm>
                <a:off x="4835365" y="5056978"/>
                <a:ext cx="1028006" cy="565671"/>
              </a:xfrm>
              <a:prstGeom prst="ellipse">
                <a:avLst/>
              </a:prstGeom>
              <a:gradFill>
                <a:gsLst>
                  <a:gs pos="54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5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00DA9550-C7B1-CE91-E02C-A7B575E016CD}"/>
                </a:ext>
              </a:extLst>
            </p:cNvPr>
            <p:cNvSpPr/>
            <p:nvPr/>
          </p:nvSpPr>
          <p:spPr>
            <a:xfrm rot="2395926">
              <a:off x="1174339" y="2750145"/>
              <a:ext cx="94820" cy="575760"/>
            </a:xfrm>
            <a:prstGeom prst="ellipse">
              <a:avLst/>
            </a:prstGeom>
            <a:solidFill>
              <a:srgbClr val="E2F3FB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49C36A1D-FF61-6EF7-1F90-D6EF5F1C0F81}"/>
              </a:ext>
            </a:extLst>
          </p:cNvPr>
          <p:cNvSpPr txBox="1"/>
          <p:nvPr/>
        </p:nvSpPr>
        <p:spPr>
          <a:xfrm>
            <a:off x="5966825" y="3548855"/>
            <a:ext cx="136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stripped star</a:t>
            </a:r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E53AC76B-BD09-B4E6-C308-DF7128C5C4A3}"/>
              </a:ext>
            </a:extLst>
          </p:cNvPr>
          <p:cNvSpPr/>
          <p:nvPr/>
        </p:nvSpPr>
        <p:spPr>
          <a:xfrm rot="14049865" flipV="1">
            <a:off x="5607107" y="3683301"/>
            <a:ext cx="261775" cy="364279"/>
          </a:xfrm>
          <a:custGeom>
            <a:avLst/>
            <a:gdLst>
              <a:gd name="connsiteX0" fmla="*/ 0 w 209974"/>
              <a:gd name="connsiteY0" fmla="*/ 0 h 223520"/>
              <a:gd name="connsiteX1" fmla="*/ 74507 w 209974"/>
              <a:gd name="connsiteY1" fmla="*/ 162560 h 223520"/>
              <a:gd name="connsiteX2" fmla="*/ 209974 w 209974"/>
              <a:gd name="connsiteY2" fmla="*/ 22352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9974" h="223520">
                <a:moveTo>
                  <a:pt x="0" y="0"/>
                </a:moveTo>
                <a:cubicBezTo>
                  <a:pt x="19755" y="62653"/>
                  <a:pt x="39511" y="125307"/>
                  <a:pt x="74507" y="162560"/>
                </a:cubicBezTo>
                <a:cubicBezTo>
                  <a:pt x="109503" y="199813"/>
                  <a:pt x="159738" y="211666"/>
                  <a:pt x="209974" y="223520"/>
                </a:cubicBezTo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08889A0-30DA-4754-9503-A1A8C8821B88}"/>
              </a:ext>
            </a:extLst>
          </p:cNvPr>
          <p:cNvGrpSpPr/>
          <p:nvPr/>
        </p:nvGrpSpPr>
        <p:grpSpPr>
          <a:xfrm>
            <a:off x="3784403" y="2642165"/>
            <a:ext cx="766016" cy="1093408"/>
            <a:chOff x="3582353" y="2575693"/>
            <a:chExt cx="766016" cy="1093408"/>
          </a:xfrm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D83A4E7A-96D9-DC48-479C-3D3D0DE33C98}"/>
                </a:ext>
              </a:extLst>
            </p:cNvPr>
            <p:cNvSpPr/>
            <p:nvPr/>
          </p:nvSpPr>
          <p:spPr>
            <a:xfrm rot="1472995">
              <a:off x="3702804" y="2719179"/>
              <a:ext cx="614181" cy="760477"/>
            </a:xfrm>
            <a:prstGeom prst="ellipse">
              <a:avLst/>
            </a:prstGeom>
            <a:noFill/>
            <a:ln w="12700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737B1758-008A-DF60-E1AE-4271C7C77063}"/>
                </a:ext>
              </a:extLst>
            </p:cNvPr>
            <p:cNvSpPr/>
            <p:nvPr/>
          </p:nvSpPr>
          <p:spPr>
            <a:xfrm>
              <a:off x="3582353" y="3256053"/>
              <a:ext cx="427541" cy="413048"/>
            </a:xfrm>
            <a:prstGeom prst="ellipse">
              <a:avLst/>
            </a:prstGeom>
            <a:gradFill>
              <a:gsLst>
                <a:gs pos="85000">
                  <a:srgbClr val="F5941B"/>
                </a:gs>
                <a:gs pos="74000">
                  <a:srgbClr val="FFC000"/>
                </a:gs>
                <a:gs pos="4000">
                  <a:srgbClr val="FCF8D9"/>
                </a:gs>
                <a:gs pos="41000">
                  <a:srgbClr val="F4F7A0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83D82324-1629-F800-25D1-1812A9A58F74}"/>
                </a:ext>
              </a:extLst>
            </p:cNvPr>
            <p:cNvGrpSpPr/>
            <p:nvPr/>
          </p:nvGrpSpPr>
          <p:grpSpPr>
            <a:xfrm>
              <a:off x="4026567" y="2575693"/>
              <a:ext cx="321802" cy="317900"/>
              <a:chOff x="4030666" y="2458275"/>
              <a:chExt cx="435368" cy="430089"/>
            </a:xfrm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3090D0A7-EEB3-D156-FA4E-BB34BED92B12}"/>
                  </a:ext>
                </a:extLst>
              </p:cNvPr>
              <p:cNvSpPr/>
              <p:nvPr/>
            </p:nvSpPr>
            <p:spPr>
              <a:xfrm>
                <a:off x="4030666" y="2458275"/>
                <a:ext cx="435368" cy="430089"/>
              </a:xfrm>
              <a:prstGeom prst="ellipse">
                <a:avLst/>
              </a:prstGeom>
              <a:solidFill>
                <a:srgbClr val="77B0E6">
                  <a:alpha val="6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2A56CE30-DB52-A647-64FE-C98BE3F1264C}"/>
                  </a:ext>
                </a:extLst>
              </p:cNvPr>
              <p:cNvSpPr/>
              <p:nvPr/>
            </p:nvSpPr>
            <p:spPr>
              <a:xfrm>
                <a:off x="4079958" y="2506969"/>
                <a:ext cx="336786" cy="33270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EA61181-006A-6CEC-1850-DB5C5DAB809F}"/>
              </a:ext>
            </a:extLst>
          </p:cNvPr>
          <p:cNvGrpSpPr/>
          <p:nvPr/>
        </p:nvGrpSpPr>
        <p:grpSpPr>
          <a:xfrm rot="1870429">
            <a:off x="5326274" y="2332452"/>
            <a:ext cx="724134" cy="1733082"/>
            <a:chOff x="4821425" y="2078831"/>
            <a:chExt cx="724134" cy="1733082"/>
          </a:xfrm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7681BF92-4102-1BEB-E87C-EFCA8BBA72F6}"/>
                </a:ext>
              </a:extLst>
            </p:cNvPr>
            <p:cNvSpPr/>
            <p:nvPr/>
          </p:nvSpPr>
          <p:spPr>
            <a:xfrm>
              <a:off x="4821425" y="2315377"/>
              <a:ext cx="724134" cy="136736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85232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5AF44B91-AE62-DEEC-D5B4-6D3526E4DA72}"/>
                </a:ext>
              </a:extLst>
            </p:cNvPr>
            <p:cNvSpPr/>
            <p:nvPr/>
          </p:nvSpPr>
          <p:spPr>
            <a:xfrm>
              <a:off x="5045746" y="3545760"/>
              <a:ext cx="275492" cy="266153"/>
            </a:xfrm>
            <a:prstGeom prst="ellipse">
              <a:avLst/>
            </a:prstGeom>
            <a:gradFill>
              <a:gsLst>
                <a:gs pos="57000">
                  <a:srgbClr val="72C0F3"/>
                </a:gs>
                <a:gs pos="95000">
                  <a:schemeClr val="tx2">
                    <a:lumMod val="50000"/>
                    <a:lumOff val="50000"/>
                  </a:schemeClr>
                </a:gs>
                <a:gs pos="67000">
                  <a:srgbClr val="C4E3F6"/>
                </a:gs>
                <a:gs pos="44000">
                  <a:srgbClr val="C4E3F6"/>
                </a:gs>
                <a:gs pos="14000">
                  <a:srgbClr val="E2F3FB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AAA1AD97-5DB4-269C-D7B7-D95DC39F1B9A}"/>
                </a:ext>
              </a:extLst>
            </p:cNvPr>
            <p:cNvSpPr/>
            <p:nvPr/>
          </p:nvSpPr>
          <p:spPr>
            <a:xfrm>
              <a:off x="4887379" y="2078831"/>
              <a:ext cx="592225" cy="590152"/>
            </a:xfrm>
            <a:prstGeom prst="ellipse">
              <a:avLst/>
            </a:prstGeom>
            <a:gradFill>
              <a:gsLst>
                <a:gs pos="88000">
                  <a:srgbClr val="608DBC">
                    <a:lumMod val="100000"/>
                  </a:srgbClr>
                </a:gs>
                <a:gs pos="55000">
                  <a:srgbClr val="83B7E8">
                    <a:lumMod val="96000"/>
                  </a:srgbClr>
                </a:gs>
                <a:gs pos="18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594090E0-D92D-D921-21BB-1E1414D69C0F}"/>
              </a:ext>
            </a:extLst>
          </p:cNvPr>
          <p:cNvGrpSpPr/>
          <p:nvPr/>
        </p:nvGrpSpPr>
        <p:grpSpPr>
          <a:xfrm rot="4536077">
            <a:off x="10308635" y="1863449"/>
            <a:ext cx="986463" cy="845396"/>
            <a:chOff x="10174273" y="1545234"/>
            <a:chExt cx="958526" cy="797395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11E811E3-E32C-CC75-CA84-1EF7D6B8CD5B}"/>
                </a:ext>
              </a:extLst>
            </p:cNvPr>
            <p:cNvSpPr/>
            <p:nvPr/>
          </p:nvSpPr>
          <p:spPr>
            <a:xfrm rot="18472838">
              <a:off x="10404730" y="1488311"/>
              <a:ext cx="493795" cy="945508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32EC83A3-0332-0753-4604-C5F2A9DD5CE8}"/>
                </a:ext>
              </a:extLst>
            </p:cNvPr>
            <p:cNvSpPr/>
            <p:nvPr/>
          </p:nvSpPr>
          <p:spPr>
            <a:xfrm>
              <a:off x="10951554" y="2167528"/>
              <a:ext cx="181245" cy="175101"/>
            </a:xfrm>
            <a:prstGeom prst="ellipse">
              <a:avLst/>
            </a:prstGeom>
            <a:solidFill>
              <a:schemeClr val="tx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3DFD029-A1D8-86D6-F8F7-A0E80EE9E974}"/>
                </a:ext>
              </a:extLst>
            </p:cNvPr>
            <p:cNvGrpSpPr/>
            <p:nvPr/>
          </p:nvGrpSpPr>
          <p:grpSpPr>
            <a:xfrm>
              <a:off x="10174273" y="1545234"/>
              <a:ext cx="228203" cy="225436"/>
              <a:chOff x="4255383" y="2706764"/>
              <a:chExt cx="435368" cy="430089"/>
            </a:xfrm>
          </p:grpSpPr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34A5C4CA-B669-DC29-C5C9-AADB066F82F5}"/>
                  </a:ext>
                </a:extLst>
              </p:cNvPr>
              <p:cNvSpPr/>
              <p:nvPr/>
            </p:nvSpPr>
            <p:spPr>
              <a:xfrm>
                <a:off x="4304674" y="2755458"/>
                <a:ext cx="336785" cy="332703"/>
              </a:xfrm>
              <a:prstGeom prst="ellipse">
                <a:avLst/>
              </a:prstGeom>
              <a:solidFill>
                <a:srgbClr val="FCCE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289EB4D0-D93A-9A75-ECA6-65A1A1DF0728}"/>
                  </a:ext>
                </a:extLst>
              </p:cNvPr>
              <p:cNvSpPr/>
              <p:nvPr/>
            </p:nvSpPr>
            <p:spPr>
              <a:xfrm>
                <a:off x="4255383" y="2706764"/>
                <a:ext cx="435368" cy="430089"/>
              </a:xfrm>
              <a:prstGeom prst="ellipse">
                <a:avLst/>
              </a:prstGeom>
              <a:solidFill>
                <a:srgbClr val="FCCE29">
                  <a:alpha val="4598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4D601F83-B3A9-6CCA-A8EC-0F2EEF50B9AB}"/>
              </a:ext>
            </a:extLst>
          </p:cNvPr>
          <p:cNvGrpSpPr/>
          <p:nvPr/>
        </p:nvGrpSpPr>
        <p:grpSpPr>
          <a:xfrm rot="974216">
            <a:off x="4384515" y="726413"/>
            <a:ext cx="869836" cy="1326200"/>
            <a:chOff x="8727267" y="1895750"/>
            <a:chExt cx="685072" cy="1044499"/>
          </a:xfrm>
        </p:grpSpPr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8BC06B76-1491-F0E7-0A9A-00B0803BA457}"/>
                </a:ext>
              </a:extLst>
            </p:cNvPr>
            <p:cNvSpPr/>
            <p:nvPr/>
          </p:nvSpPr>
          <p:spPr>
            <a:xfrm rot="1296632">
              <a:off x="8727267" y="2084015"/>
              <a:ext cx="568378" cy="774710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DA15733-5EFF-EC31-592E-17D712A960FB}"/>
                </a:ext>
              </a:extLst>
            </p:cNvPr>
            <p:cNvSpPr/>
            <p:nvPr/>
          </p:nvSpPr>
          <p:spPr>
            <a:xfrm>
              <a:off x="8750766" y="2777903"/>
              <a:ext cx="168042" cy="162346"/>
            </a:xfrm>
            <a:prstGeom prst="ellipse">
              <a:avLst/>
            </a:prstGeom>
            <a:gradFill>
              <a:gsLst>
                <a:gs pos="91000">
                  <a:srgbClr val="AFDED0"/>
                </a:gs>
                <a:gs pos="70000">
                  <a:srgbClr val="92D050"/>
                </a:gs>
                <a:gs pos="21000">
                  <a:srgbClr val="C3E3B3"/>
                </a:gs>
                <a:gs pos="7000">
                  <a:srgbClr val="D8EBDE"/>
                </a:gs>
              </a:gsLst>
              <a:path path="circle">
                <a:fillToRect l="50000" t="50000" r="50000" b="50000"/>
              </a:path>
            </a:gra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CA3E176E-9EBB-C5ED-1B0C-02D86B0B0DAB}"/>
                </a:ext>
              </a:extLst>
            </p:cNvPr>
            <p:cNvSpPr/>
            <p:nvPr/>
          </p:nvSpPr>
          <p:spPr>
            <a:xfrm rot="7281029">
              <a:off x="8982440" y="1889043"/>
              <a:ext cx="423191" cy="436606"/>
            </a:xfrm>
            <a:prstGeom prst="ellipse">
              <a:avLst/>
            </a:prstGeom>
            <a:gradFill>
              <a:gsLst>
                <a:gs pos="59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2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E2F049EF-0A29-E273-A9D2-15DF8D91A056}"/>
              </a:ext>
            </a:extLst>
          </p:cNvPr>
          <p:cNvGrpSpPr/>
          <p:nvPr/>
        </p:nvGrpSpPr>
        <p:grpSpPr>
          <a:xfrm>
            <a:off x="9651972" y="3322207"/>
            <a:ext cx="1046992" cy="1022822"/>
            <a:chOff x="9583353" y="3466585"/>
            <a:chExt cx="1046992" cy="10228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922BB18C-8500-CFC3-0940-3E38E340E230}"/>
                </a:ext>
              </a:extLst>
            </p:cNvPr>
            <p:cNvGrpSpPr/>
            <p:nvPr/>
          </p:nvGrpSpPr>
          <p:grpSpPr>
            <a:xfrm rot="6210821">
              <a:off x="9719420" y="3578481"/>
              <a:ext cx="1022822" cy="799029"/>
              <a:chOff x="10157605" y="1545234"/>
              <a:chExt cx="1022822" cy="799029"/>
            </a:xfrm>
          </p:grpSpPr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4E3070F5-3044-7CF2-EBCC-9759CC71AF76}"/>
                  </a:ext>
                </a:extLst>
              </p:cNvPr>
              <p:cNvSpPr/>
              <p:nvPr/>
            </p:nvSpPr>
            <p:spPr>
              <a:xfrm rot="18472838">
                <a:off x="10317842" y="1481679"/>
                <a:ext cx="702347" cy="1022822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EE561E55-B30A-7823-BE3B-0D908D0D7667}"/>
                  </a:ext>
                </a:extLst>
              </p:cNvPr>
              <p:cNvGrpSpPr/>
              <p:nvPr/>
            </p:nvGrpSpPr>
            <p:grpSpPr>
              <a:xfrm>
                <a:off x="10174273" y="1545234"/>
                <a:ext cx="228203" cy="225436"/>
                <a:chOff x="4255383" y="2706764"/>
                <a:chExt cx="435368" cy="430089"/>
              </a:xfrm>
            </p:grpSpPr>
            <p:sp>
              <p:nvSpPr>
                <p:cNvPr id="150" name="Oval 149">
                  <a:extLst>
                    <a:ext uri="{FF2B5EF4-FFF2-40B4-BE49-F238E27FC236}">
                      <a16:creationId xmlns:a16="http://schemas.microsoft.com/office/drawing/2014/main" id="{65763333-0792-7E84-6C97-36941D6F33E4}"/>
                    </a:ext>
                  </a:extLst>
                </p:cNvPr>
                <p:cNvSpPr/>
                <p:nvPr/>
              </p:nvSpPr>
              <p:spPr>
                <a:xfrm>
                  <a:off x="4304674" y="2755458"/>
                  <a:ext cx="336785" cy="332703"/>
                </a:xfrm>
                <a:prstGeom prst="ellipse">
                  <a:avLst/>
                </a:prstGeom>
                <a:solidFill>
                  <a:srgbClr val="FCCE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49B79C7E-1828-D16A-40C1-E5F2216BD90D}"/>
                    </a:ext>
                  </a:extLst>
                </p:cNvPr>
                <p:cNvSpPr/>
                <p:nvPr/>
              </p:nvSpPr>
              <p:spPr>
                <a:xfrm>
                  <a:off x="4255383" y="2706764"/>
                  <a:ext cx="435368" cy="430089"/>
                </a:xfrm>
                <a:prstGeom prst="ellipse">
                  <a:avLst/>
                </a:prstGeom>
                <a:solidFill>
                  <a:srgbClr val="FCCE29">
                    <a:alpha val="4598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E8CA32DC-067A-2478-545C-EBB4B6260BB2}"/>
                </a:ext>
              </a:extLst>
            </p:cNvPr>
            <p:cNvSpPr/>
            <p:nvPr/>
          </p:nvSpPr>
          <p:spPr>
            <a:xfrm>
              <a:off x="9583353" y="4133245"/>
              <a:ext cx="341613" cy="330033"/>
            </a:xfrm>
            <a:prstGeom prst="ellipse">
              <a:avLst/>
            </a:prstGeom>
            <a:gradFill>
              <a:gsLst>
                <a:gs pos="84000">
                  <a:srgbClr val="D4D0D2"/>
                </a:gs>
                <a:gs pos="17000">
                  <a:srgbClr val="FFFFFF"/>
                </a:gs>
                <a:gs pos="39000">
                  <a:srgbClr val="FAF0FA"/>
                </a:gs>
              </a:gsLst>
              <a:path path="circle">
                <a:fillToRect l="50000" t="50000" r="50000" b="50000"/>
              </a:path>
            </a:gra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DFDFA3EA-B887-A64D-F420-0C8265ABB6E8}"/>
              </a:ext>
            </a:extLst>
          </p:cNvPr>
          <p:cNvSpPr txBox="1"/>
          <p:nvPr/>
        </p:nvSpPr>
        <p:spPr>
          <a:xfrm>
            <a:off x="9232852" y="2976802"/>
            <a:ext cx="439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NS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031090E-6D5D-EAE6-69F0-881B6FACD19B}"/>
              </a:ext>
            </a:extLst>
          </p:cNvPr>
          <p:cNvSpPr txBox="1"/>
          <p:nvPr/>
        </p:nvSpPr>
        <p:spPr>
          <a:xfrm>
            <a:off x="10692530" y="259889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BH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A57FDFE-9634-1619-7F85-B893F8C90852}"/>
              </a:ext>
            </a:extLst>
          </p:cNvPr>
          <p:cNvSpPr txBox="1"/>
          <p:nvPr/>
        </p:nvSpPr>
        <p:spPr>
          <a:xfrm>
            <a:off x="4238374" y="5214802"/>
            <a:ext cx="2586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8ACDEF"/>
                </a:solidFill>
              </a:rPr>
              <a:t>Low-M stripped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0E47DC0-544E-9F31-FDDE-E6EE43773E94}"/>
              </a:ext>
            </a:extLst>
          </p:cNvPr>
          <p:cNvSpPr txBox="1"/>
          <p:nvPr/>
        </p:nvSpPr>
        <p:spPr>
          <a:xfrm>
            <a:off x="9172063" y="5406632"/>
            <a:ext cx="20697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E3BCC9"/>
                </a:solidFill>
              </a:rPr>
              <a:t>WD binaries</a:t>
            </a:r>
          </a:p>
        </p:txBody>
      </p:sp>
      <p:sp>
        <p:nvSpPr>
          <p:cNvPr id="161" name="Right Brace 160">
            <a:extLst>
              <a:ext uri="{FF2B5EF4-FFF2-40B4-BE49-F238E27FC236}">
                <a16:creationId xmlns:a16="http://schemas.microsoft.com/office/drawing/2014/main" id="{456801A3-A8E6-DA50-14DC-3A1832800993}"/>
              </a:ext>
            </a:extLst>
          </p:cNvPr>
          <p:cNvSpPr/>
          <p:nvPr/>
        </p:nvSpPr>
        <p:spPr>
          <a:xfrm rot="5400000">
            <a:off x="5263487" y="3146365"/>
            <a:ext cx="369334" cy="3933754"/>
          </a:xfrm>
          <a:prstGeom prst="rightBrace">
            <a:avLst>
              <a:gd name="adj1" fmla="val 81151"/>
              <a:gd name="adj2" fmla="val 50456"/>
            </a:avLst>
          </a:prstGeom>
          <a:ln>
            <a:solidFill>
              <a:srgbClr val="8AC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2" name="Right Brace 161">
            <a:extLst>
              <a:ext uri="{FF2B5EF4-FFF2-40B4-BE49-F238E27FC236}">
                <a16:creationId xmlns:a16="http://schemas.microsoft.com/office/drawing/2014/main" id="{E449BC63-7B7E-E6E2-82D1-CAF8CB2085ED}"/>
              </a:ext>
            </a:extLst>
          </p:cNvPr>
          <p:cNvSpPr/>
          <p:nvPr/>
        </p:nvSpPr>
        <p:spPr>
          <a:xfrm rot="5400000">
            <a:off x="9283131" y="3680548"/>
            <a:ext cx="263627" cy="3250526"/>
          </a:xfrm>
          <a:prstGeom prst="rightBrace">
            <a:avLst>
              <a:gd name="adj1" fmla="val 81151"/>
              <a:gd name="adj2" fmla="val 29496"/>
            </a:avLst>
          </a:prstGeom>
          <a:ln>
            <a:solidFill>
              <a:srgbClr val="E3BC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C631CB0-E197-4544-4F35-8083CC6741EA}"/>
              </a:ext>
            </a:extLst>
          </p:cNvPr>
          <p:cNvSpPr txBox="1"/>
          <p:nvPr/>
        </p:nvSpPr>
        <p:spPr>
          <a:xfrm>
            <a:off x="9981035" y="4077061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WD</a:t>
            </a:r>
          </a:p>
        </p:txBody>
      </p:sp>
    </p:spTree>
    <p:extLst>
      <p:ext uri="{BB962C8B-B14F-4D97-AF65-F5344CB8AC3E}">
        <p14:creationId xmlns:p14="http://schemas.microsoft.com/office/powerpoint/2010/main" val="363982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A664-C583-B1FF-16D0-F784F024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B7BB341-42D8-9F02-9991-282C9E5060FE}"/>
              </a:ext>
            </a:extLst>
          </p:cNvPr>
          <p:cNvSpPr txBox="1"/>
          <p:nvPr/>
        </p:nvSpPr>
        <p:spPr>
          <a:xfrm>
            <a:off x="474031" y="329960"/>
            <a:ext cx="34387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90C9DD"/>
                </a:solidFill>
              </a:rPr>
              <a:t>POST MT CARTOONS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05793-1FED-AF08-DDDF-49AEE2B16AF5}"/>
              </a:ext>
            </a:extLst>
          </p:cNvPr>
          <p:cNvSpPr txBox="1"/>
          <p:nvPr/>
        </p:nvSpPr>
        <p:spPr>
          <a:xfrm>
            <a:off x="490410" y="4594182"/>
            <a:ext cx="1484759" cy="5257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chemeClr val="bg2">
                    <a:lumMod val="75000"/>
                  </a:schemeClr>
                </a:solidFill>
              </a:rPr>
              <a:t>L</a:t>
            </a:r>
            <a:r>
              <a:rPr lang="en-NL" sz="2800" dirty="0">
                <a:solidFill>
                  <a:schemeClr val="bg2">
                    <a:lumMod val="75000"/>
                  </a:schemeClr>
                </a:solidFill>
              </a:rPr>
              <a:t>ow  M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E23430-ED0E-9B0C-2980-24C0C9E8148C}"/>
              </a:ext>
            </a:extLst>
          </p:cNvPr>
          <p:cNvSpPr txBox="1"/>
          <p:nvPr/>
        </p:nvSpPr>
        <p:spPr>
          <a:xfrm>
            <a:off x="385212" y="4011709"/>
            <a:ext cx="1699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3C884"/>
                </a:solidFill>
              </a:rPr>
              <a:t>WUMa binaries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D62DE7-01A2-6B38-54F2-465C12C7AB34}"/>
              </a:ext>
            </a:extLst>
          </p:cNvPr>
          <p:cNvSpPr txBox="1"/>
          <p:nvPr/>
        </p:nvSpPr>
        <p:spPr>
          <a:xfrm>
            <a:off x="611015" y="1411917"/>
            <a:ext cx="188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23221E"/>
                </a:solidFill>
              </a:rPr>
              <a:t>Massive OB stars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95969B-E62F-C9D9-7913-9A83A1EE0D14}"/>
              </a:ext>
            </a:extLst>
          </p:cNvPr>
          <p:cNvSpPr txBox="1"/>
          <p:nvPr/>
        </p:nvSpPr>
        <p:spPr>
          <a:xfrm>
            <a:off x="2500956" y="1982849"/>
            <a:ext cx="1523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DA45C"/>
                </a:solidFill>
              </a:rPr>
              <a:t>Algol binaries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AC138A-4BFD-DD21-1232-79A761557BFE}"/>
              </a:ext>
            </a:extLst>
          </p:cNvPr>
          <p:cNvSpPr txBox="1"/>
          <p:nvPr/>
        </p:nvSpPr>
        <p:spPr>
          <a:xfrm>
            <a:off x="3373933" y="4033905"/>
            <a:ext cx="1357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82C9ED"/>
                </a:solidFill>
              </a:rPr>
              <a:t>EL CVn-like </a:t>
            </a:r>
          </a:p>
          <a:p>
            <a:r>
              <a:rPr lang="en-NL" dirty="0">
                <a:solidFill>
                  <a:srgbClr val="82C9ED"/>
                </a:solidFill>
              </a:rPr>
              <a:t>systems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514E1C-7BAE-C495-BBF8-F9197B4BB20B}"/>
              </a:ext>
            </a:extLst>
          </p:cNvPr>
          <p:cNvSpPr txBox="1"/>
          <p:nvPr/>
        </p:nvSpPr>
        <p:spPr>
          <a:xfrm>
            <a:off x="4672675" y="4221601"/>
            <a:ext cx="1659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5DB6ED"/>
                </a:solidFill>
              </a:rPr>
              <a:t>Hot Subdwarfs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940000-221D-A4F1-53C2-BD0A68C13658}"/>
              </a:ext>
            </a:extLst>
          </p:cNvPr>
          <p:cNvSpPr txBox="1"/>
          <p:nvPr/>
        </p:nvSpPr>
        <p:spPr>
          <a:xfrm>
            <a:off x="5381216" y="4566340"/>
            <a:ext cx="1171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64A4E9"/>
                </a:solidFill>
              </a:rPr>
              <a:t>He Giants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3E8FE5-B205-5803-7AC9-33171A4AA8C2}"/>
              </a:ext>
            </a:extLst>
          </p:cNvPr>
          <p:cNvSpPr txBox="1"/>
          <p:nvPr/>
        </p:nvSpPr>
        <p:spPr>
          <a:xfrm>
            <a:off x="6479121" y="4047323"/>
            <a:ext cx="1179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7D7AE5"/>
                </a:solidFill>
              </a:rPr>
              <a:t>Post-AGB </a:t>
            </a:r>
          </a:p>
          <a:p>
            <a:r>
              <a:rPr lang="en-NL" dirty="0">
                <a:solidFill>
                  <a:srgbClr val="7D7AE5"/>
                </a:solidFill>
              </a:rPr>
              <a:t>binaries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1B3AA-0541-3FAF-D0D7-1BE551733AFE}"/>
              </a:ext>
            </a:extLst>
          </p:cNvPr>
          <p:cNvSpPr txBox="1"/>
          <p:nvPr/>
        </p:nvSpPr>
        <p:spPr>
          <a:xfrm>
            <a:off x="5565998" y="1655359"/>
            <a:ext cx="17720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070C0"/>
                </a:solidFill>
              </a:rPr>
              <a:t>Intermediate-M </a:t>
            </a:r>
          </a:p>
          <a:p>
            <a:r>
              <a:rPr lang="en-NL" dirty="0">
                <a:solidFill>
                  <a:srgbClr val="0070C0"/>
                </a:solidFill>
              </a:rPr>
              <a:t>stripped stars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7E3AB-8671-09B6-5305-DBDFD1BB31E2}"/>
              </a:ext>
            </a:extLst>
          </p:cNvPr>
          <p:cNvSpPr txBox="1"/>
          <p:nvPr/>
        </p:nvSpPr>
        <p:spPr>
          <a:xfrm>
            <a:off x="8260993" y="4876344"/>
            <a:ext cx="2207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EF799A"/>
                </a:solidFill>
              </a:rPr>
              <a:t>Blue straggler binary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71276D-2CFD-6201-7C04-F06691932CBF}"/>
              </a:ext>
            </a:extLst>
          </p:cNvPr>
          <p:cNvSpPr txBox="1"/>
          <p:nvPr/>
        </p:nvSpPr>
        <p:spPr>
          <a:xfrm>
            <a:off x="7736020" y="4487702"/>
            <a:ext cx="2255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BD6D92"/>
                </a:solidFill>
              </a:rPr>
              <a:t>Chem. </a:t>
            </a:r>
            <a:r>
              <a:rPr lang="en-GB" dirty="0">
                <a:solidFill>
                  <a:srgbClr val="BD6D92"/>
                </a:solidFill>
              </a:rPr>
              <a:t>P</a:t>
            </a:r>
            <a:r>
              <a:rPr lang="en-NL" dirty="0">
                <a:solidFill>
                  <a:srgbClr val="BD6D92"/>
                </a:solidFill>
              </a:rPr>
              <a:t>eculiar stars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A56CBF-4B2B-2822-F514-9DB18795A847}"/>
              </a:ext>
            </a:extLst>
          </p:cNvPr>
          <p:cNvSpPr txBox="1"/>
          <p:nvPr/>
        </p:nvSpPr>
        <p:spPr>
          <a:xfrm>
            <a:off x="10347860" y="4684396"/>
            <a:ext cx="107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DDB7C7"/>
                </a:solidFill>
              </a:rPr>
              <a:t>WD + 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A49E56-8FBC-6F89-781D-7CC72A355CF2}"/>
              </a:ext>
            </a:extLst>
          </p:cNvPr>
          <p:cNvSpPr txBox="1"/>
          <p:nvPr/>
        </p:nvSpPr>
        <p:spPr>
          <a:xfrm>
            <a:off x="7517460" y="2182959"/>
            <a:ext cx="9845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BDE255"/>
                </a:solidFill>
              </a:rPr>
              <a:t>P</a:t>
            </a:r>
            <a:r>
              <a:rPr lang="en-NL" dirty="0">
                <a:solidFill>
                  <a:srgbClr val="BDE255"/>
                </a:solidFill>
              </a:rPr>
              <a:t>ulsar </a:t>
            </a:r>
          </a:p>
          <a:p>
            <a:r>
              <a:rPr lang="en-NL" dirty="0">
                <a:solidFill>
                  <a:srgbClr val="BDE255"/>
                </a:solidFill>
              </a:rPr>
              <a:t>binaries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65E16E-EE23-2675-7D68-DADA59BCAD79}"/>
              </a:ext>
            </a:extLst>
          </p:cNvPr>
          <p:cNvSpPr txBox="1"/>
          <p:nvPr/>
        </p:nvSpPr>
        <p:spPr>
          <a:xfrm>
            <a:off x="7728006" y="1466908"/>
            <a:ext cx="1530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81CB45"/>
                </a:solidFill>
              </a:rPr>
              <a:t>H</a:t>
            </a:r>
            <a:r>
              <a:rPr lang="en-NL" dirty="0">
                <a:solidFill>
                  <a:srgbClr val="81CB45"/>
                </a:solidFill>
              </a:rPr>
              <a:t>igh-M </a:t>
            </a:r>
          </a:p>
          <a:p>
            <a:r>
              <a:rPr lang="en-NL" dirty="0">
                <a:solidFill>
                  <a:srgbClr val="81CB45"/>
                </a:solidFill>
              </a:rPr>
              <a:t>X-ray binaries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88CE47-D664-01B2-707B-8FF5FBCBFC43}"/>
              </a:ext>
            </a:extLst>
          </p:cNvPr>
          <p:cNvSpPr txBox="1"/>
          <p:nvPr/>
        </p:nvSpPr>
        <p:spPr>
          <a:xfrm>
            <a:off x="8899073" y="1472532"/>
            <a:ext cx="1995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46B636"/>
                </a:solidFill>
              </a:rPr>
              <a:t>Spectroscop. C.O.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6DD6273-41E8-4BED-2B49-D1CCE74AACFC}"/>
              </a:ext>
            </a:extLst>
          </p:cNvPr>
          <p:cNvSpPr txBox="1"/>
          <p:nvPr/>
        </p:nvSpPr>
        <p:spPr>
          <a:xfrm>
            <a:off x="9907485" y="1204847"/>
            <a:ext cx="189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>
                <a:solidFill>
                  <a:srgbClr val="079F27"/>
                </a:solidFill>
              </a:rPr>
              <a:t>Astrometric. C.O.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DBD8DF0E-59A0-5820-B71B-B4C84BB873A1}"/>
              </a:ext>
            </a:extLst>
          </p:cNvPr>
          <p:cNvGrpSpPr/>
          <p:nvPr/>
        </p:nvGrpSpPr>
        <p:grpSpPr>
          <a:xfrm rot="2305534">
            <a:off x="2339839" y="2537654"/>
            <a:ext cx="677611" cy="1249417"/>
            <a:chOff x="2272072" y="2994265"/>
            <a:chExt cx="677611" cy="1249417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EAE84E3-2039-2B38-58AA-557BDD59309A}"/>
                    </a:ext>
                  </a:extLst>
                </p14:cNvPr>
                <p14:cNvContentPartPr/>
                <p14:nvPr/>
              </p14:nvContentPartPr>
              <p14:xfrm>
                <a:off x="2574630" y="3153072"/>
                <a:ext cx="66240" cy="363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E3249AB-1B2A-BCAD-12F7-565726B8C3C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56990" y="3117432"/>
                  <a:ext cx="101880" cy="43524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292A6BD3-6DC4-29EB-A96C-1E8D28D20AB6}"/>
                </a:ext>
              </a:extLst>
            </p:cNvPr>
            <p:cNvGrpSpPr/>
            <p:nvPr/>
          </p:nvGrpSpPr>
          <p:grpSpPr>
            <a:xfrm rot="5400000">
              <a:off x="1986169" y="3280168"/>
              <a:ext cx="1249417" cy="677611"/>
              <a:chOff x="1219177" y="3119420"/>
              <a:chExt cx="1321181" cy="716531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89493AC-1A37-DE6B-B102-51BF69908496}"/>
                  </a:ext>
                </a:extLst>
              </p:cNvPr>
              <p:cNvSpPr/>
              <p:nvPr/>
            </p:nvSpPr>
            <p:spPr>
              <a:xfrm>
                <a:off x="1219177" y="3334586"/>
                <a:ext cx="251498" cy="23484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  <a:gs pos="18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82" name="Teardrop 81">
                <a:extLst>
                  <a:ext uri="{FF2B5EF4-FFF2-40B4-BE49-F238E27FC236}">
                    <a16:creationId xmlns:a16="http://schemas.microsoft.com/office/drawing/2014/main" id="{821BA746-5A20-29F5-2CD6-570394CE265D}"/>
                  </a:ext>
                </a:extLst>
              </p:cNvPr>
              <p:cNvSpPr/>
              <p:nvPr/>
            </p:nvSpPr>
            <p:spPr>
              <a:xfrm rot="13502577">
                <a:off x="1823827" y="3119420"/>
                <a:ext cx="716531" cy="716531"/>
              </a:xfrm>
              <a:prstGeom prst="teardrop">
                <a:avLst/>
              </a:prstGeom>
              <a:gradFill>
                <a:gsLst>
                  <a:gs pos="85000">
                    <a:srgbClr val="F5941B"/>
                  </a:gs>
                  <a:gs pos="57000">
                    <a:srgbClr val="FFC000"/>
                  </a:gs>
                  <a:gs pos="4000">
                    <a:srgbClr val="FCF8D9"/>
                  </a:gs>
                  <a:gs pos="32000">
                    <a:srgbClr val="F4F7A0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E7D00A1-C647-8248-778B-56344661E324}"/>
              </a:ext>
            </a:extLst>
          </p:cNvPr>
          <p:cNvGrpSpPr/>
          <p:nvPr/>
        </p:nvGrpSpPr>
        <p:grpSpPr>
          <a:xfrm rot="21091238">
            <a:off x="1033304" y="2632784"/>
            <a:ext cx="493605" cy="978913"/>
            <a:chOff x="1041625" y="2523278"/>
            <a:chExt cx="493605" cy="97891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C298B94-06DC-E8D8-7EF8-6628E607094A}"/>
                </a:ext>
              </a:extLst>
            </p:cNvPr>
            <p:cNvGrpSpPr/>
            <p:nvPr/>
          </p:nvGrpSpPr>
          <p:grpSpPr>
            <a:xfrm rot="7789791">
              <a:off x="798971" y="2765932"/>
              <a:ext cx="978913" cy="493605"/>
              <a:chOff x="3723385" y="4934297"/>
              <a:chExt cx="2139986" cy="732045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D5C9A625-B446-EDBC-23EE-819D3430C144}"/>
                  </a:ext>
                </a:extLst>
              </p:cNvPr>
              <p:cNvSpPr/>
              <p:nvPr/>
            </p:nvSpPr>
            <p:spPr>
              <a:xfrm>
                <a:off x="3723385" y="4934297"/>
                <a:ext cx="1271446" cy="732045"/>
              </a:xfrm>
              <a:prstGeom prst="ellipse">
                <a:avLst/>
              </a:prstGeom>
              <a:gradFill>
                <a:gsLst>
                  <a:gs pos="59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3D35AA83-9273-8903-E678-C45063A6390B}"/>
                  </a:ext>
                </a:extLst>
              </p:cNvPr>
              <p:cNvSpPr/>
              <p:nvPr/>
            </p:nvSpPr>
            <p:spPr>
              <a:xfrm>
                <a:off x="4835365" y="5056978"/>
                <a:ext cx="1028006" cy="565671"/>
              </a:xfrm>
              <a:prstGeom prst="ellipse">
                <a:avLst/>
              </a:prstGeom>
              <a:gradFill>
                <a:gsLst>
                  <a:gs pos="54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5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F948657F-6933-651E-1ECA-8B72A8E2D325}"/>
                </a:ext>
              </a:extLst>
            </p:cNvPr>
            <p:cNvSpPr/>
            <p:nvPr/>
          </p:nvSpPr>
          <p:spPr>
            <a:xfrm rot="2395926">
              <a:off x="1174339" y="2750145"/>
              <a:ext cx="94820" cy="575760"/>
            </a:xfrm>
            <a:prstGeom prst="ellipse">
              <a:avLst/>
            </a:prstGeom>
            <a:solidFill>
              <a:srgbClr val="E2F3FB">
                <a:alpha val="3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855040F8-33A0-9156-6CF2-3A76806A3AAA}"/>
              </a:ext>
            </a:extLst>
          </p:cNvPr>
          <p:cNvSpPr txBox="1"/>
          <p:nvPr/>
        </p:nvSpPr>
        <p:spPr>
          <a:xfrm>
            <a:off x="5966825" y="3548855"/>
            <a:ext cx="136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stripped star</a:t>
            </a:r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5DB20D33-17E7-29C8-7DFE-58B1A9BB8A08}"/>
              </a:ext>
            </a:extLst>
          </p:cNvPr>
          <p:cNvSpPr/>
          <p:nvPr/>
        </p:nvSpPr>
        <p:spPr>
          <a:xfrm rot="14049865" flipV="1">
            <a:off x="5607107" y="3683301"/>
            <a:ext cx="261775" cy="364279"/>
          </a:xfrm>
          <a:custGeom>
            <a:avLst/>
            <a:gdLst>
              <a:gd name="connsiteX0" fmla="*/ 0 w 209974"/>
              <a:gd name="connsiteY0" fmla="*/ 0 h 223520"/>
              <a:gd name="connsiteX1" fmla="*/ 74507 w 209974"/>
              <a:gd name="connsiteY1" fmla="*/ 162560 h 223520"/>
              <a:gd name="connsiteX2" fmla="*/ 209974 w 209974"/>
              <a:gd name="connsiteY2" fmla="*/ 22352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9974" h="223520">
                <a:moveTo>
                  <a:pt x="0" y="0"/>
                </a:moveTo>
                <a:cubicBezTo>
                  <a:pt x="19755" y="62653"/>
                  <a:pt x="39511" y="125307"/>
                  <a:pt x="74507" y="162560"/>
                </a:cubicBezTo>
                <a:cubicBezTo>
                  <a:pt x="109503" y="199813"/>
                  <a:pt x="159738" y="211666"/>
                  <a:pt x="209974" y="223520"/>
                </a:cubicBezTo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AB79EEA-C854-1D78-B2D5-4D831CCBED94}"/>
              </a:ext>
            </a:extLst>
          </p:cNvPr>
          <p:cNvGrpSpPr/>
          <p:nvPr/>
        </p:nvGrpSpPr>
        <p:grpSpPr>
          <a:xfrm>
            <a:off x="3784403" y="2642165"/>
            <a:ext cx="766016" cy="1093408"/>
            <a:chOff x="3582353" y="2575693"/>
            <a:chExt cx="766016" cy="1093408"/>
          </a:xfrm>
        </p:grpSpPr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AE67C27C-DEFA-9C5F-78C7-A741A495F803}"/>
                </a:ext>
              </a:extLst>
            </p:cNvPr>
            <p:cNvSpPr/>
            <p:nvPr/>
          </p:nvSpPr>
          <p:spPr>
            <a:xfrm rot="1472995">
              <a:off x="3702804" y="2719179"/>
              <a:ext cx="614181" cy="760477"/>
            </a:xfrm>
            <a:prstGeom prst="ellipse">
              <a:avLst/>
            </a:prstGeom>
            <a:noFill/>
            <a:ln w="12700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0A277CFE-7FC5-F427-B21B-5BC064938515}"/>
                </a:ext>
              </a:extLst>
            </p:cNvPr>
            <p:cNvSpPr/>
            <p:nvPr/>
          </p:nvSpPr>
          <p:spPr>
            <a:xfrm>
              <a:off x="3582353" y="3256053"/>
              <a:ext cx="427541" cy="413048"/>
            </a:xfrm>
            <a:prstGeom prst="ellipse">
              <a:avLst/>
            </a:prstGeom>
            <a:gradFill>
              <a:gsLst>
                <a:gs pos="85000">
                  <a:srgbClr val="F5941B"/>
                </a:gs>
                <a:gs pos="74000">
                  <a:srgbClr val="FFC000"/>
                </a:gs>
                <a:gs pos="4000">
                  <a:srgbClr val="FCF8D9"/>
                </a:gs>
                <a:gs pos="41000">
                  <a:srgbClr val="F4F7A0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10C0D738-0C49-D74C-4244-F7131296E5B7}"/>
                </a:ext>
              </a:extLst>
            </p:cNvPr>
            <p:cNvGrpSpPr/>
            <p:nvPr/>
          </p:nvGrpSpPr>
          <p:grpSpPr>
            <a:xfrm>
              <a:off x="4026567" y="2575693"/>
              <a:ext cx="321802" cy="317900"/>
              <a:chOff x="4030666" y="2458275"/>
              <a:chExt cx="435368" cy="430089"/>
            </a:xfrm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14DFCF6-5470-0225-53B4-D1311D0D0AEE}"/>
                  </a:ext>
                </a:extLst>
              </p:cNvPr>
              <p:cNvSpPr/>
              <p:nvPr/>
            </p:nvSpPr>
            <p:spPr>
              <a:xfrm>
                <a:off x="4030666" y="2458275"/>
                <a:ext cx="435368" cy="430089"/>
              </a:xfrm>
              <a:prstGeom prst="ellipse">
                <a:avLst/>
              </a:prstGeom>
              <a:solidFill>
                <a:srgbClr val="77B0E6">
                  <a:alpha val="6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B6EAF482-FED8-E69A-365C-8EE56C95B82A}"/>
                  </a:ext>
                </a:extLst>
              </p:cNvPr>
              <p:cNvSpPr/>
              <p:nvPr/>
            </p:nvSpPr>
            <p:spPr>
              <a:xfrm>
                <a:off x="4079958" y="2506969"/>
                <a:ext cx="336786" cy="332701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C0E4EC5-5543-C16E-10D8-88FE4F329B3D}"/>
              </a:ext>
            </a:extLst>
          </p:cNvPr>
          <p:cNvGrpSpPr/>
          <p:nvPr/>
        </p:nvGrpSpPr>
        <p:grpSpPr>
          <a:xfrm rot="1870429">
            <a:off x="5326274" y="2332452"/>
            <a:ext cx="724134" cy="1733082"/>
            <a:chOff x="4821425" y="2078831"/>
            <a:chExt cx="724134" cy="1733082"/>
          </a:xfrm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4E77D511-FA61-12FC-7094-0B045239E889}"/>
                </a:ext>
              </a:extLst>
            </p:cNvPr>
            <p:cNvSpPr/>
            <p:nvPr/>
          </p:nvSpPr>
          <p:spPr>
            <a:xfrm>
              <a:off x="4821425" y="2315377"/>
              <a:ext cx="724134" cy="1367362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85232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B2C2D5A-BBCF-772B-B3A2-337608AFFCD9}"/>
                </a:ext>
              </a:extLst>
            </p:cNvPr>
            <p:cNvSpPr/>
            <p:nvPr/>
          </p:nvSpPr>
          <p:spPr>
            <a:xfrm>
              <a:off x="5045746" y="3545760"/>
              <a:ext cx="275492" cy="266153"/>
            </a:xfrm>
            <a:prstGeom prst="ellipse">
              <a:avLst/>
            </a:prstGeom>
            <a:gradFill>
              <a:gsLst>
                <a:gs pos="57000">
                  <a:srgbClr val="72C0F3"/>
                </a:gs>
                <a:gs pos="95000">
                  <a:schemeClr val="tx2">
                    <a:lumMod val="50000"/>
                    <a:lumOff val="50000"/>
                  </a:schemeClr>
                </a:gs>
                <a:gs pos="67000">
                  <a:srgbClr val="C4E3F6"/>
                </a:gs>
                <a:gs pos="44000">
                  <a:srgbClr val="C4E3F6"/>
                </a:gs>
                <a:gs pos="14000">
                  <a:srgbClr val="E2F3FB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30B01276-B34C-20E8-7670-4D3102C8293E}"/>
                </a:ext>
              </a:extLst>
            </p:cNvPr>
            <p:cNvSpPr/>
            <p:nvPr/>
          </p:nvSpPr>
          <p:spPr>
            <a:xfrm>
              <a:off x="4887379" y="2078831"/>
              <a:ext cx="592225" cy="590152"/>
            </a:xfrm>
            <a:prstGeom prst="ellipse">
              <a:avLst/>
            </a:prstGeom>
            <a:gradFill>
              <a:gsLst>
                <a:gs pos="88000">
                  <a:srgbClr val="608DBC">
                    <a:lumMod val="100000"/>
                  </a:srgbClr>
                </a:gs>
                <a:gs pos="55000">
                  <a:srgbClr val="83B7E8">
                    <a:lumMod val="96000"/>
                  </a:srgbClr>
                </a:gs>
                <a:gs pos="18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0CB0E4E-FFD5-74C4-30EA-30E12A305A96}"/>
              </a:ext>
            </a:extLst>
          </p:cNvPr>
          <p:cNvGrpSpPr/>
          <p:nvPr/>
        </p:nvGrpSpPr>
        <p:grpSpPr>
          <a:xfrm rot="4536077">
            <a:off x="10308635" y="1863449"/>
            <a:ext cx="986463" cy="845396"/>
            <a:chOff x="10174273" y="1545234"/>
            <a:chExt cx="958526" cy="797395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DFDFA21E-6055-88A5-CA5F-3323974F98BF}"/>
                </a:ext>
              </a:extLst>
            </p:cNvPr>
            <p:cNvSpPr/>
            <p:nvPr/>
          </p:nvSpPr>
          <p:spPr>
            <a:xfrm rot="18472838">
              <a:off x="10404730" y="1488311"/>
              <a:ext cx="493795" cy="945508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AF48DB89-6E71-766A-78C2-14328ED721E7}"/>
                </a:ext>
              </a:extLst>
            </p:cNvPr>
            <p:cNvSpPr/>
            <p:nvPr/>
          </p:nvSpPr>
          <p:spPr>
            <a:xfrm>
              <a:off x="10951554" y="2167528"/>
              <a:ext cx="181245" cy="175101"/>
            </a:xfrm>
            <a:prstGeom prst="ellipse">
              <a:avLst/>
            </a:prstGeom>
            <a:solidFill>
              <a:schemeClr val="tx1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8005386-581D-0A00-DEA8-CAE11601C61F}"/>
                </a:ext>
              </a:extLst>
            </p:cNvPr>
            <p:cNvGrpSpPr/>
            <p:nvPr/>
          </p:nvGrpSpPr>
          <p:grpSpPr>
            <a:xfrm>
              <a:off x="10174273" y="1545234"/>
              <a:ext cx="228203" cy="225436"/>
              <a:chOff x="4255383" y="2706764"/>
              <a:chExt cx="435368" cy="430089"/>
            </a:xfrm>
          </p:grpSpPr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94C9DEF3-17B2-CE79-C905-20B6F2AEEE1F}"/>
                  </a:ext>
                </a:extLst>
              </p:cNvPr>
              <p:cNvSpPr/>
              <p:nvPr/>
            </p:nvSpPr>
            <p:spPr>
              <a:xfrm>
                <a:off x="4304674" y="2755458"/>
                <a:ext cx="336785" cy="332703"/>
              </a:xfrm>
              <a:prstGeom prst="ellipse">
                <a:avLst/>
              </a:prstGeom>
              <a:solidFill>
                <a:srgbClr val="FCCE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4596E9AA-7F59-7BF5-48D9-72A729399E04}"/>
                  </a:ext>
                </a:extLst>
              </p:cNvPr>
              <p:cNvSpPr/>
              <p:nvPr/>
            </p:nvSpPr>
            <p:spPr>
              <a:xfrm>
                <a:off x="4255383" y="2706764"/>
                <a:ext cx="435368" cy="430089"/>
              </a:xfrm>
              <a:prstGeom prst="ellipse">
                <a:avLst/>
              </a:prstGeom>
              <a:solidFill>
                <a:srgbClr val="FCCE29">
                  <a:alpha val="4598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E314BD6A-6522-2D04-D698-FAABC636B8C6}"/>
              </a:ext>
            </a:extLst>
          </p:cNvPr>
          <p:cNvGrpSpPr/>
          <p:nvPr/>
        </p:nvGrpSpPr>
        <p:grpSpPr>
          <a:xfrm rot="974216">
            <a:off x="4384515" y="726413"/>
            <a:ext cx="869836" cy="1326200"/>
            <a:chOff x="8727267" y="1895750"/>
            <a:chExt cx="685072" cy="1044499"/>
          </a:xfrm>
        </p:grpSpPr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E7DB45C3-EB12-1A1C-9529-72C290A20EBA}"/>
                </a:ext>
              </a:extLst>
            </p:cNvPr>
            <p:cNvSpPr/>
            <p:nvPr/>
          </p:nvSpPr>
          <p:spPr>
            <a:xfrm rot="1296632">
              <a:off x="8727267" y="2084015"/>
              <a:ext cx="568378" cy="774710"/>
            </a:xfrm>
            <a:prstGeom prst="ellipse">
              <a:avLst/>
            </a:prstGeom>
            <a:noFill/>
            <a:ln w="9525">
              <a:solidFill>
                <a:schemeClr val="bg1">
                  <a:lumMod val="50000"/>
                  <a:alpha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E4B456A8-D254-3985-DFA4-E8CFF617B944}"/>
                </a:ext>
              </a:extLst>
            </p:cNvPr>
            <p:cNvSpPr/>
            <p:nvPr/>
          </p:nvSpPr>
          <p:spPr>
            <a:xfrm>
              <a:off x="8750766" y="2777903"/>
              <a:ext cx="168042" cy="162346"/>
            </a:xfrm>
            <a:prstGeom prst="ellipse">
              <a:avLst/>
            </a:prstGeom>
            <a:gradFill>
              <a:gsLst>
                <a:gs pos="91000">
                  <a:srgbClr val="AFDED0"/>
                </a:gs>
                <a:gs pos="70000">
                  <a:srgbClr val="92D050"/>
                </a:gs>
                <a:gs pos="21000">
                  <a:srgbClr val="C3E3B3"/>
                </a:gs>
                <a:gs pos="7000">
                  <a:srgbClr val="D8EBDE"/>
                </a:gs>
              </a:gsLst>
              <a:path path="circle">
                <a:fillToRect l="50000" t="50000" r="50000" b="50000"/>
              </a:path>
            </a:gradFill>
            <a:ln w="2540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0052B474-08F8-3147-5C32-0EDBF74DAEED}"/>
                </a:ext>
              </a:extLst>
            </p:cNvPr>
            <p:cNvSpPr/>
            <p:nvPr/>
          </p:nvSpPr>
          <p:spPr>
            <a:xfrm rot="7281029">
              <a:off x="8982440" y="1889043"/>
              <a:ext cx="423191" cy="436606"/>
            </a:xfrm>
            <a:prstGeom prst="ellipse">
              <a:avLst/>
            </a:prstGeom>
            <a:gradFill>
              <a:gsLst>
                <a:gs pos="59000">
                  <a:srgbClr val="83B7E8">
                    <a:lumMod val="96000"/>
                  </a:srgbClr>
                </a:gs>
                <a:gs pos="4000">
                  <a:srgbClr val="CCE9F8">
                    <a:lumMod val="38000"/>
                    <a:lumOff val="62000"/>
                  </a:srgbClr>
                </a:gs>
                <a:gs pos="22000">
                  <a:srgbClr val="CCE9F8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GB" dirty="0">
                <a:solidFill>
                  <a:srgbClr val="000000"/>
                </a:solidFill>
                <a:latin typeface="Calibri" panose="020F0502020204030204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88459CAB-7ECE-8E8D-6C16-485919E37A6A}"/>
              </a:ext>
            </a:extLst>
          </p:cNvPr>
          <p:cNvGrpSpPr/>
          <p:nvPr/>
        </p:nvGrpSpPr>
        <p:grpSpPr>
          <a:xfrm>
            <a:off x="9651972" y="3322207"/>
            <a:ext cx="1046992" cy="1022822"/>
            <a:chOff x="9583353" y="3466585"/>
            <a:chExt cx="1046992" cy="10228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CC5496D1-41B1-2B5D-9479-B23C557231B9}"/>
                </a:ext>
              </a:extLst>
            </p:cNvPr>
            <p:cNvGrpSpPr/>
            <p:nvPr/>
          </p:nvGrpSpPr>
          <p:grpSpPr>
            <a:xfrm rot="6210821">
              <a:off x="9719420" y="3578481"/>
              <a:ext cx="1022822" cy="799029"/>
              <a:chOff x="10157605" y="1545234"/>
              <a:chExt cx="1022822" cy="799029"/>
            </a:xfrm>
          </p:grpSpPr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ACF8C35D-C8D5-5555-B152-ACF181D8A28B}"/>
                  </a:ext>
                </a:extLst>
              </p:cNvPr>
              <p:cNvSpPr/>
              <p:nvPr/>
            </p:nvSpPr>
            <p:spPr>
              <a:xfrm rot="18472838">
                <a:off x="10317842" y="1481679"/>
                <a:ext cx="702347" cy="1022822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FA36290C-7F0F-3B31-4466-397CAA7D2CEB}"/>
                  </a:ext>
                </a:extLst>
              </p:cNvPr>
              <p:cNvGrpSpPr/>
              <p:nvPr/>
            </p:nvGrpSpPr>
            <p:grpSpPr>
              <a:xfrm>
                <a:off x="10174273" y="1545234"/>
                <a:ext cx="228203" cy="225436"/>
                <a:chOff x="4255383" y="2706764"/>
                <a:chExt cx="435368" cy="430089"/>
              </a:xfrm>
            </p:grpSpPr>
            <p:sp>
              <p:nvSpPr>
                <p:cNvPr id="150" name="Oval 149">
                  <a:extLst>
                    <a:ext uri="{FF2B5EF4-FFF2-40B4-BE49-F238E27FC236}">
                      <a16:creationId xmlns:a16="http://schemas.microsoft.com/office/drawing/2014/main" id="{8A08972E-0440-0354-4071-2D8100D14DCD}"/>
                    </a:ext>
                  </a:extLst>
                </p:cNvPr>
                <p:cNvSpPr/>
                <p:nvPr/>
              </p:nvSpPr>
              <p:spPr>
                <a:xfrm>
                  <a:off x="4304674" y="2755458"/>
                  <a:ext cx="336785" cy="332703"/>
                </a:xfrm>
                <a:prstGeom prst="ellipse">
                  <a:avLst/>
                </a:prstGeom>
                <a:solidFill>
                  <a:srgbClr val="FCCE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7CCA377F-0F93-E660-73F3-0B39C77B9838}"/>
                    </a:ext>
                  </a:extLst>
                </p:cNvPr>
                <p:cNvSpPr/>
                <p:nvPr/>
              </p:nvSpPr>
              <p:spPr>
                <a:xfrm>
                  <a:off x="4255383" y="2706764"/>
                  <a:ext cx="435368" cy="430089"/>
                </a:xfrm>
                <a:prstGeom prst="ellipse">
                  <a:avLst/>
                </a:prstGeom>
                <a:solidFill>
                  <a:srgbClr val="FCCE29">
                    <a:alpha val="4598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74441D56-C3D9-3D92-017B-713B2DC922C1}"/>
                </a:ext>
              </a:extLst>
            </p:cNvPr>
            <p:cNvSpPr/>
            <p:nvPr/>
          </p:nvSpPr>
          <p:spPr>
            <a:xfrm>
              <a:off x="9583353" y="4133245"/>
              <a:ext cx="341613" cy="330033"/>
            </a:xfrm>
            <a:prstGeom prst="ellipse">
              <a:avLst/>
            </a:prstGeom>
            <a:gradFill>
              <a:gsLst>
                <a:gs pos="84000">
                  <a:srgbClr val="D4D0D2"/>
                </a:gs>
                <a:gs pos="17000">
                  <a:srgbClr val="FFFFFF"/>
                </a:gs>
                <a:gs pos="39000">
                  <a:srgbClr val="FAF0FA"/>
                </a:gs>
              </a:gsLst>
              <a:path path="circle">
                <a:fillToRect l="50000" t="50000" r="50000" b="50000"/>
              </a:path>
            </a:gra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GB" sz="1200" dirty="0">
                <a:solidFill>
                  <a:schemeClr val="bg1">
                    <a:lumMod val="50000"/>
                  </a:schemeClr>
                </a:solidFill>
                <a:latin typeface="Calibri" panose="020F0502020204030204"/>
              </a:endParaRPr>
            </a:p>
          </p:txBody>
        </p:sp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BC6CEE0F-76D1-4FF2-6A01-2E2B9F141709}"/>
              </a:ext>
            </a:extLst>
          </p:cNvPr>
          <p:cNvSpPr txBox="1"/>
          <p:nvPr/>
        </p:nvSpPr>
        <p:spPr>
          <a:xfrm>
            <a:off x="9232852" y="2976802"/>
            <a:ext cx="439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NS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CE89211-19E0-E216-CE2B-A6F6D56C30A7}"/>
              </a:ext>
            </a:extLst>
          </p:cNvPr>
          <p:cNvSpPr txBox="1"/>
          <p:nvPr/>
        </p:nvSpPr>
        <p:spPr>
          <a:xfrm>
            <a:off x="10692530" y="259889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BH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3D95EC64-1886-7FF1-1C0F-D6C19322B78E}"/>
              </a:ext>
            </a:extLst>
          </p:cNvPr>
          <p:cNvSpPr txBox="1"/>
          <p:nvPr/>
        </p:nvSpPr>
        <p:spPr>
          <a:xfrm>
            <a:off x="4238374" y="5214802"/>
            <a:ext cx="2586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8ACDEF"/>
                </a:solidFill>
              </a:rPr>
              <a:t>Low-M stripped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BA489F2-3DC8-60D6-3A64-A1C241F2484D}"/>
              </a:ext>
            </a:extLst>
          </p:cNvPr>
          <p:cNvSpPr txBox="1"/>
          <p:nvPr/>
        </p:nvSpPr>
        <p:spPr>
          <a:xfrm>
            <a:off x="9172063" y="5406632"/>
            <a:ext cx="20697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E3BCC9"/>
                </a:solidFill>
              </a:rPr>
              <a:t>WD binaries</a:t>
            </a:r>
          </a:p>
        </p:txBody>
      </p:sp>
      <p:sp>
        <p:nvSpPr>
          <p:cNvPr id="161" name="Right Brace 160">
            <a:extLst>
              <a:ext uri="{FF2B5EF4-FFF2-40B4-BE49-F238E27FC236}">
                <a16:creationId xmlns:a16="http://schemas.microsoft.com/office/drawing/2014/main" id="{8B1298FD-971F-7087-FCC5-4E634AD0921E}"/>
              </a:ext>
            </a:extLst>
          </p:cNvPr>
          <p:cNvSpPr/>
          <p:nvPr/>
        </p:nvSpPr>
        <p:spPr>
          <a:xfrm rot="5400000">
            <a:off x="5263487" y="3146365"/>
            <a:ext cx="369334" cy="3933754"/>
          </a:xfrm>
          <a:prstGeom prst="rightBrace">
            <a:avLst>
              <a:gd name="adj1" fmla="val 81151"/>
              <a:gd name="adj2" fmla="val 50456"/>
            </a:avLst>
          </a:prstGeom>
          <a:ln>
            <a:solidFill>
              <a:srgbClr val="8ACD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2" name="Right Brace 161">
            <a:extLst>
              <a:ext uri="{FF2B5EF4-FFF2-40B4-BE49-F238E27FC236}">
                <a16:creationId xmlns:a16="http://schemas.microsoft.com/office/drawing/2014/main" id="{56289AC7-9015-844E-35BD-03FDDE8FD340}"/>
              </a:ext>
            </a:extLst>
          </p:cNvPr>
          <p:cNvSpPr/>
          <p:nvPr/>
        </p:nvSpPr>
        <p:spPr>
          <a:xfrm rot="5400000">
            <a:off x="9283131" y="3680548"/>
            <a:ext cx="263627" cy="3250526"/>
          </a:xfrm>
          <a:prstGeom prst="rightBrace">
            <a:avLst>
              <a:gd name="adj1" fmla="val 81151"/>
              <a:gd name="adj2" fmla="val 29496"/>
            </a:avLst>
          </a:prstGeom>
          <a:ln>
            <a:solidFill>
              <a:srgbClr val="E3BC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4453F0C6-9A11-A826-FC26-56DD146CE403}"/>
              </a:ext>
            </a:extLst>
          </p:cNvPr>
          <p:cNvSpPr txBox="1"/>
          <p:nvPr/>
        </p:nvSpPr>
        <p:spPr>
          <a:xfrm>
            <a:off x="9981035" y="4077061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WD</a:t>
            </a:r>
          </a:p>
        </p:txBody>
      </p:sp>
    </p:spTree>
    <p:extLst>
      <p:ext uri="{BB962C8B-B14F-4D97-AF65-F5344CB8AC3E}">
        <p14:creationId xmlns:p14="http://schemas.microsoft.com/office/powerpoint/2010/main" val="3432608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202</Words>
  <Application>Microsoft Macintosh PowerPoint</Application>
  <PresentationFormat>Widescreen</PresentationFormat>
  <Paragraphs>87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Son, A.A.C. van (Lieke)</dc:creator>
  <cp:lastModifiedBy>Son, A.A.C. van (Lieke)</cp:lastModifiedBy>
  <cp:revision>12</cp:revision>
  <dcterms:created xsi:type="dcterms:W3CDTF">2026-05-22T14:34:41Z</dcterms:created>
  <dcterms:modified xsi:type="dcterms:W3CDTF">2026-06-13T16:26:03Z</dcterms:modified>
</cp:coreProperties>
</file>