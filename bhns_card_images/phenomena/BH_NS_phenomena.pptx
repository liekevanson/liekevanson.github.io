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67" r:id="rId5"/>
    <p:sldId id="264" r:id="rId6"/>
    <p:sldId id="261" r:id="rId7"/>
    <p:sldId id="265" r:id="rId8"/>
    <p:sldId id="266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102"/>
    <a:srgbClr val="FFFFFF"/>
    <a:srgbClr val="0094FD"/>
    <a:srgbClr val="25A8FF"/>
    <a:srgbClr val="5ABEFF"/>
    <a:srgbClr val="A9DEFF"/>
    <a:srgbClr val="FD7F03"/>
    <a:srgbClr val="FD5D02"/>
    <a:srgbClr val="FFFF83"/>
    <a:srgbClr val="FFF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9"/>
    <p:restoredTop sz="94737"/>
  </p:normalViewPr>
  <p:slideViewPr>
    <p:cSldViewPr snapToGrid="0">
      <p:cViewPr>
        <p:scale>
          <a:sx n="158" d="100"/>
          <a:sy n="158" d="100"/>
        </p:scale>
        <p:origin x="-5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15:51:12.624"/>
    </inkml:context>
    <inkml:brush xml:id="br0">
      <inkml:brushProperty name="width" value="0.1" units="cm"/>
      <inkml:brushProperty name="height" value="0.2" units="cm"/>
      <inkml:brushProperty name="color" value="#FCC04A"/>
      <inkml:brushProperty name="tip" value="rectangle"/>
      <inkml:brushProperty name="rasterOp" value="maskPen"/>
    </inkml:brush>
  </inkml:definitions>
  <inkml:trace contextRef="#ctx0" brushRef="#br0">183 1010,'-10'-21,"-1"-2,1 3,1 3,2 3,3 3,0-2,-1-3,0-2,-2-3,0 2,1 2,-1 2,2 1,-1-1,1 0,1 1,1 3,0 2,2 2,-1 0,1-2,-2-1,1-1,-1-2,0 1,1 0,-1-2,-1-2,1 0,0 1,1 2,0 3,1 1,-1-1,0-1,-1-1,0 2,2 2,0-1,0 0,-1-3,0-1,-1 0,1 0,0 3,1 0,0 1,0 0,0 1,0 0,1 1,0 1,0 0,0 0,0 0,0 0,0 0,0 0,0-1,0 0,0 0,0-1,0 2,0 1,0 0,0 0,0-1,0 1,0-2,0 3,0-2,0 0,0 0,0-1,0 3,0-1,0-2,0 3,0-2,0 0,0 1,2-2,-1 0,1 0,0 1,-1 1,0-1,1 0,0-4,0 2,0-1,0 4,-2 0,1 0,0-1,1-1,1 0,-1 0,2 0,-1-1,1-1,-1 2,1 0,-1 3,0 1,0-1,0-2,1-1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15:51:12.624"/>
    </inkml:context>
    <inkml:brush xml:id="br0">
      <inkml:brushProperty name="width" value="0.1" units="cm"/>
      <inkml:brushProperty name="height" value="0.2" units="cm"/>
      <inkml:brushProperty name="color" value="#FCC04A"/>
      <inkml:brushProperty name="tip" value="rectangle"/>
      <inkml:brushProperty name="rasterOp" value="maskPen"/>
    </inkml:brush>
  </inkml:definitions>
  <inkml:trace contextRef="#ctx0" brushRef="#br0">183 1010,'-10'-21,"-1"-2,1 3,1 3,2 3,3 3,0-2,-1-3,0-2,-2-3,0 2,1 2,-1 2,2 1,-1-1,1 0,1 1,1 3,0 2,2 2,-1 0,1-2,-2-1,1-1,-1-2,0 1,1 0,-1-2,-1-2,1 0,0 1,1 2,0 3,1 1,-1-1,0-1,-1-1,0 2,2 2,0-1,0 0,-1-3,0-1,-1 0,1 0,0 3,1 0,0 1,0 0,0 1,0 0,1 1,0 1,0 0,0 0,0 0,0 0,0 0,0 0,0-1,0 0,0 0,0-1,0 2,0 1,0 0,0 0,0-1,0 1,0-2,0 3,0-2,0 0,0 0,0-1,0 3,0-1,0-2,0 3,0-2,0 0,0 1,2-2,-1 0,1 0,0 1,-1 1,0-1,1 0,0-4,0 2,0-1,0 4,-2 0,1 0,0-1,1-1,1 0,-1 0,2 0,-1-1,1-1,-1 2,1 0,-1 3,0 1,0-1,0-2,1-1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15:51:12.624"/>
    </inkml:context>
    <inkml:brush xml:id="br0">
      <inkml:brushProperty name="width" value="0.1" units="cm"/>
      <inkml:brushProperty name="height" value="0.2" units="cm"/>
      <inkml:brushProperty name="color" value="#FCC04A"/>
      <inkml:brushProperty name="tip" value="rectangle"/>
      <inkml:brushProperty name="rasterOp" value="maskPen"/>
    </inkml:brush>
  </inkml:definitions>
  <inkml:trace contextRef="#ctx0" brushRef="#br0">183 1010,'-10'-21,"-1"-2,1 3,1 3,2 3,3 3,0-2,-1-3,0-2,-2-3,0 2,1 2,-1 2,2 1,-1-1,1 0,1 1,1 3,0 2,2 2,-1 0,1-2,-2-1,1-1,-1-2,0 1,1 0,-1-2,-1-2,1 0,0 1,1 2,0 3,1 1,-1-1,0-1,-1-1,0 2,2 2,0-1,0 0,-1-3,0-1,-1 0,1 0,0 3,1 0,0 1,0 0,0 1,0 0,1 1,0 1,0 0,0 0,0 0,0 0,0 0,0 0,0-1,0 0,0 0,0-1,0 2,0 1,0 0,0 0,0-1,0 1,0-2,0 3,0-2,0 0,0 0,0-1,0 3,0-1,0-2,0 3,0-2,0 0,0 1,2-2,-1 0,1 0,0 1,-1 1,0-1,1 0,0-4,0 2,0-1,0 4,-2 0,1 0,0-1,1-1,1 0,-1 0,2 0,-1-1,1-1,-1 2,1 0,-1 3,0 1,0-1,0-2,1-1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D2E81-2FF3-7645-81CE-9F2ADE8F5859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D4579-26E6-EF4B-A34D-ECA46A79518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82168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D4579-26E6-EF4B-A34D-ECA46A79518F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6627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9F6F-34B1-0D21-5C5A-131266AF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A28B3-45BD-BC17-BE9F-D7BDE11A9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EA506-EF22-F8BF-B949-1DA97E5CA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27424-C8C3-53D4-6A12-01797B323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D4579-26E6-EF4B-A34D-ECA46A79518F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0433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2382-464B-0D2C-161C-D0650F47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2C9EF-8354-A59A-FF53-C343F2BC5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B86CF-E0A9-5129-269A-E1D874C6D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B5443-BAB4-127B-1FCA-D9BE0DB76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D4579-26E6-EF4B-A34D-ECA46A79518F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883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D707-A280-067E-ACC6-34D169C9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F35F6-EB50-CC86-86A1-91DC79E1F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33348-7D52-4EE8-347E-03C410B4D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C0E3D-D767-F382-8E0E-4DF98AB26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D4579-26E6-EF4B-A34D-ECA46A79518F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6839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ED58-393D-CC3E-7394-500EF22F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B2CC9-D2A0-2A40-312D-C554A80E2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5CDCB-5E3B-B019-698C-E5D8BD06F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30487-1983-C272-F151-4D4A57622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D4579-26E6-EF4B-A34D-ECA46A79518F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7714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2B53-1FBA-0CB1-D610-6571A2F5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39319-DD91-762A-721B-E36D25FE9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D5416-1BF3-902C-9971-929FA54E6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B9D66-CCB2-9E63-8CEC-9479DE527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D4579-26E6-EF4B-A34D-ECA46A79518F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277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3D1D0-F745-5EAF-5E1A-F2B6F870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BDAF6-8A86-B474-C395-97DA0C651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06D8B-1D0E-A086-2F3E-D81BAEF73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7DF18-F9BE-15BB-8D81-3B561F297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D4579-26E6-EF4B-A34D-ECA46A79518F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21074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5010-8337-276D-D1B4-63B28302D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592C9-BFED-DFAB-A82F-1CD6FD0BC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57773-F63D-526C-B7FF-7BF2B643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4BF21-67AC-627B-F5CD-50A9668B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47881-7AFE-08F2-B598-4A187F8D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951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4E58-8B17-293F-1238-6DF5A2D6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ACB7-3846-12AD-51F7-7A770DDC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DBE7-D64C-C424-E258-596817B6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D9240-FD9F-49C7-DDDB-C79EFC16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7A0C-7EB7-55B3-E535-1A240CED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184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3026-05D8-A50C-52BE-918F033E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E88B7-7CEE-8423-8A54-D28DC9B8F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4DB8-8475-B043-9CAF-D3E33EC0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EE023-F788-0F65-6FEA-27746446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D6843-ED6D-6C54-7C98-6912ED20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9182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487C-D3CD-6DD1-1502-798F28C9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4427-02F5-C8B6-BD17-8D0A268C7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0D866-7091-4A26-AE93-929BD7925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50513-3989-1FCA-BFE0-DC032105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8F3B-7900-DB6D-A53E-FFEB5AF6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9877-3163-82F3-B13B-EF39FAF9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061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B2FB-6C79-45C8-FE87-30B427509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1F2E2-F2DC-2874-9A45-D6686E02A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02F8B-B950-32AD-B2E2-B62245986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FBCE1-9861-D2D2-9BCF-61CFC3B09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ED89B-4E11-8A60-B679-6B0C2892D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3DF40-6CBA-ED91-91C7-7032CA3B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28975-4352-BE7D-0A95-7382B29B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46A5BE-5E93-9DF7-B0E6-57F7245F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562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5D67-D8BD-7C34-D126-CB3391A9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D4BFD-74EC-B4C7-94BD-9C830DE0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6BF5A-C473-134E-3FFF-BD68D1AFB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244BF-7ED7-34D8-7916-8A24F7F6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5945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93BB1-FBCE-F8DE-E13D-DDD31BE2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A233C-4824-68BC-F283-DB83AEBE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163A3-D952-08C7-0554-536547A2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655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F75C-941C-D547-FA62-372A10CAC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F5CA-1518-B973-9ECE-C9C323FE0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7DA40-F049-9AF2-CE3A-E60B20CF2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F0D73-6588-6D81-D27D-FB6C1E7E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ED35F-6FCA-D34A-C7C0-373BB6F4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6AA5A-3032-573B-1784-9DE7C14F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409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FF7F-55EC-311F-6F1D-1FC1FF79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1FFC5-182B-A22B-9E0E-9AA0DBE8B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4D550-582D-B4AC-AEB2-BBB170432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77419-77E1-2E14-D521-C172CD18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09A88-187B-31AE-3167-366F4130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1E208-D123-BAC1-03BB-5DAEC173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731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64DA-8563-D313-E0F1-83C5B1FDE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0B671-27F3-6A20-D94B-9E6B618E1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9818-B360-DEDA-76E0-B5AB4D09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FC6B8-FB5D-CD32-991B-3CCE4538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C1A76-C4BE-4029-F725-BFEB064F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170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AF55AE-08E0-6059-2227-A8CCFF99E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B9454-DC4C-8DE5-D5BC-AD09C92D9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F5F6E-FF70-6E45-B51C-2CFB3F60D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9DEA2-8EE2-1004-9C15-B4BFFB28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09CA5-0B06-6524-02C6-384B98A4F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272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375D7-1F0D-17A7-A645-825DB574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18778-9E55-EB40-B7BC-4FD7C176D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6BBFA-6219-1E6E-D440-8C5AA662D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04612-83DF-984F-B51C-C4D0AB0D78C6}" type="datetimeFigureOut">
              <a:rPr lang="en-NL" smtClean="0"/>
              <a:t>13/06/2026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2A988-00C6-8744-CE5A-817770A6B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DEEB7-5AA1-E0EA-CC6F-B59B09A76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C9D50-1CAD-C546-8C2B-9B57070AF4B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497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B8A066-6A74-9AFB-B067-6403AF035766}"/>
              </a:ext>
            </a:extLst>
          </p:cNvPr>
          <p:cNvSpPr txBox="1"/>
          <p:nvPr/>
        </p:nvSpPr>
        <p:spPr>
          <a:xfrm>
            <a:off x="474031" y="329960"/>
            <a:ext cx="4752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AABC41"/>
                </a:solidFill>
              </a:rPr>
              <a:t>A: Progenitors and precursors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79BD0-3F93-864F-4AA2-D38BC7C2232B}"/>
              </a:ext>
            </a:extLst>
          </p:cNvPr>
          <p:cNvSpPr txBox="1"/>
          <p:nvPr/>
        </p:nvSpPr>
        <p:spPr>
          <a:xfrm>
            <a:off x="611015" y="1411917"/>
            <a:ext cx="188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23221E"/>
                </a:solidFill>
              </a:rPr>
              <a:t>Massive OB stars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65D66-A410-56D6-1A07-66A6AB93F1A8}"/>
              </a:ext>
            </a:extLst>
          </p:cNvPr>
          <p:cNvSpPr txBox="1"/>
          <p:nvPr/>
        </p:nvSpPr>
        <p:spPr>
          <a:xfrm>
            <a:off x="6512305" y="3454983"/>
            <a:ext cx="225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EDA45C"/>
                </a:solidFill>
              </a:rPr>
              <a:t>Luminous Red novae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C94EF1-7D40-59DB-D3B6-3ABF59F84FB0}"/>
              </a:ext>
            </a:extLst>
          </p:cNvPr>
          <p:cNvSpPr txBox="1"/>
          <p:nvPr/>
        </p:nvSpPr>
        <p:spPr>
          <a:xfrm>
            <a:off x="3857527" y="5626273"/>
            <a:ext cx="1357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82C9ED"/>
                </a:solidFill>
              </a:rPr>
              <a:t>EL CVn-like </a:t>
            </a:r>
          </a:p>
          <a:p>
            <a:r>
              <a:rPr lang="en-NL" dirty="0">
                <a:solidFill>
                  <a:srgbClr val="82C9ED"/>
                </a:solidFill>
              </a:rPr>
              <a:t>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EEFC4-9B67-9C7B-D88D-FBA63BBE99DD}"/>
              </a:ext>
            </a:extLst>
          </p:cNvPr>
          <p:cNvSpPr txBox="1"/>
          <p:nvPr/>
        </p:nvSpPr>
        <p:spPr>
          <a:xfrm>
            <a:off x="5156269" y="5813969"/>
            <a:ext cx="1659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5DB6ED"/>
                </a:solidFill>
              </a:rPr>
              <a:t>Hot Subdwarfs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2ABB7D-5D8D-E03D-E4F6-8F15F4B22970}"/>
              </a:ext>
            </a:extLst>
          </p:cNvPr>
          <p:cNvSpPr txBox="1"/>
          <p:nvPr/>
        </p:nvSpPr>
        <p:spPr>
          <a:xfrm>
            <a:off x="5864810" y="6158708"/>
            <a:ext cx="117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64A4E9"/>
                </a:solidFill>
              </a:rPr>
              <a:t>He Giants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CF8FC0-4FC8-D623-DED5-F00504A0EBCF}"/>
              </a:ext>
            </a:extLst>
          </p:cNvPr>
          <p:cNvSpPr txBox="1"/>
          <p:nvPr/>
        </p:nvSpPr>
        <p:spPr>
          <a:xfrm>
            <a:off x="966046" y="5942292"/>
            <a:ext cx="1179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7D7AE5"/>
                </a:solidFill>
              </a:rPr>
              <a:t>Post-AGB </a:t>
            </a:r>
          </a:p>
          <a:p>
            <a:r>
              <a:rPr lang="en-NL" dirty="0">
                <a:solidFill>
                  <a:srgbClr val="7D7AE5"/>
                </a:solidFill>
              </a:rPr>
              <a:t>binaries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978050-E8DE-7E88-BA55-ED541D8D4606}"/>
              </a:ext>
            </a:extLst>
          </p:cNvPr>
          <p:cNvSpPr txBox="1"/>
          <p:nvPr/>
        </p:nvSpPr>
        <p:spPr>
          <a:xfrm>
            <a:off x="3916737" y="1144992"/>
            <a:ext cx="1555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070C0"/>
                </a:solidFill>
              </a:rPr>
              <a:t>stripped stars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EAF629B-86F0-E9C2-FF18-A723B1551AFE}"/>
              </a:ext>
            </a:extLst>
          </p:cNvPr>
          <p:cNvGrpSpPr/>
          <p:nvPr/>
        </p:nvGrpSpPr>
        <p:grpSpPr>
          <a:xfrm rot="2305534">
            <a:off x="2823433" y="4130022"/>
            <a:ext cx="677611" cy="1249417"/>
            <a:chOff x="2272072" y="2994265"/>
            <a:chExt cx="677611" cy="124941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E3249AB-1B2A-BCAD-12F7-565726B8C3CA}"/>
                    </a:ext>
                  </a:extLst>
                </p14:cNvPr>
                <p14:cNvContentPartPr/>
                <p14:nvPr/>
              </p14:nvContentPartPr>
              <p14:xfrm>
                <a:off x="2574630" y="3153072"/>
                <a:ext cx="66240" cy="363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E3249AB-1B2A-BCAD-12F7-565726B8C3C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56990" y="3117432"/>
                  <a:ext cx="101880" cy="4352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A446D0E-991F-113B-1AA7-782B3F18F257}"/>
                </a:ext>
              </a:extLst>
            </p:cNvPr>
            <p:cNvGrpSpPr/>
            <p:nvPr/>
          </p:nvGrpSpPr>
          <p:grpSpPr>
            <a:xfrm rot="5400000">
              <a:off x="1986169" y="3280168"/>
              <a:ext cx="1249417" cy="677611"/>
              <a:chOff x="1219177" y="3119420"/>
              <a:chExt cx="1321181" cy="716531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5C4EBD1-17F7-37FA-E454-663902FA7217}"/>
                  </a:ext>
                </a:extLst>
              </p:cNvPr>
              <p:cNvSpPr/>
              <p:nvPr/>
            </p:nvSpPr>
            <p:spPr>
              <a:xfrm>
                <a:off x="1219177" y="3334586"/>
                <a:ext cx="251498" cy="234841"/>
              </a:xfrm>
              <a:prstGeom prst="ellipse">
                <a:avLst/>
              </a:prstGeom>
              <a:gradFill>
                <a:gsLst>
                  <a:gs pos="88000">
                    <a:srgbClr val="608DBC">
                      <a:lumMod val="100000"/>
                    </a:srgbClr>
                  </a:gs>
                  <a:gs pos="55000">
                    <a:srgbClr val="83B7E8">
                      <a:lumMod val="96000"/>
                    </a:srgbClr>
                  </a:gs>
                  <a:gs pos="18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82" name="Teardrop 81">
                <a:extLst>
                  <a:ext uri="{FF2B5EF4-FFF2-40B4-BE49-F238E27FC236}">
                    <a16:creationId xmlns:a16="http://schemas.microsoft.com/office/drawing/2014/main" id="{31186B95-FDC1-A36E-96E6-4A0CBA6257E9}"/>
                  </a:ext>
                </a:extLst>
              </p:cNvPr>
              <p:cNvSpPr/>
              <p:nvPr/>
            </p:nvSpPr>
            <p:spPr>
              <a:xfrm rot="13502577">
                <a:off x="1823827" y="3119420"/>
                <a:ext cx="716531" cy="716531"/>
              </a:xfrm>
              <a:prstGeom prst="teardrop">
                <a:avLst/>
              </a:prstGeom>
              <a:gradFill>
                <a:gsLst>
                  <a:gs pos="85000">
                    <a:srgbClr val="F5941B"/>
                  </a:gs>
                  <a:gs pos="57000">
                    <a:srgbClr val="FFC000"/>
                  </a:gs>
                  <a:gs pos="4000">
                    <a:srgbClr val="FCF8D9"/>
                  </a:gs>
                  <a:gs pos="32000">
                    <a:srgbClr val="F4F7A0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EEDD383-FFB9-5E2C-F1C9-463419DC6F6D}"/>
              </a:ext>
            </a:extLst>
          </p:cNvPr>
          <p:cNvGrpSpPr/>
          <p:nvPr/>
        </p:nvGrpSpPr>
        <p:grpSpPr>
          <a:xfrm rot="21091238">
            <a:off x="1516898" y="4225152"/>
            <a:ext cx="493605" cy="978913"/>
            <a:chOff x="1041625" y="2523278"/>
            <a:chExt cx="493605" cy="97891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6BA45D2-44E7-10F0-B047-11DBADAE4D70}"/>
                </a:ext>
              </a:extLst>
            </p:cNvPr>
            <p:cNvGrpSpPr/>
            <p:nvPr/>
          </p:nvGrpSpPr>
          <p:grpSpPr>
            <a:xfrm rot="7789791">
              <a:off x="798971" y="2765932"/>
              <a:ext cx="978913" cy="493605"/>
              <a:chOff x="3723385" y="4934297"/>
              <a:chExt cx="2139986" cy="732045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16BC3E47-47F2-B915-A841-7A1192F489F8}"/>
                  </a:ext>
                </a:extLst>
              </p:cNvPr>
              <p:cNvSpPr/>
              <p:nvPr/>
            </p:nvSpPr>
            <p:spPr>
              <a:xfrm>
                <a:off x="3723385" y="4934297"/>
                <a:ext cx="1271446" cy="732045"/>
              </a:xfrm>
              <a:prstGeom prst="ellipse">
                <a:avLst/>
              </a:prstGeom>
              <a:gradFill>
                <a:gsLst>
                  <a:gs pos="59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22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896161D-366F-35FC-B747-58DC309AF93A}"/>
                  </a:ext>
                </a:extLst>
              </p:cNvPr>
              <p:cNvSpPr/>
              <p:nvPr/>
            </p:nvSpPr>
            <p:spPr>
              <a:xfrm>
                <a:off x="4835365" y="5056978"/>
                <a:ext cx="1028006" cy="565671"/>
              </a:xfrm>
              <a:prstGeom prst="ellipse">
                <a:avLst/>
              </a:prstGeom>
              <a:gradFill>
                <a:gsLst>
                  <a:gs pos="54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25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C35ECC8-67E9-291D-17A4-1365240D470C}"/>
                </a:ext>
              </a:extLst>
            </p:cNvPr>
            <p:cNvSpPr/>
            <p:nvPr/>
          </p:nvSpPr>
          <p:spPr>
            <a:xfrm rot="2395926">
              <a:off x="1174339" y="2750145"/>
              <a:ext cx="94820" cy="575760"/>
            </a:xfrm>
            <a:prstGeom prst="ellipse">
              <a:avLst/>
            </a:prstGeom>
            <a:solidFill>
              <a:srgbClr val="E2F3FB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13E5C22-1970-D92D-D96C-A6F04B308E27}"/>
              </a:ext>
            </a:extLst>
          </p:cNvPr>
          <p:cNvGrpSpPr/>
          <p:nvPr/>
        </p:nvGrpSpPr>
        <p:grpSpPr>
          <a:xfrm>
            <a:off x="4267997" y="4234533"/>
            <a:ext cx="766016" cy="1093408"/>
            <a:chOff x="3582353" y="2575693"/>
            <a:chExt cx="766016" cy="1093408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1B25E582-0C85-040D-ABF8-5D0AC41005DF}"/>
                </a:ext>
              </a:extLst>
            </p:cNvPr>
            <p:cNvSpPr/>
            <p:nvPr/>
          </p:nvSpPr>
          <p:spPr>
            <a:xfrm rot="1472995">
              <a:off x="3702804" y="2719179"/>
              <a:ext cx="614181" cy="76047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  <a:alpha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8E56325-341B-46AA-E2A4-C0425C369B0B}"/>
                </a:ext>
              </a:extLst>
            </p:cNvPr>
            <p:cNvSpPr/>
            <p:nvPr/>
          </p:nvSpPr>
          <p:spPr>
            <a:xfrm>
              <a:off x="3582353" y="3256053"/>
              <a:ext cx="427541" cy="413048"/>
            </a:xfrm>
            <a:prstGeom prst="ellipse">
              <a:avLst/>
            </a:prstGeom>
            <a:gradFill>
              <a:gsLst>
                <a:gs pos="85000">
                  <a:srgbClr val="F5941B"/>
                </a:gs>
                <a:gs pos="74000">
                  <a:srgbClr val="FFC000"/>
                </a:gs>
                <a:gs pos="4000">
                  <a:srgbClr val="FCF8D9"/>
                </a:gs>
                <a:gs pos="41000">
                  <a:srgbClr val="F4F7A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EFCA6DF3-B99D-4607-09AE-CD5BEF73D27E}"/>
                </a:ext>
              </a:extLst>
            </p:cNvPr>
            <p:cNvGrpSpPr/>
            <p:nvPr/>
          </p:nvGrpSpPr>
          <p:grpSpPr>
            <a:xfrm>
              <a:off x="4026567" y="2575693"/>
              <a:ext cx="321802" cy="317900"/>
              <a:chOff x="4030666" y="2458275"/>
              <a:chExt cx="435368" cy="430089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29BD977D-5EFD-E683-C92C-996CD660E35E}"/>
                  </a:ext>
                </a:extLst>
              </p:cNvPr>
              <p:cNvSpPr/>
              <p:nvPr/>
            </p:nvSpPr>
            <p:spPr>
              <a:xfrm>
                <a:off x="4030666" y="2458275"/>
                <a:ext cx="435368" cy="430089"/>
              </a:xfrm>
              <a:prstGeom prst="ellipse">
                <a:avLst/>
              </a:prstGeom>
              <a:solidFill>
                <a:srgbClr val="77B0E6">
                  <a:alpha val="6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0E12CAF-4710-2776-9888-C336E7A19637}"/>
                  </a:ext>
                </a:extLst>
              </p:cNvPr>
              <p:cNvSpPr/>
              <p:nvPr/>
            </p:nvSpPr>
            <p:spPr>
              <a:xfrm>
                <a:off x="4079958" y="2506969"/>
                <a:ext cx="336786" cy="332701"/>
              </a:xfrm>
              <a:prstGeom prst="ellipse">
                <a:avLst/>
              </a:prstGeom>
              <a:gradFill>
                <a:gsLst>
                  <a:gs pos="88000">
                    <a:srgbClr val="608DBC">
                      <a:lumMod val="100000"/>
                    </a:srgbClr>
                  </a:gs>
                  <a:gs pos="55000">
                    <a:srgbClr val="83B7E8">
                      <a:lumMod val="96000"/>
                    </a:srgb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D5CBE83-242B-4579-41B1-E721C0B90B9E}"/>
              </a:ext>
            </a:extLst>
          </p:cNvPr>
          <p:cNvGrpSpPr/>
          <p:nvPr/>
        </p:nvGrpSpPr>
        <p:grpSpPr>
          <a:xfrm>
            <a:off x="3705510" y="2035908"/>
            <a:ext cx="2134947" cy="1117882"/>
            <a:chOff x="4965394" y="1891475"/>
            <a:chExt cx="2134947" cy="1117882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B68026D-4248-7C55-567A-FCDCEE9AA623}"/>
                </a:ext>
              </a:extLst>
            </p:cNvPr>
            <p:cNvSpPr txBox="1"/>
            <p:nvPr/>
          </p:nvSpPr>
          <p:spPr>
            <a:xfrm>
              <a:off x="5864810" y="2576781"/>
              <a:ext cx="12355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/>
                </a:rPr>
                <a:t>stripped star</a:t>
              </a:r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94B03C7-386D-CDD4-3D83-F1DB677DA236}"/>
                </a:ext>
              </a:extLst>
            </p:cNvPr>
            <p:cNvSpPr/>
            <p:nvPr/>
          </p:nvSpPr>
          <p:spPr>
            <a:xfrm rot="14049865" flipV="1">
              <a:off x="5483104" y="2696330"/>
              <a:ext cx="261775" cy="364279"/>
            </a:xfrm>
            <a:custGeom>
              <a:avLst/>
              <a:gdLst>
                <a:gd name="connsiteX0" fmla="*/ 0 w 209974"/>
                <a:gd name="connsiteY0" fmla="*/ 0 h 223520"/>
                <a:gd name="connsiteX1" fmla="*/ 74507 w 209974"/>
                <a:gd name="connsiteY1" fmla="*/ 162560 h 223520"/>
                <a:gd name="connsiteX2" fmla="*/ 209974 w 209974"/>
                <a:gd name="connsiteY2" fmla="*/ 22352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9974" h="223520">
                  <a:moveTo>
                    <a:pt x="0" y="0"/>
                  </a:moveTo>
                  <a:cubicBezTo>
                    <a:pt x="19755" y="62653"/>
                    <a:pt x="39511" y="125307"/>
                    <a:pt x="74507" y="162560"/>
                  </a:cubicBezTo>
                  <a:cubicBezTo>
                    <a:pt x="109503" y="199813"/>
                    <a:pt x="159738" y="211666"/>
                    <a:pt x="209974" y="223520"/>
                  </a:cubicBezTo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FDBB0F9-63F0-C828-67B1-5390A758AB3A}"/>
                </a:ext>
              </a:extLst>
            </p:cNvPr>
            <p:cNvGrpSpPr/>
            <p:nvPr/>
          </p:nvGrpSpPr>
          <p:grpSpPr>
            <a:xfrm rot="3477210">
              <a:off x="5469868" y="1387001"/>
              <a:ext cx="724134" cy="1733082"/>
              <a:chOff x="4821425" y="2078831"/>
              <a:chExt cx="724134" cy="173308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893AAAD-25C3-0DD9-A12F-01F717E45FD6}"/>
                  </a:ext>
                </a:extLst>
              </p:cNvPr>
              <p:cNvSpPr/>
              <p:nvPr/>
            </p:nvSpPr>
            <p:spPr>
              <a:xfrm>
                <a:off x="4821425" y="2315377"/>
                <a:ext cx="724134" cy="1367362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  <a:alpha val="85232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7A10FC9-139C-2B63-E096-71644D4AE3E8}"/>
                  </a:ext>
                </a:extLst>
              </p:cNvPr>
              <p:cNvSpPr/>
              <p:nvPr/>
            </p:nvSpPr>
            <p:spPr>
              <a:xfrm>
                <a:off x="5045746" y="3545760"/>
                <a:ext cx="275492" cy="266153"/>
              </a:xfrm>
              <a:prstGeom prst="ellipse">
                <a:avLst/>
              </a:prstGeom>
              <a:gradFill>
                <a:gsLst>
                  <a:gs pos="57000">
                    <a:srgbClr val="72C0F3"/>
                  </a:gs>
                  <a:gs pos="95000">
                    <a:schemeClr val="tx2">
                      <a:lumMod val="50000"/>
                      <a:lumOff val="50000"/>
                    </a:schemeClr>
                  </a:gs>
                  <a:gs pos="67000">
                    <a:srgbClr val="C4E3F6"/>
                  </a:gs>
                  <a:gs pos="44000">
                    <a:srgbClr val="C4E3F6"/>
                  </a:gs>
                  <a:gs pos="14000">
                    <a:srgbClr val="E2F3FB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 sz="1200" dirty="0">
                  <a:solidFill>
                    <a:schemeClr val="bg1">
                      <a:lumMod val="50000"/>
                    </a:schemeClr>
                  </a:solidFill>
                  <a:latin typeface="Calibri" panose="020F0502020204030204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E64A29D-57D1-44C4-ECF3-5568A1FA4D34}"/>
                  </a:ext>
                </a:extLst>
              </p:cNvPr>
              <p:cNvSpPr/>
              <p:nvPr/>
            </p:nvSpPr>
            <p:spPr>
              <a:xfrm>
                <a:off x="4887379" y="2078831"/>
                <a:ext cx="592225" cy="590152"/>
              </a:xfrm>
              <a:prstGeom prst="ellipse">
                <a:avLst/>
              </a:prstGeom>
              <a:gradFill>
                <a:gsLst>
                  <a:gs pos="88000">
                    <a:srgbClr val="608DBC">
                      <a:lumMod val="100000"/>
                    </a:srgbClr>
                  </a:gs>
                  <a:gs pos="55000">
                    <a:srgbClr val="83B7E8">
                      <a:lumMod val="96000"/>
                    </a:srgbClr>
                  </a:gs>
                  <a:gs pos="18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8F21720-09A7-C226-F597-0A00BFC08763}"/>
              </a:ext>
            </a:extLst>
          </p:cNvPr>
          <p:cNvGrpSpPr/>
          <p:nvPr/>
        </p:nvGrpSpPr>
        <p:grpSpPr>
          <a:xfrm>
            <a:off x="713597" y="2009464"/>
            <a:ext cx="1602953" cy="724134"/>
            <a:chOff x="713597" y="2009464"/>
            <a:chExt cx="1602953" cy="72413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C43252B-80E1-2143-8ED1-B5DC93CFD794}"/>
                </a:ext>
              </a:extLst>
            </p:cNvPr>
            <p:cNvSpPr/>
            <p:nvPr/>
          </p:nvSpPr>
          <p:spPr>
            <a:xfrm rot="5189172">
              <a:off x="1193917" y="1855623"/>
              <a:ext cx="724134" cy="1031815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  <a:alpha val="85232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0A6384C-3BA5-C7F2-ED61-C2F7BFAB07AF}"/>
                </a:ext>
              </a:extLst>
            </p:cNvPr>
            <p:cNvSpPr/>
            <p:nvPr/>
          </p:nvSpPr>
          <p:spPr>
            <a:xfrm>
              <a:off x="713597" y="2043299"/>
              <a:ext cx="646331" cy="646331"/>
            </a:xfrm>
            <a:prstGeom prst="ellipse">
              <a:avLst/>
            </a:prstGeom>
            <a:gradFill>
              <a:gsLst>
                <a:gs pos="95000">
                  <a:srgbClr val="608DBC">
                    <a:lumMod val="100000"/>
                  </a:srgbClr>
                </a:gs>
                <a:gs pos="63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3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038686-2AF9-1EFE-69E1-4222DCDB29AE}"/>
                </a:ext>
              </a:extLst>
            </p:cNvPr>
            <p:cNvSpPr/>
            <p:nvPr/>
          </p:nvSpPr>
          <p:spPr>
            <a:xfrm>
              <a:off x="1869676" y="2143027"/>
              <a:ext cx="446874" cy="446874"/>
            </a:xfrm>
            <a:prstGeom prst="ellipse">
              <a:avLst/>
            </a:prstGeom>
            <a:gradFill>
              <a:gsLst>
                <a:gs pos="95000">
                  <a:srgbClr val="608DBC">
                    <a:lumMod val="100000"/>
                  </a:srgbClr>
                </a:gs>
                <a:gs pos="63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3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D9BC94D-749F-9DBF-26B8-FF8FF916B2D5}"/>
              </a:ext>
            </a:extLst>
          </p:cNvPr>
          <p:cNvSpPr txBox="1"/>
          <p:nvPr/>
        </p:nvSpPr>
        <p:spPr>
          <a:xfrm>
            <a:off x="7655730" y="329960"/>
            <a:ext cx="4338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dirty="0">
                <a:solidFill>
                  <a:srgbClr val="0070C0"/>
                </a:solidFill>
              </a:rPr>
              <a:t>RSG/YSG/BSG </a:t>
            </a:r>
          </a:p>
          <a:p>
            <a:pPr algn="l" fontAlgn="base">
              <a:buNone/>
            </a:pPr>
            <a:r>
              <a:rPr lang="en-GB" dirty="0">
                <a:solidFill>
                  <a:srgbClr val="0070C0"/>
                </a:solidFill>
              </a:rPr>
              <a:t>supernova progenitors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973DE10-CBE3-AFBC-3567-9ABDC61261A9}"/>
              </a:ext>
            </a:extLst>
          </p:cNvPr>
          <p:cNvGrpSpPr/>
          <p:nvPr/>
        </p:nvGrpSpPr>
        <p:grpSpPr>
          <a:xfrm>
            <a:off x="7745082" y="1166680"/>
            <a:ext cx="2966383" cy="1881381"/>
            <a:chOff x="7745082" y="1166680"/>
            <a:chExt cx="2966383" cy="188138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8B6F68B-2483-A99F-0304-BFEF461BE9F8}"/>
                </a:ext>
              </a:extLst>
            </p:cNvPr>
            <p:cNvCxnSpPr/>
            <p:nvPr/>
          </p:nvCxnSpPr>
          <p:spPr>
            <a:xfrm flipV="1">
              <a:off x="8113986" y="1208690"/>
              <a:ext cx="0" cy="1596518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6A90B08-C73E-ABB5-7510-5E1683A86930}"/>
                </a:ext>
              </a:extLst>
            </p:cNvPr>
            <p:cNvCxnSpPr>
              <a:cxnSpLocks/>
            </p:cNvCxnSpPr>
            <p:nvPr/>
          </p:nvCxnSpPr>
          <p:spPr>
            <a:xfrm>
              <a:off x="8113986" y="2795101"/>
              <a:ext cx="244891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B25232D-2201-B244-5A83-CBB9687FB5CC}"/>
                </a:ext>
              </a:extLst>
            </p:cNvPr>
            <p:cNvSpPr txBox="1"/>
            <p:nvPr/>
          </p:nvSpPr>
          <p:spPr>
            <a:xfrm rot="16200000">
              <a:off x="7318042" y="1891402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luminosity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20882CC-6872-3F1B-7D5A-0C6008B8B7E8}"/>
                </a:ext>
              </a:extLst>
            </p:cNvPr>
            <p:cNvSpPr txBox="1"/>
            <p:nvPr/>
          </p:nvSpPr>
          <p:spPr>
            <a:xfrm>
              <a:off x="8703902" y="2771062"/>
              <a:ext cx="123553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NL" dirty="0"/>
                <a:t>temperature</a:t>
              </a: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DE698EC-3550-4059-16C6-32F4386AF884}"/>
                </a:ext>
              </a:extLst>
            </p:cNvPr>
            <p:cNvSpPr/>
            <p:nvPr/>
          </p:nvSpPr>
          <p:spPr>
            <a:xfrm>
              <a:off x="8308533" y="1621249"/>
              <a:ext cx="2163706" cy="1131616"/>
            </a:xfrm>
            <a:custGeom>
              <a:avLst/>
              <a:gdLst>
                <a:gd name="connsiteX0" fmla="*/ 0 w 2291255"/>
                <a:gd name="connsiteY0" fmla="*/ 0 h 1114097"/>
                <a:gd name="connsiteX1" fmla="*/ 346841 w 2291255"/>
                <a:gd name="connsiteY1" fmla="*/ 320566 h 1114097"/>
                <a:gd name="connsiteX2" fmla="*/ 1308538 w 2291255"/>
                <a:gd name="connsiteY2" fmla="*/ 583324 h 1114097"/>
                <a:gd name="connsiteX3" fmla="*/ 2291255 w 2291255"/>
                <a:gd name="connsiteY3" fmla="*/ 1114097 h 11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1255" h="1114097">
                  <a:moveTo>
                    <a:pt x="0" y="0"/>
                  </a:moveTo>
                  <a:cubicBezTo>
                    <a:pt x="64375" y="111672"/>
                    <a:pt x="128751" y="223345"/>
                    <a:pt x="346841" y="320566"/>
                  </a:cubicBezTo>
                  <a:cubicBezTo>
                    <a:pt x="564931" y="417787"/>
                    <a:pt x="984469" y="451069"/>
                    <a:pt x="1308538" y="583324"/>
                  </a:cubicBezTo>
                  <a:cubicBezTo>
                    <a:pt x="1632607" y="715579"/>
                    <a:pt x="1961931" y="914838"/>
                    <a:pt x="2291255" y="1114097"/>
                  </a:cubicBezTo>
                </a:path>
              </a:pathLst>
            </a:custGeom>
            <a:noFill/>
            <a:ln w="57150" cap="rnd">
              <a:solidFill>
                <a:schemeClr val="accent1">
                  <a:shade val="15000"/>
                  <a:alpha val="45088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291255"/>
                        <a:gd name="connsiteY0" fmla="*/ 0 h 1114097"/>
                        <a:gd name="connsiteX1" fmla="*/ 346841 w 2291255"/>
                        <a:gd name="connsiteY1" fmla="*/ 320566 h 1114097"/>
                        <a:gd name="connsiteX2" fmla="*/ 1308538 w 2291255"/>
                        <a:gd name="connsiteY2" fmla="*/ 583324 h 1114097"/>
                        <a:gd name="connsiteX3" fmla="*/ 2291255 w 2291255"/>
                        <a:gd name="connsiteY3" fmla="*/ 1114097 h 11140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91255" h="1114097" extrusionOk="0">
                          <a:moveTo>
                            <a:pt x="0" y="0"/>
                          </a:moveTo>
                          <a:cubicBezTo>
                            <a:pt x="42630" y="98259"/>
                            <a:pt x="117502" y="227567"/>
                            <a:pt x="346841" y="320566"/>
                          </a:cubicBezTo>
                          <a:cubicBezTo>
                            <a:pt x="641200" y="433843"/>
                            <a:pt x="914255" y="453302"/>
                            <a:pt x="1308538" y="583324"/>
                          </a:cubicBezTo>
                          <a:cubicBezTo>
                            <a:pt x="1620233" y="727663"/>
                            <a:pt x="1959004" y="931016"/>
                            <a:pt x="2291255" y="111409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C7DB86-3252-4AA9-50BA-0C67DF987E14}"/>
                </a:ext>
              </a:extLst>
            </p:cNvPr>
            <p:cNvSpPr txBox="1"/>
            <p:nvPr/>
          </p:nvSpPr>
          <p:spPr>
            <a:xfrm>
              <a:off x="8181583" y="1973263"/>
              <a:ext cx="86754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/>
                <a:t>m</a:t>
              </a:r>
              <a:r>
                <a:rPr lang="en-NL" sz="800" dirty="0"/>
                <a:t>ain sequence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AFCA4C7-3257-BFF6-5696-E3EDCD79C57D}"/>
                </a:ext>
              </a:extLst>
            </p:cNvPr>
            <p:cNvSpPr txBox="1"/>
            <p:nvPr/>
          </p:nvSpPr>
          <p:spPr>
            <a:xfrm>
              <a:off x="8495465" y="1209939"/>
              <a:ext cx="6751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Blue giants</a:t>
              </a:r>
              <a:endParaRPr lang="en-NL" sz="8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FD8035E-F1DB-3DC6-DCBA-FFCBF989A77E}"/>
                </a:ext>
              </a:extLst>
            </p:cNvPr>
            <p:cNvSpPr txBox="1"/>
            <p:nvPr/>
          </p:nvSpPr>
          <p:spPr>
            <a:xfrm>
              <a:off x="9753777" y="1166680"/>
              <a:ext cx="90120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Red </a:t>
              </a:r>
              <a:r>
                <a:rPr lang="en-US" sz="800" dirty="0" err="1"/>
                <a:t>supergiants</a:t>
              </a:r>
              <a:endParaRPr lang="en-NL" sz="8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57E6721-B843-C5D2-CD20-528CF206C6AA}"/>
                </a:ext>
              </a:extLst>
            </p:cNvPr>
            <p:cNvSpPr txBox="1"/>
            <p:nvPr/>
          </p:nvSpPr>
          <p:spPr>
            <a:xfrm>
              <a:off x="9161364" y="1291256"/>
              <a:ext cx="7056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yellow </a:t>
              </a:r>
            </a:p>
            <a:p>
              <a:r>
                <a:rPr lang="en-US" sz="800" dirty="0" err="1"/>
                <a:t>supergiants</a:t>
              </a:r>
              <a:endParaRPr lang="en-NL" sz="80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F3E7A66-AE6B-305F-EF90-E3189A6F4D6B}"/>
                </a:ext>
              </a:extLst>
            </p:cNvPr>
            <p:cNvSpPr/>
            <p:nvPr/>
          </p:nvSpPr>
          <p:spPr>
            <a:xfrm>
              <a:off x="10456368" y="1407178"/>
              <a:ext cx="255097" cy="255097"/>
            </a:xfrm>
            <a:prstGeom prst="ellipse">
              <a:avLst/>
            </a:prstGeom>
            <a:gradFill>
              <a:gsLst>
                <a:gs pos="4000">
                  <a:srgbClr val="FD5D02"/>
                </a:gs>
                <a:gs pos="100000">
                  <a:srgbClr val="FF1600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174A6D4-56DC-49EE-6415-97F9DA7BED6B}"/>
                </a:ext>
              </a:extLst>
            </p:cNvPr>
            <p:cNvSpPr/>
            <p:nvPr/>
          </p:nvSpPr>
          <p:spPr>
            <a:xfrm>
              <a:off x="10275434" y="1595957"/>
              <a:ext cx="185689" cy="185689"/>
            </a:xfrm>
            <a:prstGeom prst="ellipse">
              <a:avLst/>
            </a:prstGeom>
            <a:gradFill>
              <a:gsLst>
                <a:gs pos="4000">
                  <a:srgbClr val="FF9102"/>
                </a:gs>
                <a:gs pos="99000">
                  <a:srgbClr val="FD5B03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AE1C5ED-A800-3A84-5792-D2C610E5626D}"/>
                </a:ext>
              </a:extLst>
            </p:cNvPr>
            <p:cNvSpPr/>
            <p:nvPr/>
          </p:nvSpPr>
          <p:spPr>
            <a:xfrm>
              <a:off x="10130342" y="1407683"/>
              <a:ext cx="185690" cy="185690"/>
            </a:xfrm>
            <a:prstGeom prst="ellipse">
              <a:avLst/>
            </a:prstGeom>
            <a:gradFill>
              <a:gsLst>
                <a:gs pos="4000">
                  <a:srgbClr val="FF9102"/>
                </a:gs>
                <a:gs pos="100000">
                  <a:srgbClr val="FD7F03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06F43CA-5D97-DD39-2ABF-2E9EA74D2E96}"/>
                </a:ext>
              </a:extLst>
            </p:cNvPr>
            <p:cNvSpPr/>
            <p:nvPr/>
          </p:nvSpPr>
          <p:spPr>
            <a:xfrm>
              <a:off x="9658387" y="1588923"/>
              <a:ext cx="210920" cy="210920"/>
            </a:xfrm>
            <a:prstGeom prst="ellipse">
              <a:avLst/>
            </a:prstGeom>
            <a:gradFill>
              <a:gsLst>
                <a:gs pos="4000">
                  <a:srgbClr val="FCFC05"/>
                </a:gs>
                <a:gs pos="100000">
                  <a:srgbClr val="FECE00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2CD3742-1CB6-9C3E-9FBF-CE2533FC2CF1}"/>
                </a:ext>
              </a:extLst>
            </p:cNvPr>
            <p:cNvSpPr/>
            <p:nvPr/>
          </p:nvSpPr>
          <p:spPr>
            <a:xfrm>
              <a:off x="9419585" y="1642929"/>
              <a:ext cx="185690" cy="185690"/>
            </a:xfrm>
            <a:prstGeom prst="ellipse">
              <a:avLst/>
            </a:prstGeom>
            <a:gradFill>
              <a:gsLst>
                <a:gs pos="4000">
                  <a:srgbClr val="FFFF83"/>
                </a:gs>
                <a:gs pos="100000">
                  <a:srgbClr val="FFFF12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B50392B-E98A-3B37-61F3-FFCB829A22D2}"/>
                </a:ext>
              </a:extLst>
            </p:cNvPr>
            <p:cNvSpPr/>
            <p:nvPr/>
          </p:nvSpPr>
          <p:spPr>
            <a:xfrm>
              <a:off x="10413192" y="1998610"/>
              <a:ext cx="118094" cy="118094"/>
            </a:xfrm>
            <a:prstGeom prst="ellipse">
              <a:avLst/>
            </a:prstGeom>
            <a:gradFill>
              <a:gsLst>
                <a:gs pos="4000">
                  <a:srgbClr val="FD5D02"/>
                </a:gs>
                <a:gs pos="100000">
                  <a:srgbClr val="FF1600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4E621B8-F383-E587-3A8B-1D4229AEDFB4}"/>
                </a:ext>
              </a:extLst>
            </p:cNvPr>
            <p:cNvSpPr/>
            <p:nvPr/>
          </p:nvSpPr>
          <p:spPr>
            <a:xfrm>
              <a:off x="10275434" y="1914877"/>
              <a:ext cx="118094" cy="118094"/>
            </a:xfrm>
            <a:prstGeom prst="ellipse">
              <a:avLst/>
            </a:prstGeom>
            <a:gradFill>
              <a:gsLst>
                <a:gs pos="4000">
                  <a:srgbClr val="FD5D02"/>
                </a:gs>
                <a:gs pos="100000">
                  <a:srgbClr val="FF1600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6492E2E-D2DB-28BF-A73A-23BB75625DDF}"/>
                </a:ext>
              </a:extLst>
            </p:cNvPr>
            <p:cNvSpPr/>
            <p:nvPr/>
          </p:nvSpPr>
          <p:spPr>
            <a:xfrm>
              <a:off x="10133309" y="1938804"/>
              <a:ext cx="118094" cy="118094"/>
            </a:xfrm>
            <a:prstGeom prst="ellipse">
              <a:avLst/>
            </a:prstGeom>
            <a:gradFill>
              <a:gsLst>
                <a:gs pos="4000">
                  <a:srgbClr val="FD7F03"/>
                </a:gs>
                <a:gs pos="100000">
                  <a:srgbClr val="FF1600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A29015D-2F6E-7858-7FF5-4543DADA88B8}"/>
                </a:ext>
              </a:extLst>
            </p:cNvPr>
            <p:cNvSpPr txBox="1"/>
            <p:nvPr/>
          </p:nvSpPr>
          <p:spPr>
            <a:xfrm>
              <a:off x="9969961" y="2053198"/>
              <a:ext cx="6479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Red giants</a:t>
              </a:r>
              <a:endParaRPr lang="en-NL" sz="80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D707B4B-C8AC-ABDB-7610-3A98C8A07EC6}"/>
                </a:ext>
              </a:extLst>
            </p:cNvPr>
            <p:cNvSpPr/>
            <p:nvPr/>
          </p:nvSpPr>
          <p:spPr>
            <a:xfrm>
              <a:off x="10003874" y="1876786"/>
              <a:ext cx="118094" cy="118094"/>
            </a:xfrm>
            <a:prstGeom prst="ellipse">
              <a:avLst/>
            </a:prstGeom>
            <a:gradFill>
              <a:gsLst>
                <a:gs pos="4000">
                  <a:srgbClr val="FF9102"/>
                </a:gs>
                <a:gs pos="100000">
                  <a:srgbClr val="FD5D02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AB8B5A3-19C4-5D80-3A6C-40AA12497B0F}"/>
                </a:ext>
              </a:extLst>
            </p:cNvPr>
            <p:cNvSpPr/>
            <p:nvPr/>
          </p:nvSpPr>
          <p:spPr>
            <a:xfrm>
              <a:off x="9786029" y="1828365"/>
              <a:ext cx="112731" cy="112731"/>
            </a:xfrm>
            <a:prstGeom prst="ellipse">
              <a:avLst/>
            </a:prstGeom>
            <a:gradFill>
              <a:gsLst>
                <a:gs pos="4000">
                  <a:srgbClr val="FCFC05"/>
                </a:gs>
                <a:gs pos="100000">
                  <a:srgbClr val="FECE00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3899A7F-4AD2-EE5D-CB27-EB8830490F31}"/>
                </a:ext>
              </a:extLst>
            </p:cNvPr>
            <p:cNvSpPr/>
            <p:nvPr/>
          </p:nvSpPr>
          <p:spPr>
            <a:xfrm>
              <a:off x="8789128" y="1404941"/>
              <a:ext cx="249442" cy="249442"/>
            </a:xfrm>
            <a:prstGeom prst="ellipse">
              <a:avLst/>
            </a:prstGeom>
            <a:gradFill>
              <a:gsLst>
                <a:gs pos="4000">
                  <a:srgbClr val="5ABEFF"/>
                </a:gs>
                <a:gs pos="100000">
                  <a:srgbClr val="A9DEFF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760724E-5502-ED76-947F-BB788B165D63}"/>
                </a:ext>
              </a:extLst>
            </p:cNvPr>
            <p:cNvSpPr/>
            <p:nvPr/>
          </p:nvSpPr>
          <p:spPr>
            <a:xfrm>
              <a:off x="8527676" y="1366830"/>
              <a:ext cx="215853" cy="215853"/>
            </a:xfrm>
            <a:prstGeom prst="ellipse">
              <a:avLst/>
            </a:prstGeom>
            <a:gradFill>
              <a:gsLst>
                <a:gs pos="4000">
                  <a:srgbClr val="0094FD"/>
                </a:gs>
                <a:gs pos="99000">
                  <a:srgbClr val="25A8FF"/>
                </a:gs>
              </a:gsLst>
              <a:lin ang="0" scaled="0"/>
            </a:gra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63E8C47-2583-5D54-BB4A-3FE2CAE917B1}"/>
                </a:ext>
              </a:extLst>
            </p:cNvPr>
            <p:cNvSpPr/>
            <p:nvPr/>
          </p:nvSpPr>
          <p:spPr>
            <a:xfrm>
              <a:off x="8871004" y="2568019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FD7394-54CD-8979-B07C-2EDF397B3AF4}"/>
                </a:ext>
              </a:extLst>
            </p:cNvPr>
            <p:cNvSpPr/>
            <p:nvPr/>
          </p:nvSpPr>
          <p:spPr>
            <a:xfrm>
              <a:off x="8733246" y="2484286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2A1E34D-37CF-D3B1-2EB9-CC10DC28441B}"/>
                </a:ext>
              </a:extLst>
            </p:cNvPr>
            <p:cNvSpPr/>
            <p:nvPr/>
          </p:nvSpPr>
          <p:spPr>
            <a:xfrm>
              <a:off x="8591121" y="2508213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5A9B588-A37D-914C-B20E-32B93D593F5A}"/>
                </a:ext>
              </a:extLst>
            </p:cNvPr>
            <p:cNvSpPr/>
            <p:nvPr/>
          </p:nvSpPr>
          <p:spPr>
            <a:xfrm>
              <a:off x="8858766" y="2471794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F7CE2A1-AA9D-8ECC-74D5-9A3D93F957F7}"/>
                </a:ext>
              </a:extLst>
            </p:cNvPr>
            <p:cNvSpPr/>
            <p:nvPr/>
          </p:nvSpPr>
          <p:spPr>
            <a:xfrm>
              <a:off x="8715939" y="2592994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6A55DDF-51CB-BBE8-8A6F-EE060EEFA9DB}"/>
                </a:ext>
              </a:extLst>
            </p:cNvPr>
            <p:cNvSpPr/>
            <p:nvPr/>
          </p:nvSpPr>
          <p:spPr>
            <a:xfrm>
              <a:off x="9124945" y="2491795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AB48ACE-0D6A-E996-F2A3-BC35D16BE769}"/>
                </a:ext>
              </a:extLst>
            </p:cNvPr>
            <p:cNvSpPr/>
            <p:nvPr/>
          </p:nvSpPr>
          <p:spPr>
            <a:xfrm>
              <a:off x="8963006" y="2464803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9E01BD-57FF-ED16-541B-B02E42F1C706}"/>
                </a:ext>
              </a:extLst>
            </p:cNvPr>
            <p:cNvSpPr/>
            <p:nvPr/>
          </p:nvSpPr>
          <p:spPr>
            <a:xfrm>
              <a:off x="9026069" y="2579108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07924ED-BD0C-044F-7C30-2EDC9830D871}"/>
                </a:ext>
              </a:extLst>
            </p:cNvPr>
            <p:cNvSpPr/>
            <p:nvPr/>
          </p:nvSpPr>
          <p:spPr>
            <a:xfrm>
              <a:off x="8615356" y="2388998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A153BAB-C686-B387-B188-E1829CC3EA97}"/>
                </a:ext>
              </a:extLst>
            </p:cNvPr>
            <p:cNvSpPr/>
            <p:nvPr/>
          </p:nvSpPr>
          <p:spPr>
            <a:xfrm>
              <a:off x="9062487" y="2429142"/>
              <a:ext cx="72837" cy="7283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8A2CE5F-7418-3E47-023C-826DE448F7F2}"/>
                </a:ext>
              </a:extLst>
            </p:cNvPr>
            <p:cNvSpPr txBox="1"/>
            <p:nvPr/>
          </p:nvSpPr>
          <p:spPr>
            <a:xfrm>
              <a:off x="8674187" y="2285365"/>
              <a:ext cx="7473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white dwarfs</a:t>
              </a:r>
              <a:endParaRPr lang="en-NL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0966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950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A7889-CC44-5636-538F-5400B79A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7CB46C-EA8A-7C43-F0A0-693D3E3D285A}"/>
              </a:ext>
            </a:extLst>
          </p:cNvPr>
          <p:cNvSpPr txBox="1"/>
          <p:nvPr/>
        </p:nvSpPr>
        <p:spPr>
          <a:xfrm>
            <a:off x="474031" y="329960"/>
            <a:ext cx="3662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EECB39"/>
                </a:solidFill>
              </a:rPr>
              <a:t>B, Explosive endpoints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AB8C04E-BEDA-A9DB-2EAF-01BAFC335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" y="4222209"/>
            <a:ext cx="4091626" cy="258473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72F9FEB-79C9-9727-3ED2-B10A61F1341D}"/>
              </a:ext>
            </a:extLst>
          </p:cNvPr>
          <p:cNvSpPr txBox="1"/>
          <p:nvPr/>
        </p:nvSpPr>
        <p:spPr>
          <a:xfrm>
            <a:off x="313568" y="3710656"/>
            <a:ext cx="8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Type II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0A7510A-CC7F-85C6-3646-569773F5C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288" y="3717575"/>
            <a:ext cx="4581483" cy="289418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0C734CD-F536-83C7-2C03-7C780BB60119}"/>
              </a:ext>
            </a:extLst>
          </p:cNvPr>
          <p:cNvSpPr txBox="1"/>
          <p:nvPr/>
        </p:nvSpPr>
        <p:spPr>
          <a:xfrm>
            <a:off x="7696200" y="3113314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Type Ibc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241FDA-F9B9-4581-ABA5-8BE987684981}"/>
              </a:ext>
            </a:extLst>
          </p:cNvPr>
          <p:cNvGrpSpPr/>
          <p:nvPr/>
        </p:nvGrpSpPr>
        <p:grpSpPr>
          <a:xfrm>
            <a:off x="6423663" y="-5138880"/>
            <a:ext cx="9060843" cy="5138880"/>
            <a:chOff x="1784076" y="1122601"/>
            <a:chExt cx="9060843" cy="5138880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F3231B9-8B5E-FFA4-C14C-32B8D8722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/>
              <a:alphaModFix/>
            </a:blip>
            <a:srcRect t="12000" b="12000"/>
            <a:stretch>
              <a:fillRect/>
            </a:stretch>
          </p:blipFill>
          <p:spPr>
            <a:xfrm>
              <a:off x="1784076" y="1286965"/>
              <a:ext cx="7421808" cy="4675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white box">
              <a:extLst>
                <a:ext uri="{FF2B5EF4-FFF2-40B4-BE49-F238E27FC236}">
                  <a16:creationId xmlns:a16="http://schemas.microsoft.com/office/drawing/2014/main" id="{6040232E-1BDE-B5C9-F503-4793DE707CF2}"/>
                </a:ext>
              </a:extLst>
            </p:cNvPr>
            <p:cNvSpPr/>
            <p:nvPr/>
          </p:nvSpPr>
          <p:spPr>
            <a:xfrm>
              <a:off x="2986116" y="1286965"/>
              <a:ext cx="5977359" cy="39860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4537F56-3579-DEAA-4663-45E51B53771E}"/>
                </a:ext>
              </a:extLst>
            </p:cNvPr>
            <p:cNvSpPr txBox="1"/>
            <p:nvPr/>
          </p:nvSpPr>
          <p:spPr>
            <a:xfrm>
              <a:off x="5107940" y="5799816"/>
              <a:ext cx="179869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T</a:t>
              </a:r>
              <a:r>
                <a:rPr lang="en-NL" sz="2400" dirty="0"/>
                <a:t>ime (days)</a:t>
              </a: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F17270E-E8A7-6666-1C23-804E52EADFA7}"/>
                </a:ext>
              </a:extLst>
            </p:cNvPr>
            <p:cNvSpPr/>
            <p:nvPr/>
          </p:nvSpPr>
          <p:spPr>
            <a:xfrm>
              <a:off x="2991346" y="2077509"/>
              <a:ext cx="5826900" cy="3224022"/>
            </a:xfrm>
            <a:custGeom>
              <a:avLst/>
              <a:gdLst>
                <a:gd name="connsiteX0" fmla="*/ 0 w 4499841"/>
                <a:gd name="connsiteY0" fmla="*/ 727347 h 2489761"/>
                <a:gd name="connsiteX1" fmla="*/ 330200 w 4499841"/>
                <a:gd name="connsiteY1" fmla="*/ 22497 h 2489761"/>
                <a:gd name="connsiteX2" fmla="*/ 504725 w 4499841"/>
                <a:gd name="connsiteY2" fmla="*/ 201768 h 2489761"/>
                <a:gd name="connsiteX3" fmla="*/ 740544 w 4499841"/>
                <a:gd name="connsiteY3" fmla="*/ 476088 h 2489761"/>
                <a:gd name="connsiteX4" fmla="*/ 1130367 w 4499841"/>
                <a:gd name="connsiteY4" fmla="*/ 634904 h 2489761"/>
                <a:gd name="connsiteX5" fmla="*/ 1368714 w 4499841"/>
                <a:gd name="connsiteY5" fmla="*/ 1132015 h 2489761"/>
                <a:gd name="connsiteX6" fmla="*/ 1618095 w 4499841"/>
                <a:gd name="connsiteY6" fmla="*/ 1316742 h 2489761"/>
                <a:gd name="connsiteX7" fmla="*/ 2495550 w 4499841"/>
                <a:gd name="connsiteY7" fmla="*/ 1889397 h 2489761"/>
                <a:gd name="connsiteX8" fmla="*/ 4499841 w 4499841"/>
                <a:gd name="connsiteY8" fmla="*/ 2489761 h 248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99841" h="2489761">
                  <a:moveTo>
                    <a:pt x="0" y="727347"/>
                  </a:moveTo>
                  <a:cubicBezTo>
                    <a:pt x="123039" y="418720"/>
                    <a:pt x="246079" y="110093"/>
                    <a:pt x="330200" y="22497"/>
                  </a:cubicBezTo>
                  <a:cubicBezTo>
                    <a:pt x="414321" y="-65099"/>
                    <a:pt x="436334" y="126170"/>
                    <a:pt x="504725" y="201768"/>
                  </a:cubicBezTo>
                  <a:cubicBezTo>
                    <a:pt x="573116" y="277366"/>
                    <a:pt x="636270" y="403899"/>
                    <a:pt x="740544" y="476088"/>
                  </a:cubicBezTo>
                  <a:cubicBezTo>
                    <a:pt x="844818" y="548277"/>
                    <a:pt x="1025672" y="525583"/>
                    <a:pt x="1130367" y="634904"/>
                  </a:cubicBezTo>
                  <a:cubicBezTo>
                    <a:pt x="1235062" y="744225"/>
                    <a:pt x="1287426" y="1018375"/>
                    <a:pt x="1368714" y="1132015"/>
                  </a:cubicBezTo>
                  <a:cubicBezTo>
                    <a:pt x="1450002" y="1245655"/>
                    <a:pt x="1430289" y="1190512"/>
                    <a:pt x="1618095" y="1316742"/>
                  </a:cubicBezTo>
                  <a:cubicBezTo>
                    <a:pt x="1805901" y="1442972"/>
                    <a:pt x="2015259" y="1693894"/>
                    <a:pt x="2495550" y="1889397"/>
                  </a:cubicBezTo>
                  <a:cubicBezTo>
                    <a:pt x="2975841" y="2084900"/>
                    <a:pt x="3737841" y="2287330"/>
                    <a:pt x="4499841" y="2489761"/>
                  </a:cubicBezTo>
                </a:path>
              </a:pathLst>
            </a:custGeom>
            <a:noFill/>
            <a:ln w="25400">
              <a:solidFill>
                <a:srgbClr val="0099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4D7BB0B-6381-C630-6D31-9D630624550A}"/>
                </a:ext>
              </a:extLst>
            </p:cNvPr>
            <p:cNvSpPr txBox="1"/>
            <p:nvPr/>
          </p:nvSpPr>
          <p:spPr>
            <a:xfrm>
              <a:off x="6531076" y="2581450"/>
              <a:ext cx="4313843" cy="8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1646" tIns="40823" rIns="81646" bIns="40823" anchorCtr="0" compatLnSpc="0">
              <a:spAutoFit/>
            </a:bodyPr>
            <a:lstStyle/>
            <a:p>
              <a:pPr hangingPunct="0"/>
              <a:r>
                <a:rPr lang="en-US" sz="1900" b="1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Radioactive decay</a:t>
              </a:r>
            </a:p>
            <a:p>
              <a:pPr hangingPunct="0"/>
              <a:r>
                <a:rPr lang="en-US" sz="1900" baseline="300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56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Ni + e− → </a:t>
              </a:r>
              <a:r>
                <a:rPr lang="en-US" sz="1900" baseline="300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56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Co + </a:t>
              </a:r>
              <a:r>
                <a:rPr lang="el-GR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ν + γ 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	</a:t>
              </a:r>
              <a:r>
                <a:rPr lang="el-GR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(τ1/2 = 6.1 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d) </a:t>
              </a:r>
            </a:p>
            <a:p>
              <a:pPr hangingPunct="0"/>
              <a:r>
                <a:rPr lang="en-US" sz="1900" baseline="300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56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Co + e− → </a:t>
              </a:r>
              <a:r>
                <a:rPr lang="en-US" sz="1900" baseline="300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56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Fe + </a:t>
              </a:r>
              <a:r>
                <a:rPr lang="el-GR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ν + γ 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	</a:t>
              </a:r>
              <a:r>
                <a:rPr lang="el-GR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(τ1/2 = 77 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d)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B5871C-5669-9377-F1D1-3F5D43AE71C4}"/>
                </a:ext>
              </a:extLst>
            </p:cNvPr>
            <p:cNvSpPr txBox="1"/>
            <p:nvPr/>
          </p:nvSpPr>
          <p:spPr>
            <a:xfrm>
              <a:off x="5310302" y="1743048"/>
              <a:ext cx="1947041" cy="622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1646" tIns="40823" rIns="81646" bIns="40823" anchorCtr="0" compatLnSpc="0">
              <a:spAutoFit/>
            </a:bodyPr>
            <a:lstStyle/>
            <a:p>
              <a:pPr hangingPunct="0"/>
              <a:r>
                <a:rPr lang="en-US" sz="1900" b="1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H-recombination</a:t>
              </a:r>
            </a:p>
            <a:p>
              <a:pPr hangingPunct="0"/>
              <a:r>
                <a:rPr lang="en-US" sz="1900" dirty="0" err="1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p+e</a:t>
              </a:r>
              <a:r>
                <a:rPr lang="en-US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−→H+</a:t>
              </a:r>
              <a:r>
                <a:rPr lang="el-GR" sz="1900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γ</a:t>
              </a:r>
              <a:endParaRPr lang="en-US" sz="1900" dirty="0">
                <a:solidFill>
                  <a:srgbClr val="00508F"/>
                </a:solidFill>
                <a:latin typeface="Liberation Serif" pitchFamily="18"/>
                <a:ea typeface="Luxi Sans" pitchFamily="2"/>
                <a:cs typeface="Luxi Sans" pitchFamily="2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3B9E41D-47E3-9ACC-A51A-C4AE4B2D88E5}"/>
                </a:ext>
              </a:extLst>
            </p:cNvPr>
            <p:cNvSpPr txBox="1"/>
            <p:nvPr/>
          </p:nvSpPr>
          <p:spPr>
            <a:xfrm>
              <a:off x="4650782" y="1122601"/>
              <a:ext cx="1845860" cy="352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1646" tIns="40823" rIns="81646" bIns="40823" anchorCtr="0" compatLnSpc="0">
              <a:spAutoFit/>
            </a:bodyPr>
            <a:lstStyle/>
            <a:p>
              <a:pPr hangingPunct="0"/>
              <a:r>
                <a:rPr lang="en-US" sz="1900" b="1" dirty="0">
                  <a:solidFill>
                    <a:srgbClr val="00508F"/>
                  </a:solidFill>
                  <a:latin typeface="Liberation Serif" pitchFamily="18"/>
                  <a:ea typeface="Luxi Sans" pitchFamily="2"/>
                  <a:cs typeface="Luxi Sans" pitchFamily="2"/>
                </a:rPr>
                <a:t>shock break-out</a:t>
              </a:r>
            </a:p>
          </p:txBody>
        </p:sp>
        <p:sp>
          <p:nvSpPr>
            <p:cNvPr id="48" name="Straight Connector 47">
              <a:extLst>
                <a:ext uri="{FF2B5EF4-FFF2-40B4-BE49-F238E27FC236}">
                  <a16:creationId xmlns:a16="http://schemas.microsoft.com/office/drawing/2014/main" id="{A887E302-D98B-FB1D-750B-9B3BC482CB98}"/>
                </a:ext>
              </a:extLst>
            </p:cNvPr>
            <p:cNvSpPr/>
            <p:nvPr/>
          </p:nvSpPr>
          <p:spPr>
            <a:xfrm flipH="1">
              <a:off x="3589706" y="1474862"/>
              <a:ext cx="998697" cy="611820"/>
            </a:xfrm>
            <a:prstGeom prst="line">
              <a:avLst/>
            </a:prstGeom>
            <a:noFill/>
            <a:ln w="0">
              <a:solidFill>
                <a:srgbClr val="00508F"/>
              </a:solidFill>
              <a:prstDash val="solid"/>
              <a:tailEnd type="arrow"/>
            </a:ln>
          </p:spPr>
          <p:txBody>
            <a:bodyPr wrap="none" lIns="81646" tIns="40823" rIns="81646" bIns="40823" anchor="ctr" anchorCtr="1" compatLnSpc="0"/>
            <a:lstStyle/>
            <a:p>
              <a:pPr hangingPunct="0"/>
              <a:endParaRPr lang="en-US" sz="1633">
                <a:latin typeface="Luxi Sans" pitchFamily="18"/>
                <a:ea typeface="Luxi Sans" pitchFamily="2"/>
                <a:cs typeface="Luxi Sans" pitchFamily="2"/>
              </a:endParaRPr>
            </a:p>
          </p:txBody>
        </p:sp>
        <p:sp>
          <p:nvSpPr>
            <p:cNvPr id="49" name="Straight Connector 48">
              <a:extLst>
                <a:ext uri="{FF2B5EF4-FFF2-40B4-BE49-F238E27FC236}">
                  <a16:creationId xmlns:a16="http://schemas.microsoft.com/office/drawing/2014/main" id="{259ACF05-B2A7-0C9B-E4E1-48BB4674F79C}"/>
                </a:ext>
              </a:extLst>
            </p:cNvPr>
            <p:cNvSpPr/>
            <p:nvPr/>
          </p:nvSpPr>
          <p:spPr>
            <a:xfrm flipH="1">
              <a:off x="4243020" y="2035669"/>
              <a:ext cx="1004903" cy="685829"/>
            </a:xfrm>
            <a:prstGeom prst="line">
              <a:avLst/>
            </a:prstGeom>
            <a:noFill/>
            <a:ln w="0">
              <a:solidFill>
                <a:srgbClr val="00508F"/>
              </a:solidFill>
              <a:prstDash val="solid"/>
              <a:tailEnd type="arrow"/>
            </a:ln>
          </p:spPr>
          <p:txBody>
            <a:bodyPr wrap="none" lIns="81646" tIns="40823" rIns="81646" bIns="40823" anchor="ctr" anchorCtr="1" compatLnSpc="0"/>
            <a:lstStyle/>
            <a:p>
              <a:pPr hangingPunct="0"/>
              <a:endParaRPr lang="en-US" sz="1633">
                <a:latin typeface="Luxi Sans" pitchFamily="18"/>
                <a:ea typeface="Luxi Sans" pitchFamily="2"/>
                <a:cs typeface="Luxi Sans" pitchFamily="2"/>
              </a:endParaRPr>
            </a:p>
          </p:txBody>
        </p:sp>
        <p:sp>
          <p:nvSpPr>
            <p:cNvPr id="50" name="Straight Connector 49">
              <a:extLst>
                <a:ext uri="{FF2B5EF4-FFF2-40B4-BE49-F238E27FC236}">
                  <a16:creationId xmlns:a16="http://schemas.microsoft.com/office/drawing/2014/main" id="{7E3C19D1-3BA1-702F-64D9-2625F58E093C}"/>
                </a:ext>
              </a:extLst>
            </p:cNvPr>
            <p:cNvSpPr/>
            <p:nvPr/>
          </p:nvSpPr>
          <p:spPr>
            <a:xfrm flipH="1">
              <a:off x="5182702" y="3155669"/>
              <a:ext cx="1313940" cy="493707"/>
            </a:xfrm>
            <a:prstGeom prst="line">
              <a:avLst/>
            </a:prstGeom>
            <a:noFill/>
            <a:ln w="0">
              <a:solidFill>
                <a:srgbClr val="00508F"/>
              </a:solidFill>
              <a:prstDash val="solid"/>
              <a:tailEnd type="arrow"/>
            </a:ln>
          </p:spPr>
          <p:txBody>
            <a:bodyPr wrap="none" lIns="81646" tIns="40823" rIns="81646" bIns="40823" anchor="ctr" anchorCtr="1" compatLnSpc="0"/>
            <a:lstStyle/>
            <a:p>
              <a:pPr hangingPunct="0"/>
              <a:endParaRPr lang="en-US" sz="1633">
                <a:latin typeface="Luxi Sans" pitchFamily="18"/>
                <a:ea typeface="Luxi Sans" pitchFamily="2"/>
                <a:cs typeface="Luxi Sans" pitchFamily="2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47C116B-1DFF-9809-D134-C7E84DE9B361}"/>
              </a:ext>
            </a:extLst>
          </p:cNvPr>
          <p:cNvGrpSpPr/>
          <p:nvPr/>
        </p:nvGrpSpPr>
        <p:grpSpPr>
          <a:xfrm>
            <a:off x="13138615" y="840676"/>
            <a:ext cx="8175212" cy="4974516"/>
            <a:chOff x="1349000" y="1286965"/>
            <a:chExt cx="8175212" cy="497451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57C54BF-EC8E-7516-3303-8B5024F89701}"/>
                </a:ext>
              </a:extLst>
            </p:cNvPr>
            <p:cNvGrpSpPr/>
            <p:nvPr/>
          </p:nvGrpSpPr>
          <p:grpSpPr>
            <a:xfrm>
              <a:off x="1349000" y="1286965"/>
              <a:ext cx="8175212" cy="4675572"/>
              <a:chOff x="1349000" y="1286965"/>
              <a:chExt cx="8175212" cy="4675572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DCCB844-9FE8-0749-3072-22D00004C285}"/>
                  </a:ext>
                </a:extLst>
              </p:cNvPr>
              <p:cNvGrpSpPr/>
              <p:nvPr/>
            </p:nvGrpSpPr>
            <p:grpSpPr>
              <a:xfrm>
                <a:off x="1349000" y="1286965"/>
                <a:ext cx="8175212" cy="4675572"/>
                <a:chOff x="1349000" y="1286965"/>
                <a:chExt cx="8175212" cy="4675572"/>
              </a:xfrm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1F425F6E-B721-7EC9-16E0-A8D2F977C0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lum/>
                  <a:alphaModFix/>
                </a:blip>
                <a:srcRect t="12000" b="12000"/>
                <a:stretch>
                  <a:fillRect/>
                </a:stretch>
              </p:blipFill>
              <p:spPr>
                <a:xfrm>
                  <a:off x="1349000" y="1286965"/>
                  <a:ext cx="7421808" cy="467557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8" name="white box">
                  <a:extLst>
                    <a:ext uri="{FF2B5EF4-FFF2-40B4-BE49-F238E27FC236}">
                      <a16:creationId xmlns:a16="http://schemas.microsoft.com/office/drawing/2014/main" id="{61738E4E-2C33-B755-FB8E-F7300D066202}"/>
                    </a:ext>
                  </a:extLst>
                </p:cNvPr>
                <p:cNvSpPr/>
                <p:nvPr/>
              </p:nvSpPr>
              <p:spPr>
                <a:xfrm>
                  <a:off x="2551040" y="1286965"/>
                  <a:ext cx="5977359" cy="39860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dirty="0"/>
                </a:p>
              </p:txBody>
            </p:sp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7321ED0F-6158-5C9E-88AD-9EF7055B473F}"/>
                    </a:ext>
                  </a:extLst>
                </p:cNvPr>
                <p:cNvSpPr/>
                <p:nvPr/>
              </p:nvSpPr>
              <p:spPr>
                <a:xfrm>
                  <a:off x="2556270" y="2077509"/>
                  <a:ext cx="5826900" cy="3224022"/>
                </a:xfrm>
                <a:custGeom>
                  <a:avLst/>
                  <a:gdLst>
                    <a:gd name="connsiteX0" fmla="*/ 0 w 4499841"/>
                    <a:gd name="connsiteY0" fmla="*/ 727347 h 2489761"/>
                    <a:gd name="connsiteX1" fmla="*/ 330200 w 4499841"/>
                    <a:gd name="connsiteY1" fmla="*/ 22497 h 2489761"/>
                    <a:gd name="connsiteX2" fmla="*/ 504725 w 4499841"/>
                    <a:gd name="connsiteY2" fmla="*/ 201768 h 2489761"/>
                    <a:gd name="connsiteX3" fmla="*/ 740544 w 4499841"/>
                    <a:gd name="connsiteY3" fmla="*/ 476088 h 2489761"/>
                    <a:gd name="connsiteX4" fmla="*/ 1130367 w 4499841"/>
                    <a:gd name="connsiteY4" fmla="*/ 634904 h 2489761"/>
                    <a:gd name="connsiteX5" fmla="*/ 1368714 w 4499841"/>
                    <a:gd name="connsiteY5" fmla="*/ 1132015 h 2489761"/>
                    <a:gd name="connsiteX6" fmla="*/ 1618095 w 4499841"/>
                    <a:gd name="connsiteY6" fmla="*/ 1316742 h 2489761"/>
                    <a:gd name="connsiteX7" fmla="*/ 2495550 w 4499841"/>
                    <a:gd name="connsiteY7" fmla="*/ 1889397 h 2489761"/>
                    <a:gd name="connsiteX8" fmla="*/ 4499841 w 4499841"/>
                    <a:gd name="connsiteY8" fmla="*/ 2489761 h 2489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99841" h="2489761">
                      <a:moveTo>
                        <a:pt x="0" y="727347"/>
                      </a:moveTo>
                      <a:cubicBezTo>
                        <a:pt x="123039" y="418720"/>
                        <a:pt x="246079" y="110093"/>
                        <a:pt x="330200" y="22497"/>
                      </a:cubicBezTo>
                      <a:cubicBezTo>
                        <a:pt x="414321" y="-65099"/>
                        <a:pt x="436334" y="126170"/>
                        <a:pt x="504725" y="201768"/>
                      </a:cubicBezTo>
                      <a:cubicBezTo>
                        <a:pt x="573116" y="277366"/>
                        <a:pt x="636270" y="403899"/>
                        <a:pt x="740544" y="476088"/>
                      </a:cubicBezTo>
                      <a:cubicBezTo>
                        <a:pt x="844818" y="548277"/>
                        <a:pt x="1025672" y="525583"/>
                        <a:pt x="1130367" y="634904"/>
                      </a:cubicBezTo>
                      <a:cubicBezTo>
                        <a:pt x="1235062" y="744225"/>
                        <a:pt x="1287426" y="1018375"/>
                        <a:pt x="1368714" y="1132015"/>
                      </a:cubicBezTo>
                      <a:cubicBezTo>
                        <a:pt x="1450002" y="1245655"/>
                        <a:pt x="1430289" y="1190512"/>
                        <a:pt x="1618095" y="1316742"/>
                      </a:cubicBezTo>
                      <a:cubicBezTo>
                        <a:pt x="1805901" y="1442972"/>
                        <a:pt x="2015259" y="1693894"/>
                        <a:pt x="2495550" y="1889397"/>
                      </a:cubicBezTo>
                      <a:cubicBezTo>
                        <a:pt x="2975841" y="2084900"/>
                        <a:pt x="3737841" y="2287330"/>
                        <a:pt x="4499841" y="2489761"/>
                      </a:cubicBezTo>
                    </a:path>
                  </a:pathLst>
                </a:custGeom>
                <a:noFill/>
                <a:ln w="25400">
                  <a:solidFill>
                    <a:srgbClr val="0C050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A0646A8-2C2A-4A7B-80BB-32C5C05CFB04}"/>
                    </a:ext>
                  </a:extLst>
                </p:cNvPr>
                <p:cNvSpPr txBox="1"/>
                <p:nvPr/>
              </p:nvSpPr>
              <p:spPr>
                <a:xfrm>
                  <a:off x="5210369" y="2750110"/>
                  <a:ext cx="4313843" cy="8918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81646" tIns="40823" rIns="81646" bIns="40823" anchorCtr="0" compatLnSpc="0">
                  <a:spAutoFit/>
                </a:bodyPr>
                <a:lstStyle/>
                <a:p>
                  <a:pPr hangingPunct="0"/>
                  <a:r>
                    <a:rPr lang="en-US" sz="1900" b="1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Radioactive decay</a:t>
                  </a:r>
                </a:p>
                <a:p>
                  <a:pPr hangingPunct="0"/>
                  <a:r>
                    <a:rPr lang="en-US" sz="1900" baseline="300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56</a:t>
                  </a:r>
                  <a:r>
                    <a:rPr lang="en-US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Ni + e− → </a:t>
                  </a:r>
                  <a:r>
                    <a:rPr lang="en-US" sz="1900" baseline="300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56</a:t>
                  </a:r>
                  <a:r>
                    <a:rPr lang="en-US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Co + </a:t>
                  </a:r>
                  <a:r>
                    <a:rPr lang="el-GR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ν + γ </a:t>
                  </a:r>
                  <a:r>
                    <a:rPr lang="en-US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	</a:t>
                  </a:r>
                  <a:r>
                    <a:rPr lang="el-GR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(τ1/2 = 6.1 </a:t>
                  </a:r>
                  <a:r>
                    <a:rPr lang="en-US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d) </a:t>
                  </a:r>
                </a:p>
                <a:p>
                  <a:pPr hangingPunct="0"/>
                  <a:r>
                    <a:rPr lang="en-US" sz="1900" baseline="300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56</a:t>
                  </a:r>
                  <a:r>
                    <a:rPr lang="en-US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Co + e− → </a:t>
                  </a:r>
                  <a:r>
                    <a:rPr lang="en-US" sz="1900" baseline="300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56</a:t>
                  </a:r>
                  <a:r>
                    <a:rPr lang="en-US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Fe + </a:t>
                  </a:r>
                  <a:r>
                    <a:rPr lang="el-GR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ν + γ </a:t>
                  </a:r>
                  <a:r>
                    <a:rPr lang="en-US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	</a:t>
                  </a:r>
                  <a:r>
                    <a:rPr lang="el-GR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(τ1/2 = 77 </a:t>
                  </a:r>
                  <a:r>
                    <a:rPr lang="en-US" sz="1900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d)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29A88F3-67E3-A9DC-C04D-69718145D0F5}"/>
                    </a:ext>
                  </a:extLst>
                </p:cNvPr>
                <p:cNvSpPr txBox="1"/>
                <p:nvPr/>
              </p:nvSpPr>
              <p:spPr>
                <a:xfrm>
                  <a:off x="4041389" y="1519538"/>
                  <a:ext cx="1940437" cy="352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81646" tIns="40823" rIns="81646" bIns="40823" anchorCtr="0" compatLnSpc="0">
                  <a:spAutoFit/>
                </a:bodyPr>
                <a:lstStyle/>
                <a:p>
                  <a:pPr hangingPunct="0"/>
                  <a:r>
                    <a:rPr lang="en-US" sz="1900" b="1" dirty="0">
                      <a:solidFill>
                        <a:srgbClr val="00508F"/>
                      </a:solidFill>
                      <a:latin typeface="Liberation Serif" pitchFamily="18"/>
                      <a:ea typeface="Luxi Sans" pitchFamily="2"/>
                      <a:cs typeface="Luxi Sans" pitchFamily="2"/>
                    </a:rPr>
                    <a:t>Ni-powered peak</a:t>
                  </a:r>
                </a:p>
              </p:txBody>
            </p:sp>
            <p:sp>
              <p:nv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AC049E44-DC4C-44CB-3469-783637AEA4CA}"/>
                    </a:ext>
                  </a:extLst>
                </p:cNvPr>
                <p:cNvSpPr/>
                <p:nvPr/>
              </p:nvSpPr>
              <p:spPr>
                <a:xfrm flipH="1">
                  <a:off x="3462301" y="1887376"/>
                  <a:ext cx="518028" cy="406861"/>
                </a:xfrm>
                <a:prstGeom prst="line">
                  <a:avLst/>
                </a:prstGeom>
                <a:noFill/>
                <a:ln w="0">
                  <a:solidFill>
                    <a:srgbClr val="00508F"/>
                  </a:solidFill>
                  <a:prstDash val="solid"/>
                  <a:tailEnd type="arrow"/>
                </a:ln>
              </p:spPr>
              <p:txBody>
                <a:bodyPr wrap="none" lIns="81646" tIns="40823" rIns="81646" bIns="40823" anchor="ctr" anchorCtr="1" compatLnSpc="0"/>
                <a:lstStyle/>
                <a:p>
                  <a:pPr hangingPunct="0"/>
                  <a:endParaRPr lang="en-US" sz="1633">
                    <a:latin typeface="Luxi Sans" pitchFamily="18"/>
                    <a:ea typeface="Luxi Sans" pitchFamily="2"/>
                    <a:cs typeface="Luxi Sans" pitchFamily="2"/>
                  </a:endParaRPr>
                </a:p>
              </p:txBody>
            </p:sp>
            <p:sp>
              <p:nv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E1B5FAFE-27A0-9662-9C1F-01AAFFB68C18}"/>
                    </a:ext>
                  </a:extLst>
                </p:cNvPr>
                <p:cNvSpPr/>
                <p:nvPr/>
              </p:nvSpPr>
              <p:spPr>
                <a:xfrm flipH="1">
                  <a:off x="4812847" y="3161529"/>
                  <a:ext cx="397522" cy="522317"/>
                </a:xfrm>
                <a:prstGeom prst="line">
                  <a:avLst/>
                </a:prstGeom>
                <a:noFill/>
                <a:ln w="0">
                  <a:solidFill>
                    <a:srgbClr val="00508F"/>
                  </a:solidFill>
                  <a:prstDash val="solid"/>
                  <a:tailEnd type="arrow"/>
                </a:ln>
              </p:spPr>
              <p:txBody>
                <a:bodyPr wrap="none" lIns="81646" tIns="40823" rIns="81646" bIns="40823" anchor="ctr" anchorCtr="1" compatLnSpc="0"/>
                <a:lstStyle/>
                <a:p>
                  <a:pPr hangingPunct="0"/>
                  <a:endParaRPr lang="en-US" sz="1633">
                    <a:latin typeface="Luxi Sans" pitchFamily="18"/>
                    <a:ea typeface="Luxi Sans" pitchFamily="2"/>
                    <a:cs typeface="Luxi Sans" pitchFamily="2"/>
                  </a:endParaRPr>
                </a:p>
              </p:txBody>
            </p:sp>
          </p:grp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1C76A1B-954B-BD4B-63D6-65C572C970CF}"/>
                  </a:ext>
                </a:extLst>
              </p:cNvPr>
              <p:cNvSpPr/>
              <p:nvPr/>
            </p:nvSpPr>
            <p:spPr>
              <a:xfrm>
                <a:off x="2590800" y="2385662"/>
                <a:ext cx="5737412" cy="2903514"/>
              </a:xfrm>
              <a:custGeom>
                <a:avLst/>
                <a:gdLst>
                  <a:gd name="connsiteX0" fmla="*/ 0 w 5737412"/>
                  <a:gd name="connsiteY0" fmla="*/ 599585 h 2903514"/>
                  <a:gd name="connsiteX1" fmla="*/ 313765 w 5737412"/>
                  <a:gd name="connsiteY1" fmla="*/ 178244 h 2903514"/>
                  <a:gd name="connsiteX2" fmla="*/ 528918 w 5737412"/>
                  <a:gd name="connsiteY2" fmla="*/ 25844 h 2903514"/>
                  <a:gd name="connsiteX3" fmla="*/ 797859 w 5737412"/>
                  <a:gd name="connsiteY3" fmla="*/ 52738 h 2903514"/>
                  <a:gd name="connsiteX4" fmla="*/ 1147482 w 5737412"/>
                  <a:gd name="connsiteY4" fmla="*/ 527867 h 2903514"/>
                  <a:gd name="connsiteX5" fmla="*/ 1506071 w 5737412"/>
                  <a:gd name="connsiteY5" fmla="*/ 1110573 h 2903514"/>
                  <a:gd name="connsiteX6" fmla="*/ 2339788 w 5737412"/>
                  <a:gd name="connsiteY6" fmla="*/ 1639491 h 2903514"/>
                  <a:gd name="connsiteX7" fmla="*/ 3209365 w 5737412"/>
                  <a:gd name="connsiteY7" fmla="*/ 2168409 h 2903514"/>
                  <a:gd name="connsiteX8" fmla="*/ 5737412 w 5737412"/>
                  <a:gd name="connsiteY8" fmla="*/ 2903514 h 2903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37412" h="2903514">
                    <a:moveTo>
                      <a:pt x="0" y="599585"/>
                    </a:moveTo>
                    <a:cubicBezTo>
                      <a:pt x="112806" y="436726"/>
                      <a:pt x="225612" y="273867"/>
                      <a:pt x="313765" y="178244"/>
                    </a:cubicBezTo>
                    <a:cubicBezTo>
                      <a:pt x="401918" y="82620"/>
                      <a:pt x="448236" y="46762"/>
                      <a:pt x="528918" y="25844"/>
                    </a:cubicBezTo>
                    <a:cubicBezTo>
                      <a:pt x="609600" y="4926"/>
                      <a:pt x="694765" y="-30933"/>
                      <a:pt x="797859" y="52738"/>
                    </a:cubicBezTo>
                    <a:cubicBezTo>
                      <a:pt x="900953" y="136408"/>
                      <a:pt x="1029447" y="351561"/>
                      <a:pt x="1147482" y="527867"/>
                    </a:cubicBezTo>
                    <a:cubicBezTo>
                      <a:pt x="1265517" y="704173"/>
                      <a:pt x="1307353" y="925302"/>
                      <a:pt x="1506071" y="1110573"/>
                    </a:cubicBezTo>
                    <a:cubicBezTo>
                      <a:pt x="1704789" y="1295844"/>
                      <a:pt x="2055906" y="1463185"/>
                      <a:pt x="2339788" y="1639491"/>
                    </a:cubicBezTo>
                    <a:cubicBezTo>
                      <a:pt x="2623670" y="1815797"/>
                      <a:pt x="2643094" y="1957739"/>
                      <a:pt x="3209365" y="2168409"/>
                    </a:cubicBezTo>
                    <a:cubicBezTo>
                      <a:pt x="3775636" y="2379079"/>
                      <a:pt x="4756524" y="2641296"/>
                      <a:pt x="5737412" y="2903514"/>
                    </a:cubicBezTo>
                  </a:path>
                </a:pathLst>
              </a:custGeom>
              <a:noFill/>
              <a:ln>
                <a:solidFill>
                  <a:srgbClr val="A1D4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0184D98-0061-F1E4-C363-FE284D6DB249}"/>
                </a:ext>
              </a:extLst>
            </p:cNvPr>
            <p:cNvSpPr txBox="1"/>
            <p:nvPr/>
          </p:nvSpPr>
          <p:spPr>
            <a:xfrm>
              <a:off x="4672864" y="5799816"/>
              <a:ext cx="179869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T</a:t>
              </a:r>
              <a:r>
                <a:rPr lang="en-NL" sz="2400" dirty="0"/>
                <a:t>ime (days)</a:t>
              </a:r>
            </a:p>
          </p:txBody>
        </p:sp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E18488E6-565A-0720-86D5-4CBCA6304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671" y="1376310"/>
            <a:ext cx="3631471" cy="272264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9A06F271-A063-AE7A-E47B-095872AD0943}"/>
              </a:ext>
            </a:extLst>
          </p:cNvPr>
          <p:cNvSpPr txBox="1"/>
          <p:nvPr/>
        </p:nvSpPr>
        <p:spPr>
          <a:xfrm>
            <a:off x="2044397" y="976431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SLSNe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F2F7DA-B98C-0673-D288-54371801129A}"/>
              </a:ext>
            </a:extLst>
          </p:cNvPr>
          <p:cNvSpPr txBox="1"/>
          <p:nvPr/>
        </p:nvSpPr>
        <p:spPr>
          <a:xfrm>
            <a:off x="6329990" y="246240"/>
            <a:ext cx="2033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Dissapearing stars</a:t>
            </a:r>
          </a:p>
        </p:txBody>
      </p:sp>
      <p:sp>
        <p:nvSpPr>
          <p:cNvPr id="67" name="AutoShape 2" descr="Smoke Explosion Black and White">
            <a:extLst>
              <a:ext uri="{FF2B5EF4-FFF2-40B4-BE49-F238E27FC236}">
                <a16:creationId xmlns:a16="http://schemas.microsoft.com/office/drawing/2014/main" id="{56A49D68-9B23-6CAC-A572-06F50AB45E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CA89DB1-ADC4-38F2-C0F7-378651CCE8B5}"/>
              </a:ext>
            </a:extLst>
          </p:cNvPr>
          <p:cNvGrpSpPr/>
          <p:nvPr/>
        </p:nvGrpSpPr>
        <p:grpSpPr>
          <a:xfrm>
            <a:off x="7609240" y="715201"/>
            <a:ext cx="2427735" cy="2341368"/>
            <a:chOff x="7609240" y="715201"/>
            <a:chExt cx="2427735" cy="2341368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E543372-B37B-F527-7CC7-FDA651D5EB39}"/>
                </a:ext>
              </a:extLst>
            </p:cNvPr>
            <p:cNvSpPr/>
            <p:nvPr/>
          </p:nvSpPr>
          <p:spPr>
            <a:xfrm>
              <a:off x="7609240" y="715201"/>
              <a:ext cx="2427735" cy="23413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A987A844-55A6-AC56-587F-3E3CEFAC0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34000"/>
            </a:blip>
            <a:stretch>
              <a:fillRect/>
            </a:stretch>
          </p:blipFill>
          <p:spPr>
            <a:xfrm rot="16200000">
              <a:off x="7791131" y="855269"/>
              <a:ext cx="2070279" cy="2083366"/>
            </a:xfrm>
            <a:prstGeom prst="rect">
              <a:avLst/>
            </a:prstGeom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52284D6-7C5A-45D0-A28E-F40D0D736157}"/>
                </a:ext>
              </a:extLst>
            </p:cNvPr>
            <p:cNvSpPr/>
            <p:nvPr/>
          </p:nvSpPr>
          <p:spPr>
            <a:xfrm>
              <a:off x="9755281" y="840676"/>
              <a:ext cx="184678" cy="6408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C6FFD54-71A7-8BFB-7D57-0E5E12E21FB9}"/>
                </a:ext>
              </a:extLst>
            </p:cNvPr>
            <p:cNvSpPr txBox="1"/>
            <p:nvPr/>
          </p:nvSpPr>
          <p:spPr>
            <a:xfrm>
              <a:off x="8696795" y="1242484"/>
              <a:ext cx="367408" cy="86177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NL" sz="5000" dirty="0"/>
                <a:t>.</a:t>
              </a:r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4B808E07-21C4-6F7A-E76E-656CB849A7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726551" y="-4937434"/>
            <a:ext cx="5452302" cy="48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6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81F6-9F36-16E4-42A6-21BFAD0E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500377-FC15-94E9-2156-F97BA3D6B77A}"/>
              </a:ext>
            </a:extLst>
          </p:cNvPr>
          <p:cNvSpPr txBox="1"/>
          <p:nvPr/>
        </p:nvSpPr>
        <p:spPr>
          <a:xfrm>
            <a:off x="474031" y="329960"/>
            <a:ext cx="4232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FF8734"/>
                </a:solidFill>
              </a:rPr>
              <a:t>C. Single compact objects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70668C-708F-5897-ECC5-2D8CDFB227A9}"/>
              </a:ext>
            </a:extLst>
          </p:cNvPr>
          <p:cNvSpPr txBox="1"/>
          <p:nvPr/>
        </p:nvSpPr>
        <p:spPr>
          <a:xfrm>
            <a:off x="3552295" y="1300022"/>
            <a:ext cx="1995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46B636"/>
                </a:solidFill>
              </a:rPr>
              <a:t>Spectroscop. C.O.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5812E0-9F0D-2811-781D-A3E036B3F4A4}"/>
              </a:ext>
            </a:extLst>
          </p:cNvPr>
          <p:cNvSpPr txBox="1"/>
          <p:nvPr/>
        </p:nvSpPr>
        <p:spPr>
          <a:xfrm>
            <a:off x="4560707" y="1032337"/>
            <a:ext cx="1899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79F27"/>
                </a:solidFill>
              </a:rPr>
              <a:t>Astrometric. C.O.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1C35DB-6B09-FCF8-C7D9-86BEAE305AFA}"/>
              </a:ext>
            </a:extLst>
          </p:cNvPr>
          <p:cNvGrpSpPr/>
          <p:nvPr/>
        </p:nvGrpSpPr>
        <p:grpSpPr>
          <a:xfrm>
            <a:off x="1429715" y="2096472"/>
            <a:ext cx="525369" cy="1649166"/>
            <a:chOff x="1429715" y="2096472"/>
            <a:chExt cx="525369" cy="1649166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DC31ABD5-D496-10EF-DC7F-8B85B42FFE91}"/>
                </a:ext>
              </a:extLst>
            </p:cNvPr>
            <p:cNvSpPr/>
            <p:nvPr/>
          </p:nvSpPr>
          <p:spPr>
            <a:xfrm rot="974216">
              <a:off x="1429715" y="2818374"/>
              <a:ext cx="213363" cy="206131"/>
            </a:xfrm>
            <a:prstGeom prst="ellipse">
              <a:avLst/>
            </a:prstGeom>
            <a:gradFill>
              <a:gsLst>
                <a:gs pos="91000">
                  <a:srgbClr val="AFDED0"/>
                </a:gs>
                <a:gs pos="70000">
                  <a:srgbClr val="92D050"/>
                </a:gs>
                <a:gs pos="21000">
                  <a:srgbClr val="C3E3B3"/>
                </a:gs>
                <a:gs pos="7000">
                  <a:srgbClr val="D8EBDE"/>
                </a:gs>
              </a:gsLst>
              <a:path path="circle">
                <a:fillToRect l="50000" t="50000" r="50000" b="50000"/>
              </a:path>
            </a:gradFill>
            <a:ln w="254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09F5FA9-CEC7-9A35-295E-6DC3EA96CE3A}"/>
                </a:ext>
              </a:extLst>
            </p:cNvPr>
            <p:cNvSpPr txBox="1"/>
            <p:nvPr/>
          </p:nvSpPr>
          <p:spPr>
            <a:xfrm>
              <a:off x="1515540" y="3006238"/>
              <a:ext cx="439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/>
                </a:rPr>
                <a:t>NS</a:t>
              </a:r>
            </a:p>
          </p:txBody>
        </p:sp>
        <p:sp>
          <p:nvSpPr>
            <p:cNvPr id="57" name="Triangle 56">
              <a:extLst>
                <a:ext uri="{FF2B5EF4-FFF2-40B4-BE49-F238E27FC236}">
                  <a16:creationId xmlns:a16="http://schemas.microsoft.com/office/drawing/2014/main" id="{FA095394-CD66-E30B-DD7D-CE76D3BBC6AE}"/>
                </a:ext>
              </a:extLst>
            </p:cNvPr>
            <p:cNvSpPr/>
            <p:nvPr/>
          </p:nvSpPr>
          <p:spPr>
            <a:xfrm rot="10800000">
              <a:off x="1487319" y="2096472"/>
              <a:ext cx="83363" cy="731455"/>
            </a:xfrm>
            <a:prstGeom prst="triangle">
              <a:avLst/>
            </a:prstGeom>
            <a:solidFill>
              <a:srgbClr val="FF9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8" name="Triangle 57">
              <a:extLst>
                <a:ext uri="{FF2B5EF4-FFF2-40B4-BE49-F238E27FC236}">
                  <a16:creationId xmlns:a16="http://schemas.microsoft.com/office/drawing/2014/main" id="{73B383BB-3FCC-562D-3F5A-9DF3E96573DB}"/>
                </a:ext>
              </a:extLst>
            </p:cNvPr>
            <p:cNvSpPr/>
            <p:nvPr/>
          </p:nvSpPr>
          <p:spPr>
            <a:xfrm rot="10800000" flipH="1" flipV="1">
              <a:off x="1494715" y="3014183"/>
              <a:ext cx="83363" cy="731455"/>
            </a:xfrm>
            <a:prstGeom prst="triangle">
              <a:avLst/>
            </a:prstGeom>
            <a:solidFill>
              <a:srgbClr val="FF9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9673C24-1598-0E10-BE33-42D714726179}"/>
              </a:ext>
            </a:extLst>
          </p:cNvPr>
          <p:cNvGrpSpPr/>
          <p:nvPr/>
        </p:nvGrpSpPr>
        <p:grpSpPr>
          <a:xfrm>
            <a:off x="4036868" y="2671196"/>
            <a:ext cx="1633174" cy="549986"/>
            <a:chOff x="4036868" y="2671196"/>
            <a:chExt cx="1633174" cy="54998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2E00B7DF-55AD-4102-3FF1-C8E96BE3A67E}"/>
                </a:ext>
              </a:extLst>
            </p:cNvPr>
            <p:cNvSpPr/>
            <p:nvPr/>
          </p:nvSpPr>
          <p:spPr>
            <a:xfrm rot="4536077">
              <a:off x="4706145" y="2764755"/>
              <a:ext cx="273262" cy="271964"/>
            </a:xfrm>
            <a:prstGeom prst="ellipse">
              <a:avLst/>
            </a:prstGeom>
            <a:solidFill>
              <a:schemeClr val="tx1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237316A-BE68-ACA1-3744-E163F468DA67}"/>
                </a:ext>
              </a:extLst>
            </p:cNvPr>
            <p:cNvSpPr txBox="1"/>
            <p:nvPr/>
          </p:nvSpPr>
          <p:spPr>
            <a:xfrm>
              <a:off x="5004980" y="2671196"/>
              <a:ext cx="665062" cy="541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/>
                </a:rPr>
                <a:t>BH</a:t>
              </a: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44A8233-1C9E-3D22-B332-C828B87B1587}"/>
                </a:ext>
              </a:extLst>
            </p:cNvPr>
            <p:cNvSpPr/>
            <p:nvPr/>
          </p:nvSpPr>
          <p:spPr>
            <a:xfrm>
              <a:off x="4036868" y="2893868"/>
              <a:ext cx="618259" cy="327314"/>
            </a:xfrm>
            <a:custGeom>
              <a:avLst/>
              <a:gdLst>
                <a:gd name="connsiteX0" fmla="*/ 618259 w 618259"/>
                <a:gd name="connsiteY0" fmla="*/ 0 h 327314"/>
                <a:gd name="connsiteX1" fmla="*/ 322118 w 618259"/>
                <a:gd name="connsiteY1" fmla="*/ 62346 h 327314"/>
                <a:gd name="connsiteX2" fmla="*/ 0 w 618259"/>
                <a:gd name="connsiteY2" fmla="*/ 327314 h 3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8259" h="327314">
                  <a:moveTo>
                    <a:pt x="618259" y="0"/>
                  </a:moveTo>
                  <a:cubicBezTo>
                    <a:pt x="521710" y="3897"/>
                    <a:pt x="425161" y="7794"/>
                    <a:pt x="322118" y="62346"/>
                  </a:cubicBezTo>
                  <a:cubicBezTo>
                    <a:pt x="219075" y="116898"/>
                    <a:pt x="109537" y="222106"/>
                    <a:pt x="0" y="327314"/>
                  </a:cubicBezTo>
                </a:path>
              </a:pathLst>
            </a:custGeom>
            <a:noFill/>
            <a:ln>
              <a:prstDash val="dash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2146669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D4A3-3D29-8239-27BD-DA5772CF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EEEE893-6F91-044A-957F-D173F4EA84A1}"/>
              </a:ext>
            </a:extLst>
          </p:cNvPr>
          <p:cNvSpPr txBox="1"/>
          <p:nvPr/>
        </p:nvSpPr>
        <p:spPr>
          <a:xfrm>
            <a:off x="3351786" y="5045453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DDB7C7"/>
                </a:solidFill>
              </a:rPr>
              <a:t>WD + 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BA527B-D26D-C091-9839-71155F117BFB}"/>
              </a:ext>
            </a:extLst>
          </p:cNvPr>
          <p:cNvSpPr txBox="1"/>
          <p:nvPr/>
        </p:nvSpPr>
        <p:spPr>
          <a:xfrm>
            <a:off x="7852286" y="2842321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DE255"/>
                </a:solidFill>
              </a:rPr>
              <a:t>P</a:t>
            </a:r>
            <a:r>
              <a:rPr lang="en-NL" dirty="0">
                <a:solidFill>
                  <a:srgbClr val="BDE255"/>
                </a:solidFill>
              </a:rPr>
              <a:t>ulsar </a:t>
            </a:r>
          </a:p>
          <a:p>
            <a:r>
              <a:rPr lang="en-NL" dirty="0">
                <a:solidFill>
                  <a:srgbClr val="BDE255"/>
                </a:solidFill>
              </a:rPr>
              <a:t>binaries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C3BC35-8608-0EAD-0C4E-437F56EE9FB1}"/>
              </a:ext>
            </a:extLst>
          </p:cNvPr>
          <p:cNvSpPr txBox="1"/>
          <p:nvPr/>
        </p:nvSpPr>
        <p:spPr>
          <a:xfrm>
            <a:off x="8062832" y="2126270"/>
            <a:ext cx="1530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81CB45"/>
                </a:solidFill>
              </a:rPr>
              <a:t>H</a:t>
            </a:r>
            <a:r>
              <a:rPr lang="en-NL" dirty="0">
                <a:solidFill>
                  <a:srgbClr val="81CB45"/>
                </a:solidFill>
              </a:rPr>
              <a:t>igh-M </a:t>
            </a:r>
          </a:p>
          <a:p>
            <a:r>
              <a:rPr lang="en-NL" dirty="0">
                <a:solidFill>
                  <a:srgbClr val="81CB45"/>
                </a:solidFill>
              </a:rPr>
              <a:t>X-ray binaries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6651F2-21B1-9F2F-A6CA-146D74634E99}"/>
              </a:ext>
            </a:extLst>
          </p:cNvPr>
          <p:cNvSpPr txBox="1"/>
          <p:nvPr/>
        </p:nvSpPr>
        <p:spPr>
          <a:xfrm>
            <a:off x="3552295" y="1300022"/>
            <a:ext cx="1995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46B636"/>
                </a:solidFill>
              </a:rPr>
              <a:t>Spectroscop. C.O.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517A6-FC82-0A4A-4B89-87CB01A94ED6}"/>
              </a:ext>
            </a:extLst>
          </p:cNvPr>
          <p:cNvSpPr txBox="1"/>
          <p:nvPr/>
        </p:nvSpPr>
        <p:spPr>
          <a:xfrm>
            <a:off x="4560707" y="1032337"/>
            <a:ext cx="1899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79F27"/>
                </a:solidFill>
              </a:rPr>
              <a:t>Astrometric. C.O.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DD81882-D5AE-92C2-ED54-040F818A1F20}"/>
              </a:ext>
            </a:extLst>
          </p:cNvPr>
          <p:cNvGrpSpPr/>
          <p:nvPr/>
        </p:nvGrpSpPr>
        <p:grpSpPr>
          <a:xfrm>
            <a:off x="2739014" y="4120935"/>
            <a:ext cx="1046992" cy="1022822"/>
            <a:chOff x="9583353" y="3466585"/>
            <a:chExt cx="1046992" cy="1022822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6B21FBF-ED35-821F-E2E2-7DBA6545105D}"/>
                </a:ext>
              </a:extLst>
            </p:cNvPr>
            <p:cNvGrpSpPr/>
            <p:nvPr/>
          </p:nvGrpSpPr>
          <p:grpSpPr>
            <a:xfrm rot="6210821">
              <a:off x="9719420" y="3578481"/>
              <a:ext cx="1022822" cy="799029"/>
              <a:chOff x="10157605" y="1545234"/>
              <a:chExt cx="1022822" cy="799029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A19B3649-38D4-BC84-F8FD-A3509C729C70}"/>
                  </a:ext>
                </a:extLst>
              </p:cNvPr>
              <p:cNvSpPr/>
              <p:nvPr/>
            </p:nvSpPr>
            <p:spPr>
              <a:xfrm rot="18472838">
                <a:off x="10317842" y="1481679"/>
                <a:ext cx="702347" cy="1022822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  <a:alpha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9F45E5EF-4745-F9A8-4019-803AF59F44BE}"/>
                  </a:ext>
                </a:extLst>
              </p:cNvPr>
              <p:cNvGrpSpPr/>
              <p:nvPr/>
            </p:nvGrpSpPr>
            <p:grpSpPr>
              <a:xfrm>
                <a:off x="10174273" y="1545234"/>
                <a:ext cx="228203" cy="225436"/>
                <a:chOff x="4255383" y="2706764"/>
                <a:chExt cx="435368" cy="430089"/>
              </a:xfrm>
            </p:grpSpPr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F4C339BE-B66E-CD6D-0DF2-2BECD28CFEE3}"/>
                    </a:ext>
                  </a:extLst>
                </p:cNvPr>
                <p:cNvSpPr/>
                <p:nvPr/>
              </p:nvSpPr>
              <p:spPr>
                <a:xfrm>
                  <a:off x="4304674" y="2755458"/>
                  <a:ext cx="336785" cy="332703"/>
                </a:xfrm>
                <a:prstGeom prst="ellipse">
                  <a:avLst/>
                </a:prstGeom>
                <a:solidFill>
                  <a:srgbClr val="FCCE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FAC945AB-AB78-D8BA-02E2-C30C42EEECF5}"/>
                    </a:ext>
                  </a:extLst>
                </p:cNvPr>
                <p:cNvSpPr/>
                <p:nvPr/>
              </p:nvSpPr>
              <p:spPr>
                <a:xfrm>
                  <a:off x="4255383" y="2706764"/>
                  <a:ext cx="435368" cy="430089"/>
                </a:xfrm>
                <a:prstGeom prst="ellipse">
                  <a:avLst/>
                </a:prstGeom>
                <a:solidFill>
                  <a:srgbClr val="FCCE29">
                    <a:alpha val="45982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D20AD59-0B21-D247-8255-7D06BF5D0FDB}"/>
                </a:ext>
              </a:extLst>
            </p:cNvPr>
            <p:cNvSpPr/>
            <p:nvPr/>
          </p:nvSpPr>
          <p:spPr>
            <a:xfrm>
              <a:off x="9583353" y="4133245"/>
              <a:ext cx="341613" cy="330033"/>
            </a:xfrm>
            <a:prstGeom prst="ellipse">
              <a:avLst/>
            </a:prstGeom>
            <a:gradFill>
              <a:gsLst>
                <a:gs pos="84000">
                  <a:srgbClr val="D4D0D2"/>
                </a:gs>
                <a:gs pos="17000">
                  <a:srgbClr val="FFFFFF"/>
                </a:gs>
                <a:gs pos="39000">
                  <a:srgbClr val="FAF0FA"/>
                </a:gs>
              </a:gsLst>
              <a:path path="circle">
                <a:fillToRect l="50000" t="50000" r="50000" b="50000"/>
              </a:path>
            </a:gra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BEF99-DAF7-C29C-95A0-95281C486D6E}"/>
              </a:ext>
            </a:extLst>
          </p:cNvPr>
          <p:cNvGrpSpPr/>
          <p:nvPr/>
        </p:nvGrpSpPr>
        <p:grpSpPr>
          <a:xfrm>
            <a:off x="4902710" y="2036949"/>
            <a:ext cx="845396" cy="1175315"/>
            <a:chOff x="10379169" y="1792915"/>
            <a:chExt cx="845396" cy="1175315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82C2F474-C113-38F4-F195-140BA28646F4}"/>
                </a:ext>
              </a:extLst>
            </p:cNvPr>
            <p:cNvGrpSpPr/>
            <p:nvPr/>
          </p:nvGrpSpPr>
          <p:grpSpPr>
            <a:xfrm rot="4536077">
              <a:off x="10308635" y="1863449"/>
              <a:ext cx="986463" cy="845396"/>
              <a:chOff x="10174273" y="1545234"/>
              <a:chExt cx="958526" cy="797395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CF3BF893-0EBC-5C7F-9B1B-52A9D588911A}"/>
                  </a:ext>
                </a:extLst>
              </p:cNvPr>
              <p:cNvSpPr/>
              <p:nvPr/>
            </p:nvSpPr>
            <p:spPr>
              <a:xfrm rot="18472838">
                <a:off x="10404730" y="1488311"/>
                <a:ext cx="493795" cy="945508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  <a:alpha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172890D7-5335-9204-8110-A08AEB4DD0E7}"/>
                  </a:ext>
                </a:extLst>
              </p:cNvPr>
              <p:cNvSpPr/>
              <p:nvPr/>
            </p:nvSpPr>
            <p:spPr>
              <a:xfrm>
                <a:off x="10951554" y="2167528"/>
                <a:ext cx="181245" cy="175101"/>
              </a:xfrm>
              <a:prstGeom prst="ellipse">
                <a:avLst/>
              </a:prstGeom>
              <a:solidFill>
                <a:schemeClr val="tx1"/>
              </a:solidFill>
              <a:ln w="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 sz="1200" dirty="0">
                  <a:solidFill>
                    <a:schemeClr val="bg1">
                      <a:lumMod val="50000"/>
                    </a:schemeClr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F6A29B83-0664-7E54-EA49-1C2F47EEEE0E}"/>
                  </a:ext>
                </a:extLst>
              </p:cNvPr>
              <p:cNvGrpSpPr/>
              <p:nvPr/>
            </p:nvGrpSpPr>
            <p:grpSpPr>
              <a:xfrm>
                <a:off x="10174273" y="1545234"/>
                <a:ext cx="228203" cy="225436"/>
                <a:chOff x="4255383" y="2706764"/>
                <a:chExt cx="435368" cy="430089"/>
              </a:xfrm>
            </p:grpSpPr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1391E1F3-EFD0-9B16-5237-2C57DF1A946D}"/>
                    </a:ext>
                  </a:extLst>
                </p:cNvPr>
                <p:cNvSpPr/>
                <p:nvPr/>
              </p:nvSpPr>
              <p:spPr>
                <a:xfrm>
                  <a:off x="4304674" y="2755458"/>
                  <a:ext cx="336785" cy="332703"/>
                </a:xfrm>
                <a:prstGeom prst="ellipse">
                  <a:avLst/>
                </a:prstGeom>
                <a:solidFill>
                  <a:srgbClr val="FCCE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72322254-91D0-F5B7-E721-B54524A66C3E}"/>
                    </a:ext>
                  </a:extLst>
                </p:cNvPr>
                <p:cNvSpPr/>
                <p:nvPr/>
              </p:nvSpPr>
              <p:spPr>
                <a:xfrm>
                  <a:off x="4255383" y="2706764"/>
                  <a:ext cx="435368" cy="430089"/>
                </a:xfrm>
                <a:prstGeom prst="ellipse">
                  <a:avLst/>
                </a:prstGeom>
                <a:solidFill>
                  <a:srgbClr val="FCCE29">
                    <a:alpha val="45982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BA121C7A-FD4E-B753-31FF-A2072C8FFC7B}"/>
                </a:ext>
              </a:extLst>
            </p:cNvPr>
            <p:cNvSpPr txBox="1"/>
            <p:nvPr/>
          </p:nvSpPr>
          <p:spPr>
            <a:xfrm>
              <a:off x="10692530" y="259889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/>
                </a:rPr>
                <a:t>BH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A0420D-2E78-E99F-8506-6B9261C7EB43}"/>
              </a:ext>
            </a:extLst>
          </p:cNvPr>
          <p:cNvGrpSpPr/>
          <p:nvPr/>
        </p:nvGrpSpPr>
        <p:grpSpPr>
          <a:xfrm>
            <a:off x="6012833" y="4678204"/>
            <a:ext cx="1575345" cy="1072743"/>
            <a:chOff x="1365070" y="2944622"/>
            <a:chExt cx="1575345" cy="1072743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0342246-F5A5-8F34-C040-E11A0E632D18}"/>
                </a:ext>
              </a:extLst>
            </p:cNvPr>
            <p:cNvSpPr/>
            <p:nvPr/>
          </p:nvSpPr>
          <p:spPr>
            <a:xfrm>
              <a:off x="1436076" y="3371991"/>
              <a:ext cx="161004" cy="1503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E8C8979-296B-87FE-78A4-5CB9765E7148}"/>
                </a:ext>
              </a:extLst>
            </p:cNvPr>
            <p:cNvSpPr/>
            <p:nvPr/>
          </p:nvSpPr>
          <p:spPr>
            <a:xfrm>
              <a:off x="1365070" y="3288044"/>
              <a:ext cx="298946" cy="281267"/>
            </a:xfrm>
            <a:prstGeom prst="ellipse">
              <a:avLst/>
            </a:prstGeom>
            <a:noFill/>
            <a:ln w="41275">
              <a:solidFill>
                <a:srgbClr val="6B9CD1">
                  <a:alpha val="97000"/>
                </a:srgbClr>
              </a:solidFill>
            </a:ln>
            <a:scene3d>
              <a:camera prst="orthographicFront">
                <a:rot lat="16620000" lon="0" rev="0"/>
              </a:camera>
              <a:lightRig rig="soft" dir="t">
                <a:rot lat="0" lon="0" rev="10200000"/>
              </a:lightRig>
            </a:scene3d>
            <a:sp3d prstMaterial="matte">
              <a:bevelT w="38100" h="19050"/>
              <a:bevelB w="44450" h="190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Chord 31">
              <a:extLst>
                <a:ext uri="{FF2B5EF4-FFF2-40B4-BE49-F238E27FC236}">
                  <a16:creationId xmlns:a16="http://schemas.microsoft.com/office/drawing/2014/main" id="{74634E8C-A16D-976D-201C-0DF80FDC66C2}"/>
                </a:ext>
              </a:extLst>
            </p:cNvPr>
            <p:cNvSpPr/>
            <p:nvPr/>
          </p:nvSpPr>
          <p:spPr>
            <a:xfrm rot="7151688">
              <a:off x="1434062" y="3339727"/>
              <a:ext cx="169642" cy="169642"/>
            </a:xfrm>
            <a:prstGeom prst="chord">
              <a:avLst>
                <a:gd name="adj1" fmla="val 2700000"/>
                <a:gd name="adj2" fmla="val 1541038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657A901-2FEB-89A7-CA67-2771FD750491}"/>
                </a:ext>
              </a:extLst>
            </p:cNvPr>
            <p:cNvGrpSpPr/>
            <p:nvPr/>
          </p:nvGrpSpPr>
          <p:grpSpPr>
            <a:xfrm>
              <a:off x="1867672" y="2944622"/>
              <a:ext cx="1072743" cy="1072743"/>
              <a:chOff x="5245118" y="2933665"/>
              <a:chExt cx="1072743" cy="1072743"/>
            </a:xfrm>
          </p:grpSpPr>
          <p:sp>
            <p:nvSpPr>
              <p:cNvPr id="35" name="Teardrop 34">
                <a:extLst>
                  <a:ext uri="{FF2B5EF4-FFF2-40B4-BE49-F238E27FC236}">
                    <a16:creationId xmlns:a16="http://schemas.microsoft.com/office/drawing/2014/main" id="{394D84ED-2E5C-A953-6253-B46553134865}"/>
                  </a:ext>
                </a:extLst>
              </p:cNvPr>
              <p:cNvSpPr/>
              <p:nvPr/>
            </p:nvSpPr>
            <p:spPr>
              <a:xfrm rot="13664817">
                <a:off x="5245118" y="2933665"/>
                <a:ext cx="1072743" cy="1072743"/>
              </a:xfrm>
              <a:prstGeom prst="teardrop">
                <a:avLst/>
              </a:prstGeom>
              <a:gradFill>
                <a:gsLst>
                  <a:gs pos="95000">
                    <a:srgbClr val="608DBC">
                      <a:lumMod val="100000"/>
                    </a:srgbClr>
                  </a:gs>
                  <a:gs pos="63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32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CF8F801-6CE6-1D77-FC25-CBBCF87876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43374" y="3336631"/>
                <a:ext cx="278612" cy="277556"/>
              </a:xfrm>
              <a:prstGeom prst="ellipse">
                <a:avLst/>
              </a:prstGeom>
              <a:gradFill flip="none" rotWithShape="1">
                <a:gsLst>
                  <a:gs pos="89000">
                    <a:srgbClr val="82ADE4">
                      <a:lumMod val="69000"/>
                    </a:srgbClr>
                  </a:gs>
                  <a:gs pos="63000">
                    <a:srgbClr val="95C5EC"/>
                  </a:gs>
                  <a:gs pos="1000">
                    <a:srgbClr val="E6F5FB">
                      <a:lumMod val="70000"/>
                      <a:lumOff val="30000"/>
                    </a:srgbClr>
                  </a:gs>
                  <a:gs pos="30000">
                    <a:srgbClr val="E6F5FB"/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91BE205-037B-8D66-064C-418D99623DDD}"/>
              </a:ext>
            </a:extLst>
          </p:cNvPr>
          <p:cNvGrpSpPr/>
          <p:nvPr/>
        </p:nvGrpSpPr>
        <p:grpSpPr>
          <a:xfrm>
            <a:off x="9036385" y="5017496"/>
            <a:ext cx="298946" cy="281267"/>
            <a:chOff x="1365070" y="3288044"/>
            <a:chExt cx="298946" cy="28126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413B4B8-13EF-BEA5-15D8-A31CB93D2634}"/>
                </a:ext>
              </a:extLst>
            </p:cNvPr>
            <p:cNvSpPr/>
            <p:nvPr/>
          </p:nvSpPr>
          <p:spPr>
            <a:xfrm>
              <a:off x="1436076" y="3371991"/>
              <a:ext cx="161004" cy="1503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93DB47-63B0-B11E-1BCC-375C7C4CF65E}"/>
                </a:ext>
              </a:extLst>
            </p:cNvPr>
            <p:cNvSpPr/>
            <p:nvPr/>
          </p:nvSpPr>
          <p:spPr>
            <a:xfrm>
              <a:off x="1365070" y="3288044"/>
              <a:ext cx="298946" cy="281267"/>
            </a:xfrm>
            <a:prstGeom prst="ellipse">
              <a:avLst/>
            </a:prstGeom>
            <a:noFill/>
            <a:ln w="41275">
              <a:solidFill>
                <a:srgbClr val="6B9CD1">
                  <a:alpha val="97000"/>
                </a:srgbClr>
              </a:solidFill>
            </a:ln>
            <a:scene3d>
              <a:camera prst="orthographicFront">
                <a:rot lat="16620000" lon="0" rev="0"/>
              </a:camera>
              <a:lightRig rig="soft" dir="t">
                <a:rot lat="0" lon="0" rev="10200000"/>
              </a:lightRig>
            </a:scene3d>
            <a:sp3d prstMaterial="matte">
              <a:bevelT w="38100" h="19050"/>
              <a:bevelB w="44450" h="190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Chord 8">
              <a:extLst>
                <a:ext uri="{FF2B5EF4-FFF2-40B4-BE49-F238E27FC236}">
                  <a16:creationId xmlns:a16="http://schemas.microsoft.com/office/drawing/2014/main" id="{55448A87-0AC0-0000-D1ED-8A6A6D5B6F6B}"/>
                </a:ext>
              </a:extLst>
            </p:cNvPr>
            <p:cNvSpPr/>
            <p:nvPr/>
          </p:nvSpPr>
          <p:spPr>
            <a:xfrm rot="7151688">
              <a:off x="1434062" y="3339727"/>
              <a:ext cx="169642" cy="169642"/>
            </a:xfrm>
            <a:prstGeom prst="chord">
              <a:avLst>
                <a:gd name="adj1" fmla="val 2700000"/>
                <a:gd name="adj2" fmla="val 1541038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ardrop 36">
            <a:extLst>
              <a:ext uri="{FF2B5EF4-FFF2-40B4-BE49-F238E27FC236}">
                <a16:creationId xmlns:a16="http://schemas.microsoft.com/office/drawing/2014/main" id="{21153765-5B2B-B72B-A0A8-BB354F108903}"/>
              </a:ext>
            </a:extLst>
          </p:cNvPr>
          <p:cNvSpPr/>
          <p:nvPr/>
        </p:nvSpPr>
        <p:spPr>
          <a:xfrm rot="13532414">
            <a:off x="9475648" y="4841938"/>
            <a:ext cx="677611" cy="677610"/>
          </a:xfrm>
          <a:prstGeom prst="teardrop">
            <a:avLst/>
          </a:prstGeom>
          <a:gradFill>
            <a:gsLst>
              <a:gs pos="85000">
                <a:srgbClr val="F5941B"/>
              </a:gs>
              <a:gs pos="57000">
                <a:srgbClr val="FFC000"/>
              </a:gs>
              <a:gs pos="4000">
                <a:srgbClr val="FCF8D9"/>
              </a:gs>
              <a:gs pos="32000">
                <a:srgbClr val="F4F7A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59631D-3AB5-8318-19E5-C4811346EBEC}"/>
              </a:ext>
            </a:extLst>
          </p:cNvPr>
          <p:cNvSpPr txBox="1"/>
          <p:nvPr/>
        </p:nvSpPr>
        <p:spPr>
          <a:xfrm>
            <a:off x="9266945" y="385738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LMXRB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F30188-27E7-F4A0-D1AA-2B511B57DC11}"/>
              </a:ext>
            </a:extLst>
          </p:cNvPr>
          <p:cNvSpPr txBox="1"/>
          <p:nvPr/>
        </p:nvSpPr>
        <p:spPr>
          <a:xfrm>
            <a:off x="5866785" y="3989876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HMXRB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7797718-39FC-8696-42FD-94722F7ABDD4}"/>
              </a:ext>
            </a:extLst>
          </p:cNvPr>
          <p:cNvGrpSpPr/>
          <p:nvPr/>
        </p:nvGrpSpPr>
        <p:grpSpPr>
          <a:xfrm>
            <a:off x="1429715" y="1916054"/>
            <a:ext cx="2264217" cy="1771995"/>
            <a:chOff x="1429715" y="1916054"/>
            <a:chExt cx="2264217" cy="177199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62F822C-F8F0-8713-EF19-8B47F80027A6}"/>
                </a:ext>
              </a:extLst>
            </p:cNvPr>
            <p:cNvGrpSpPr/>
            <p:nvPr/>
          </p:nvGrpSpPr>
          <p:grpSpPr>
            <a:xfrm>
              <a:off x="1429715" y="1916054"/>
              <a:ext cx="2264217" cy="1771995"/>
              <a:chOff x="1429715" y="1916054"/>
              <a:chExt cx="2264217" cy="1771995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B55D0512-C557-E8B0-1443-F3D0830650B3}"/>
                  </a:ext>
                </a:extLst>
              </p:cNvPr>
              <p:cNvGrpSpPr/>
              <p:nvPr/>
            </p:nvGrpSpPr>
            <p:grpSpPr>
              <a:xfrm>
                <a:off x="1429715" y="1916054"/>
                <a:ext cx="964769" cy="1459516"/>
                <a:chOff x="868444" y="2007442"/>
                <a:chExt cx="964769" cy="1459516"/>
              </a:xfrm>
            </p:grpSpPr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2D7B359-6761-8710-AEA2-B73B1B41D4F6}"/>
                    </a:ext>
                  </a:extLst>
                </p:cNvPr>
                <p:cNvSpPr/>
                <p:nvPr/>
              </p:nvSpPr>
              <p:spPr>
                <a:xfrm rot="2270848">
                  <a:off x="967304" y="2111089"/>
                  <a:ext cx="721670" cy="983649"/>
                </a:xfrm>
                <a:prstGeom prst="ellipse">
                  <a:avLst/>
                </a:prstGeom>
                <a:noFill/>
                <a:ln w="9525">
                  <a:solidFill>
                    <a:schemeClr val="bg1">
                      <a:lumMod val="50000"/>
                      <a:alpha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dirty="0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329D8259-72E9-C326-3514-DD12855C9C09}"/>
                    </a:ext>
                  </a:extLst>
                </p:cNvPr>
                <p:cNvSpPr/>
                <p:nvPr/>
              </p:nvSpPr>
              <p:spPr>
                <a:xfrm rot="974216">
                  <a:off x="868444" y="2909762"/>
                  <a:ext cx="213363" cy="206131"/>
                </a:xfrm>
                <a:prstGeom prst="ellipse">
                  <a:avLst/>
                </a:prstGeom>
                <a:gradFill>
                  <a:gsLst>
                    <a:gs pos="91000">
                      <a:srgbClr val="AFDED0"/>
                    </a:gs>
                    <a:gs pos="70000">
                      <a:srgbClr val="92D050"/>
                    </a:gs>
                    <a:gs pos="21000">
                      <a:srgbClr val="C3E3B3"/>
                    </a:gs>
                    <a:gs pos="7000">
                      <a:srgbClr val="D8EBDE"/>
                    </a:gs>
                  </a:gsLst>
                  <a:path path="circle">
                    <a:fillToRect l="50000" t="50000" r="50000" b="50000"/>
                  </a:path>
                </a:gradFill>
                <a:ln w="25400"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GB" sz="12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844EEA8C-E6FE-B897-CACF-D47C3B833759}"/>
                    </a:ext>
                  </a:extLst>
                </p:cNvPr>
                <p:cNvSpPr/>
                <p:nvPr/>
              </p:nvSpPr>
              <p:spPr>
                <a:xfrm rot="8255245">
                  <a:off x="1457197" y="2007442"/>
                  <a:ext cx="376016" cy="387936"/>
                </a:xfrm>
                <a:prstGeom prst="ellipse">
                  <a:avLst/>
                </a:prstGeom>
                <a:gradFill>
                  <a:gsLst>
                    <a:gs pos="85000">
                      <a:srgbClr val="F5941B"/>
                    </a:gs>
                    <a:gs pos="57000">
                      <a:srgbClr val="FFC000"/>
                    </a:gs>
                    <a:gs pos="4000">
                      <a:srgbClr val="FCF8D9"/>
                    </a:gs>
                    <a:gs pos="32000">
                      <a:srgbClr val="F4F7A0"/>
                    </a:gs>
                  </a:gsLst>
                  <a:path path="circle">
                    <a:fillToRect l="50000" t="50000" r="50000" b="5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C398F9AF-3C57-6C56-F6FB-D76A9315E30C}"/>
                    </a:ext>
                  </a:extLst>
                </p:cNvPr>
                <p:cNvSpPr txBox="1"/>
                <p:nvPr/>
              </p:nvSpPr>
              <p:spPr>
                <a:xfrm>
                  <a:off x="954269" y="3097626"/>
                  <a:ext cx="4395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/>
                    </a:rPr>
                    <a:t>NS</a:t>
                  </a: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E1ECF016-EB22-9B84-95C5-4314E8E86AC9}"/>
                  </a:ext>
                </a:extLst>
              </p:cNvPr>
              <p:cNvGrpSpPr/>
              <p:nvPr/>
            </p:nvGrpSpPr>
            <p:grpSpPr>
              <a:xfrm>
                <a:off x="2468266" y="2213216"/>
                <a:ext cx="1225666" cy="1474833"/>
                <a:chOff x="2468266" y="2213216"/>
                <a:chExt cx="1225666" cy="1474833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7C72A942-207C-893C-99D5-21F45C678A48}"/>
                    </a:ext>
                  </a:extLst>
                </p:cNvPr>
                <p:cNvGrpSpPr/>
                <p:nvPr/>
              </p:nvGrpSpPr>
              <p:grpSpPr>
                <a:xfrm>
                  <a:off x="2468266" y="2621630"/>
                  <a:ext cx="721670" cy="1066419"/>
                  <a:chOff x="4267539" y="1221773"/>
                  <a:chExt cx="721670" cy="1066419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07B224CE-6EEA-70DC-5ACD-CE696F6AE1A9}"/>
                      </a:ext>
                    </a:extLst>
                  </p:cNvPr>
                  <p:cNvGrpSpPr/>
                  <p:nvPr/>
                </p:nvGrpSpPr>
                <p:grpSpPr>
                  <a:xfrm rot="974216">
                    <a:off x="4267539" y="1221773"/>
                    <a:ext cx="721670" cy="704944"/>
                    <a:chOff x="8681816" y="2322159"/>
                    <a:chExt cx="568378" cy="555205"/>
                  </a:xfrm>
                </p:grpSpPr>
                <p:sp>
                  <p:nvSpPr>
                    <p:cNvPr id="44" name="Oval 43">
                      <a:extLst>
                        <a:ext uri="{FF2B5EF4-FFF2-40B4-BE49-F238E27FC236}">
                          <a16:creationId xmlns:a16="http://schemas.microsoft.com/office/drawing/2014/main" id="{57E508D1-76A8-75BC-C2A7-02C4A2234CA2}"/>
                        </a:ext>
                      </a:extLst>
                    </p:cNvPr>
                    <p:cNvSpPr/>
                    <p:nvPr/>
                  </p:nvSpPr>
                  <p:spPr>
                    <a:xfrm rot="1296632">
                      <a:off x="8681816" y="2322159"/>
                      <a:ext cx="568378" cy="527891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bg1">
                          <a:lumMod val="50000"/>
                          <a:alpha val="75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NL" dirty="0"/>
                    </a:p>
                  </p:txBody>
                </p:sp>
                <p:sp>
                  <p:nvSpPr>
                    <p:cNvPr id="45" name="Oval 44">
                      <a:extLst>
                        <a:ext uri="{FF2B5EF4-FFF2-40B4-BE49-F238E27FC236}">
                          <a16:creationId xmlns:a16="http://schemas.microsoft.com/office/drawing/2014/main" id="{8A01CAF8-CCD1-4436-17FA-26FD1DAD57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3820" y="2715018"/>
                      <a:ext cx="168042" cy="162346"/>
                    </a:xfrm>
                    <a:prstGeom prst="ellipse">
                      <a:avLst/>
                    </a:prstGeom>
                    <a:gradFill>
                      <a:gsLst>
                        <a:gs pos="91000">
                          <a:srgbClr val="AFDED0"/>
                        </a:gs>
                        <a:gs pos="70000">
                          <a:srgbClr val="92D050"/>
                        </a:gs>
                        <a:gs pos="21000">
                          <a:srgbClr val="C3E3B3"/>
                        </a:gs>
                        <a:gs pos="7000">
                          <a:srgbClr val="D8EBDE"/>
                        </a:gs>
                      </a:gsLst>
                      <a:path path="circle">
                        <a:fillToRect l="50000" t="50000" r="50000" b="50000"/>
                      </a:path>
                    </a:gradFill>
                    <a:ln w="25400">
                      <a:solidFill>
                        <a:srgbClr val="92D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endParaRPr lang="en-GB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AE081B4-8B90-286C-C8BA-79E7500BBA6B}"/>
                      </a:ext>
                    </a:extLst>
                  </p:cNvPr>
                  <p:cNvSpPr txBox="1"/>
                  <p:nvPr/>
                </p:nvSpPr>
                <p:spPr>
                  <a:xfrm>
                    <a:off x="4547107" y="1918860"/>
                    <a:ext cx="4395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/>
                      </a:rPr>
                      <a:t>NS</a:t>
                    </a:r>
                  </a:p>
                </p:txBody>
              </p:sp>
            </p:grp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95DB0F3E-2415-0C34-41DD-29FDD8DECEC9}"/>
                    </a:ext>
                  </a:extLst>
                </p:cNvPr>
                <p:cNvSpPr/>
                <p:nvPr/>
              </p:nvSpPr>
              <p:spPr>
                <a:xfrm rot="974216">
                  <a:off x="2957398" y="2616588"/>
                  <a:ext cx="213363" cy="206131"/>
                </a:xfrm>
                <a:prstGeom prst="ellipse">
                  <a:avLst/>
                </a:prstGeom>
                <a:gradFill>
                  <a:gsLst>
                    <a:gs pos="91000">
                      <a:srgbClr val="AFDED0"/>
                    </a:gs>
                    <a:gs pos="70000">
                      <a:srgbClr val="92D050"/>
                    </a:gs>
                    <a:gs pos="21000">
                      <a:srgbClr val="C3E3B3"/>
                    </a:gs>
                    <a:gs pos="7000">
                      <a:srgbClr val="D8EBDE"/>
                    </a:gs>
                  </a:gsLst>
                  <a:path path="circle">
                    <a:fillToRect l="50000" t="50000" r="50000" b="50000"/>
                  </a:path>
                </a:gradFill>
                <a:ln w="25400"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GB" sz="12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416357-9335-ABFE-6C36-3100F1EFEF83}"/>
                    </a:ext>
                  </a:extLst>
                </p:cNvPr>
                <p:cNvSpPr txBox="1"/>
                <p:nvPr/>
              </p:nvSpPr>
              <p:spPr>
                <a:xfrm>
                  <a:off x="3254388" y="2461146"/>
                  <a:ext cx="4395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libri" panose="020F0502020204030204"/>
                    </a:rPr>
                    <a:t>NS</a:t>
                  </a:r>
                </a:p>
              </p:txBody>
            </p:sp>
            <p:sp>
              <p:nvSpPr>
                <p:cNvPr id="49" name="Triangle 48">
                  <a:extLst>
                    <a:ext uri="{FF2B5EF4-FFF2-40B4-BE49-F238E27FC236}">
                      <a16:creationId xmlns:a16="http://schemas.microsoft.com/office/drawing/2014/main" id="{9ADAFEB9-E1E5-076C-6364-59E300D90D39}"/>
                    </a:ext>
                  </a:extLst>
                </p:cNvPr>
                <p:cNvSpPr/>
                <p:nvPr/>
              </p:nvSpPr>
              <p:spPr>
                <a:xfrm rot="10311867">
                  <a:off x="2995761" y="2213216"/>
                  <a:ext cx="45719" cy="401154"/>
                </a:xfrm>
                <a:prstGeom prst="triangle">
                  <a:avLst/>
                </a:prstGeom>
                <a:solidFill>
                  <a:srgbClr val="FF910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  <p:sp>
              <p:nvSpPr>
                <p:cNvPr id="50" name="Triangle 49">
                  <a:extLst>
                    <a:ext uri="{FF2B5EF4-FFF2-40B4-BE49-F238E27FC236}">
                      <a16:creationId xmlns:a16="http://schemas.microsoft.com/office/drawing/2014/main" id="{2E0A5522-6F63-A56A-7EFE-F4CFDB09FDD8}"/>
                    </a:ext>
                  </a:extLst>
                </p:cNvPr>
                <p:cNvSpPr/>
                <p:nvPr/>
              </p:nvSpPr>
              <p:spPr>
                <a:xfrm rot="10242265" flipH="1" flipV="1">
                  <a:off x="3094819" y="2825153"/>
                  <a:ext cx="45719" cy="401154"/>
                </a:xfrm>
                <a:prstGeom prst="triangle">
                  <a:avLst/>
                </a:prstGeom>
                <a:solidFill>
                  <a:srgbClr val="FF910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  <p:sp>
              <p:nvSpPr>
                <p:cNvPr id="51" name="Triangle 50">
                  <a:extLst>
                    <a:ext uri="{FF2B5EF4-FFF2-40B4-BE49-F238E27FC236}">
                      <a16:creationId xmlns:a16="http://schemas.microsoft.com/office/drawing/2014/main" id="{6D50838F-590C-D367-09C8-DA8070D9D8C7}"/>
                    </a:ext>
                  </a:extLst>
                </p:cNvPr>
                <p:cNvSpPr/>
                <p:nvPr/>
              </p:nvSpPr>
              <p:spPr>
                <a:xfrm rot="12009424">
                  <a:off x="2716154" y="2690399"/>
                  <a:ext cx="45719" cy="401154"/>
                </a:xfrm>
                <a:prstGeom prst="triangle">
                  <a:avLst/>
                </a:prstGeom>
                <a:solidFill>
                  <a:srgbClr val="FF910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  <p:sp>
              <p:nvSpPr>
                <p:cNvPr id="52" name="Triangle 51">
                  <a:extLst>
                    <a:ext uri="{FF2B5EF4-FFF2-40B4-BE49-F238E27FC236}">
                      <a16:creationId xmlns:a16="http://schemas.microsoft.com/office/drawing/2014/main" id="{78BD915B-00ED-6888-201C-84D8DBD55775}"/>
                    </a:ext>
                  </a:extLst>
                </p:cNvPr>
                <p:cNvSpPr/>
                <p:nvPr/>
              </p:nvSpPr>
              <p:spPr>
                <a:xfrm rot="11939822" flipH="1" flipV="1">
                  <a:off x="2510698" y="3266381"/>
                  <a:ext cx="45719" cy="401154"/>
                </a:xfrm>
                <a:prstGeom prst="triangle">
                  <a:avLst/>
                </a:prstGeom>
                <a:solidFill>
                  <a:srgbClr val="FF910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</p:grpSp>
        </p:grpSp>
        <p:sp>
          <p:nvSpPr>
            <p:cNvPr id="57" name="Triangle 56">
              <a:extLst>
                <a:ext uri="{FF2B5EF4-FFF2-40B4-BE49-F238E27FC236}">
                  <a16:creationId xmlns:a16="http://schemas.microsoft.com/office/drawing/2014/main" id="{26CDCD4A-0760-FA2F-5ED3-2CACB9C3554D}"/>
                </a:ext>
              </a:extLst>
            </p:cNvPr>
            <p:cNvSpPr/>
            <p:nvPr/>
          </p:nvSpPr>
          <p:spPr>
            <a:xfrm rot="10800000">
              <a:off x="1507958" y="2426773"/>
              <a:ext cx="45719" cy="401154"/>
            </a:xfrm>
            <a:prstGeom prst="triangle">
              <a:avLst/>
            </a:prstGeom>
            <a:solidFill>
              <a:srgbClr val="FF9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8" name="Triangle 57">
              <a:extLst>
                <a:ext uri="{FF2B5EF4-FFF2-40B4-BE49-F238E27FC236}">
                  <a16:creationId xmlns:a16="http://schemas.microsoft.com/office/drawing/2014/main" id="{FB0991FC-FE02-69DA-9DDF-DE89756D931F}"/>
                </a:ext>
              </a:extLst>
            </p:cNvPr>
            <p:cNvSpPr/>
            <p:nvPr/>
          </p:nvSpPr>
          <p:spPr>
            <a:xfrm rot="10730398" flipH="1" flipV="1">
              <a:off x="1507958" y="3002755"/>
              <a:ext cx="45719" cy="401154"/>
            </a:xfrm>
            <a:prstGeom prst="triangle">
              <a:avLst/>
            </a:prstGeom>
            <a:solidFill>
              <a:srgbClr val="FF9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BB68DD3-E836-63CA-5111-91141BD88B63}"/>
              </a:ext>
            </a:extLst>
          </p:cNvPr>
          <p:cNvSpPr txBox="1"/>
          <p:nvPr/>
        </p:nvSpPr>
        <p:spPr>
          <a:xfrm>
            <a:off x="474031" y="329960"/>
            <a:ext cx="4959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90C9DD"/>
                </a:solidFill>
              </a:rPr>
              <a:t>D. Compact objects in Binaries</a:t>
            </a:r>
          </a:p>
        </p:txBody>
      </p:sp>
    </p:spTree>
    <p:extLst>
      <p:ext uri="{BB962C8B-B14F-4D97-AF65-F5344CB8AC3E}">
        <p14:creationId xmlns:p14="http://schemas.microsoft.com/office/powerpoint/2010/main" val="382125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6EDC-EC20-65B9-B174-1924481E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7A19A4-7D71-6219-B558-ED8E52E421EF}"/>
              </a:ext>
            </a:extLst>
          </p:cNvPr>
          <p:cNvGrpSpPr/>
          <p:nvPr/>
        </p:nvGrpSpPr>
        <p:grpSpPr>
          <a:xfrm>
            <a:off x="10672318" y="-1336371"/>
            <a:ext cx="900447" cy="910477"/>
            <a:chOff x="5139597" y="4222555"/>
            <a:chExt cx="900447" cy="91047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D0ADEBE-1884-E6CE-6C63-9E054C3E94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023" y="4523394"/>
              <a:ext cx="183610" cy="182914"/>
            </a:xfrm>
            <a:prstGeom prst="ellipse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C56DED6-BF8D-25EB-5E0A-4988C91D50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0173" y="4653421"/>
              <a:ext cx="159986" cy="159380"/>
            </a:xfrm>
            <a:prstGeom prst="ellipse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Moon 6">
              <a:extLst>
                <a:ext uri="{FF2B5EF4-FFF2-40B4-BE49-F238E27FC236}">
                  <a16:creationId xmlns:a16="http://schemas.microsoft.com/office/drawing/2014/main" id="{D5F539F9-70EC-B958-C45F-8F1AAFA80964}"/>
                </a:ext>
              </a:extLst>
            </p:cNvPr>
            <p:cNvSpPr/>
            <p:nvPr/>
          </p:nvSpPr>
          <p:spPr>
            <a:xfrm rot="4345754">
              <a:off x="5469534" y="4340524"/>
              <a:ext cx="147215" cy="336315"/>
            </a:xfrm>
            <a:prstGeom prst="moon">
              <a:avLst>
                <a:gd name="adj" fmla="val 26969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" name="Moon 7">
              <a:extLst>
                <a:ext uri="{FF2B5EF4-FFF2-40B4-BE49-F238E27FC236}">
                  <a16:creationId xmlns:a16="http://schemas.microsoft.com/office/drawing/2014/main" id="{9CDF317F-BEE9-F5E3-6935-42B922A05E7B}"/>
                </a:ext>
              </a:extLst>
            </p:cNvPr>
            <p:cNvSpPr/>
            <p:nvPr/>
          </p:nvSpPr>
          <p:spPr>
            <a:xfrm rot="4529969">
              <a:off x="5411570" y="4199126"/>
              <a:ext cx="222611" cy="505529"/>
            </a:xfrm>
            <a:prstGeom prst="moon">
              <a:avLst>
                <a:gd name="adj" fmla="val 1326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" name="Moon 8">
              <a:extLst>
                <a:ext uri="{FF2B5EF4-FFF2-40B4-BE49-F238E27FC236}">
                  <a16:creationId xmlns:a16="http://schemas.microsoft.com/office/drawing/2014/main" id="{1949C2DD-7B32-6075-AA70-C29000998610}"/>
                </a:ext>
              </a:extLst>
            </p:cNvPr>
            <p:cNvSpPr/>
            <p:nvPr/>
          </p:nvSpPr>
          <p:spPr>
            <a:xfrm rot="4375379">
              <a:off x="5324208" y="4037944"/>
              <a:ext cx="320819" cy="690042"/>
            </a:xfrm>
            <a:prstGeom prst="moon">
              <a:avLst>
                <a:gd name="adj" fmla="val 510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Moon 9">
              <a:extLst>
                <a:ext uri="{FF2B5EF4-FFF2-40B4-BE49-F238E27FC236}">
                  <a16:creationId xmlns:a16="http://schemas.microsoft.com/office/drawing/2014/main" id="{82D1643D-E4DC-460C-DC24-539DAC397255}"/>
                </a:ext>
              </a:extLst>
            </p:cNvPr>
            <p:cNvSpPr/>
            <p:nvPr/>
          </p:nvSpPr>
          <p:spPr>
            <a:xfrm rot="15250780" flipV="1">
              <a:off x="5565928" y="4663068"/>
              <a:ext cx="154631" cy="366824"/>
            </a:xfrm>
            <a:prstGeom prst="moon">
              <a:avLst>
                <a:gd name="adj" fmla="val 27641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9" name="Moon 18">
              <a:extLst>
                <a:ext uri="{FF2B5EF4-FFF2-40B4-BE49-F238E27FC236}">
                  <a16:creationId xmlns:a16="http://schemas.microsoft.com/office/drawing/2014/main" id="{23EA958E-365B-BDAC-FD25-F7E892167AD5}"/>
                </a:ext>
              </a:extLst>
            </p:cNvPr>
            <p:cNvSpPr/>
            <p:nvPr/>
          </p:nvSpPr>
          <p:spPr>
            <a:xfrm rot="15122799" flipV="1">
              <a:off x="5568988" y="4682736"/>
              <a:ext cx="222611" cy="505529"/>
            </a:xfrm>
            <a:prstGeom prst="moon">
              <a:avLst>
                <a:gd name="adj" fmla="val 1326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7" name="Moon 26">
              <a:extLst>
                <a:ext uri="{FF2B5EF4-FFF2-40B4-BE49-F238E27FC236}">
                  <a16:creationId xmlns:a16="http://schemas.microsoft.com/office/drawing/2014/main" id="{3D76723D-9113-8D02-5495-60D5F3EDDFFD}"/>
                </a:ext>
              </a:extLst>
            </p:cNvPr>
            <p:cNvSpPr/>
            <p:nvPr/>
          </p:nvSpPr>
          <p:spPr>
            <a:xfrm rot="15043622" flipV="1">
              <a:off x="5534613" y="4627602"/>
              <a:ext cx="320819" cy="690042"/>
            </a:xfrm>
            <a:prstGeom prst="moon">
              <a:avLst>
                <a:gd name="adj" fmla="val 510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0D98F0A-4651-82A0-EC15-4DC8BBB61CAB}"/>
              </a:ext>
            </a:extLst>
          </p:cNvPr>
          <p:cNvGrpSpPr/>
          <p:nvPr/>
        </p:nvGrpSpPr>
        <p:grpSpPr>
          <a:xfrm>
            <a:off x="1665887" y="1309880"/>
            <a:ext cx="3543451" cy="1466931"/>
            <a:chOff x="1797252" y="2474874"/>
            <a:chExt cx="3543451" cy="146693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C1228F4-9A92-5EDE-8A5A-6D93C69F4104}"/>
                </a:ext>
              </a:extLst>
            </p:cNvPr>
            <p:cNvGrpSpPr/>
            <p:nvPr/>
          </p:nvGrpSpPr>
          <p:grpSpPr>
            <a:xfrm>
              <a:off x="2815456" y="2474874"/>
              <a:ext cx="1504418" cy="1466931"/>
              <a:chOff x="4442473" y="3548432"/>
              <a:chExt cx="1613042" cy="1572846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BC6935C-58BF-93CE-A6AC-3DDA86AFF691}"/>
                  </a:ext>
                </a:extLst>
              </p:cNvPr>
              <p:cNvGrpSpPr/>
              <p:nvPr/>
            </p:nvGrpSpPr>
            <p:grpSpPr>
              <a:xfrm>
                <a:off x="4442473" y="4044976"/>
                <a:ext cx="1613042" cy="1076302"/>
                <a:chOff x="4442473" y="4044976"/>
                <a:chExt cx="1613042" cy="1076302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B8D5C18A-C902-186A-17A1-838909F0F768}"/>
                    </a:ext>
                  </a:extLst>
                </p:cNvPr>
                <p:cNvGrpSpPr/>
                <p:nvPr/>
              </p:nvGrpSpPr>
              <p:grpSpPr>
                <a:xfrm>
                  <a:off x="4442473" y="4044976"/>
                  <a:ext cx="1613042" cy="607895"/>
                  <a:chOff x="6968575" y="6167584"/>
                  <a:chExt cx="485360" cy="182914"/>
                </a:xfrm>
              </p:grpSpPr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B267DE8D-A9C6-50B7-DA7D-D6736C7AE2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968575" y="6205217"/>
                    <a:ext cx="130854" cy="130358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FFFFFF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Univers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E635DFEF-B552-59D8-66B0-5AD2A1A431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270325" y="6167584"/>
                    <a:ext cx="183610" cy="182914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FFFFFF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Univers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ED4F42A7-FF48-C920-C1DD-69665DE4242C}"/>
                    </a:ext>
                  </a:extLst>
                </p:cNvPr>
                <p:cNvSpPr/>
                <p:nvPr/>
              </p:nvSpPr>
              <p:spPr>
                <a:xfrm rot="11127688">
                  <a:off x="4642721" y="4634572"/>
                  <a:ext cx="1086997" cy="486706"/>
                </a:xfrm>
                <a:custGeom>
                  <a:avLst/>
                  <a:gdLst>
                    <a:gd name="connsiteX0" fmla="*/ 0 w 825022"/>
                    <a:gd name="connsiteY0" fmla="*/ 387078 h 387078"/>
                    <a:gd name="connsiteX1" fmla="*/ 178755 w 825022"/>
                    <a:gd name="connsiteY1" fmla="*/ 77694 h 387078"/>
                    <a:gd name="connsiteX2" fmla="*/ 529389 w 825022"/>
                    <a:gd name="connsiteY2" fmla="*/ 2067 h 387078"/>
                    <a:gd name="connsiteX3" fmla="*/ 825022 w 825022"/>
                    <a:gd name="connsiteY3" fmla="*/ 132696 h 387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5022" h="387078">
                      <a:moveTo>
                        <a:pt x="0" y="387078"/>
                      </a:moveTo>
                      <a:cubicBezTo>
                        <a:pt x="45262" y="264470"/>
                        <a:pt x="90524" y="141862"/>
                        <a:pt x="178755" y="77694"/>
                      </a:cubicBezTo>
                      <a:cubicBezTo>
                        <a:pt x="266987" y="13525"/>
                        <a:pt x="421678" y="-7100"/>
                        <a:pt x="529389" y="2067"/>
                      </a:cubicBezTo>
                      <a:cubicBezTo>
                        <a:pt x="637100" y="11234"/>
                        <a:pt x="731061" y="71965"/>
                        <a:pt x="825022" y="132696"/>
                      </a:cubicBezTo>
                    </a:path>
                  </a:pathLst>
                </a:custGeom>
                <a:noFill/>
                <a:ln w="50800">
                  <a:solidFill>
                    <a:srgbClr val="484848"/>
                  </a:solidFill>
                  <a:headEnd type="stealth"/>
                </a:ln>
                <a:scene3d>
                  <a:camera prst="orthographicFront">
                    <a:rot lat="360000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9BAB8DD-8866-C07F-EE69-C4361FF0B0E2}"/>
                  </a:ext>
                </a:extLst>
              </p:cNvPr>
              <p:cNvSpPr/>
              <p:nvPr/>
            </p:nvSpPr>
            <p:spPr>
              <a:xfrm rot="512069">
                <a:off x="4695753" y="3548432"/>
                <a:ext cx="940117" cy="420780"/>
              </a:xfrm>
              <a:custGeom>
                <a:avLst/>
                <a:gdLst>
                  <a:gd name="connsiteX0" fmla="*/ 0 w 825022"/>
                  <a:gd name="connsiteY0" fmla="*/ 387078 h 387078"/>
                  <a:gd name="connsiteX1" fmla="*/ 178755 w 825022"/>
                  <a:gd name="connsiteY1" fmla="*/ 77694 h 387078"/>
                  <a:gd name="connsiteX2" fmla="*/ 529389 w 825022"/>
                  <a:gd name="connsiteY2" fmla="*/ 2067 h 387078"/>
                  <a:gd name="connsiteX3" fmla="*/ 825022 w 825022"/>
                  <a:gd name="connsiteY3" fmla="*/ 132696 h 38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5022" h="387078">
                    <a:moveTo>
                      <a:pt x="0" y="387078"/>
                    </a:moveTo>
                    <a:cubicBezTo>
                      <a:pt x="45262" y="264470"/>
                      <a:pt x="90524" y="141862"/>
                      <a:pt x="178755" y="77694"/>
                    </a:cubicBezTo>
                    <a:cubicBezTo>
                      <a:pt x="266987" y="13525"/>
                      <a:pt x="421678" y="-7100"/>
                      <a:pt x="529389" y="2067"/>
                    </a:cubicBezTo>
                    <a:cubicBezTo>
                      <a:pt x="637100" y="11234"/>
                      <a:pt x="731061" y="71965"/>
                      <a:pt x="825022" y="132696"/>
                    </a:cubicBezTo>
                  </a:path>
                </a:pathLst>
              </a:custGeom>
              <a:noFill/>
              <a:ln w="53975">
                <a:solidFill>
                  <a:srgbClr val="484848"/>
                </a:solidFill>
                <a:headEnd type="stealth"/>
                <a:tailEnd w="lg" len="lg"/>
              </a:ln>
              <a:scene3d>
                <a:camera prst="orthographicFront">
                  <a:rot lat="18299985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83D5705-A24E-BD2A-F8EA-AA810407679F}"/>
                </a:ext>
              </a:extLst>
            </p:cNvPr>
            <p:cNvGrpSpPr/>
            <p:nvPr/>
          </p:nvGrpSpPr>
          <p:grpSpPr>
            <a:xfrm>
              <a:off x="4060818" y="2659587"/>
              <a:ext cx="1279885" cy="1247782"/>
              <a:chOff x="4134960" y="2659587"/>
              <a:chExt cx="1279885" cy="1247782"/>
            </a:xfrm>
          </p:grpSpPr>
          <p:sp>
            <p:nvSpPr>
              <p:cNvPr id="37" name="Block Arc 36">
                <a:extLst>
                  <a:ext uri="{FF2B5EF4-FFF2-40B4-BE49-F238E27FC236}">
                    <a16:creationId xmlns:a16="http://schemas.microsoft.com/office/drawing/2014/main" id="{901C3E19-9B4C-F1CE-DB5F-B91F8F971FFD}"/>
                  </a:ext>
                </a:extLst>
              </p:cNvPr>
              <p:cNvSpPr/>
              <p:nvPr/>
            </p:nvSpPr>
            <p:spPr>
              <a:xfrm rot="5400000" flipH="1">
                <a:off x="4080516" y="2893048"/>
                <a:ext cx="889748" cy="780860"/>
              </a:xfrm>
              <a:prstGeom prst="blockArc">
                <a:avLst>
                  <a:gd name="adj1" fmla="val 10800000"/>
                  <a:gd name="adj2" fmla="val 91453"/>
                  <a:gd name="adj3" fmla="val 11241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3D44E7CA-8271-A77D-D902-8E9A925C8CFB}"/>
                  </a:ext>
                </a:extLst>
              </p:cNvPr>
              <p:cNvSpPr/>
              <p:nvPr/>
            </p:nvSpPr>
            <p:spPr>
              <a:xfrm rot="5400000" flipH="1">
                <a:off x="4236197" y="2728721"/>
                <a:ext cx="1247782" cy="1109514"/>
              </a:xfrm>
              <a:prstGeom prst="blockArc">
                <a:avLst>
                  <a:gd name="adj1" fmla="val 10800000"/>
                  <a:gd name="adj2" fmla="val 117486"/>
                  <a:gd name="adj3" fmla="val 19828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8794D1D-05F1-DF17-9DA2-4175DEAA4EB8}"/>
                </a:ext>
              </a:extLst>
            </p:cNvPr>
            <p:cNvGrpSpPr/>
            <p:nvPr/>
          </p:nvGrpSpPr>
          <p:grpSpPr>
            <a:xfrm flipH="1">
              <a:off x="1797252" y="2632765"/>
              <a:ext cx="1292242" cy="1247782"/>
              <a:chOff x="4085532" y="2659587"/>
              <a:chExt cx="1292242" cy="1247782"/>
            </a:xfrm>
          </p:grpSpPr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BA2125E-8529-BC53-9178-D724787207F0}"/>
                  </a:ext>
                </a:extLst>
              </p:cNvPr>
              <p:cNvSpPr/>
              <p:nvPr/>
            </p:nvSpPr>
            <p:spPr>
              <a:xfrm rot="5400000" flipH="1">
                <a:off x="4031088" y="2893048"/>
                <a:ext cx="889748" cy="780860"/>
              </a:xfrm>
              <a:prstGeom prst="blockArc">
                <a:avLst>
                  <a:gd name="adj1" fmla="val 10800000"/>
                  <a:gd name="adj2" fmla="val 91453"/>
                  <a:gd name="adj3" fmla="val 11241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F9541D34-45D8-7664-2D06-B4BAF43A1F67}"/>
                  </a:ext>
                </a:extLst>
              </p:cNvPr>
              <p:cNvSpPr/>
              <p:nvPr/>
            </p:nvSpPr>
            <p:spPr>
              <a:xfrm rot="5400000" flipH="1">
                <a:off x="4199126" y="2728721"/>
                <a:ext cx="1247782" cy="1109514"/>
              </a:xfrm>
              <a:prstGeom prst="blockArc">
                <a:avLst>
                  <a:gd name="adj1" fmla="val 10800000"/>
                  <a:gd name="adj2" fmla="val 117486"/>
                  <a:gd name="adj3" fmla="val 19828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689A93-F7E6-02E0-909C-96F54E075541}"/>
              </a:ext>
            </a:extLst>
          </p:cNvPr>
          <p:cNvGrpSpPr/>
          <p:nvPr/>
        </p:nvGrpSpPr>
        <p:grpSpPr>
          <a:xfrm rot="21181020">
            <a:off x="6537926" y="1220120"/>
            <a:ext cx="4506720" cy="2141073"/>
            <a:chOff x="1994074" y="2474874"/>
            <a:chExt cx="3087723" cy="146693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7BCBD1D-29EB-7C32-CE85-98AF73569CC4}"/>
                </a:ext>
              </a:extLst>
            </p:cNvPr>
            <p:cNvGrpSpPr/>
            <p:nvPr/>
          </p:nvGrpSpPr>
          <p:grpSpPr>
            <a:xfrm>
              <a:off x="2767018" y="2474874"/>
              <a:ext cx="1552852" cy="1466931"/>
              <a:chOff x="4390537" y="3548432"/>
              <a:chExt cx="1664973" cy="1572846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460879AC-D6CD-A498-1B25-04CD4A3925BD}"/>
                  </a:ext>
                </a:extLst>
              </p:cNvPr>
              <p:cNvGrpSpPr/>
              <p:nvPr/>
            </p:nvGrpSpPr>
            <p:grpSpPr>
              <a:xfrm>
                <a:off x="4390537" y="4044976"/>
                <a:ext cx="1664973" cy="1076302"/>
                <a:chOff x="4390537" y="4044976"/>
                <a:chExt cx="1664973" cy="1076302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B370B0FD-8BEC-CECC-6173-C2CCB315E85F}"/>
                    </a:ext>
                  </a:extLst>
                </p:cNvPr>
                <p:cNvGrpSpPr/>
                <p:nvPr/>
              </p:nvGrpSpPr>
              <p:grpSpPr>
                <a:xfrm>
                  <a:off x="4390537" y="4044976"/>
                  <a:ext cx="1664973" cy="607895"/>
                  <a:chOff x="6952949" y="6167584"/>
                  <a:chExt cx="500986" cy="182914"/>
                </a:xfrm>
              </p:grpSpPr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75765392-AA0C-4AF4-257C-F85DCC770DB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952949" y="6170258"/>
                    <a:ext cx="178240" cy="177565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40AAB0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Univers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5A55AEA8-ECE2-5091-3685-ACC24CD1B5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270325" y="6167584"/>
                    <a:ext cx="183610" cy="18291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25400">
                    <a:solidFill>
                      <a:srgbClr val="40AAB0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Univers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B837D9FE-F8FA-D7A9-EF19-E5E98CDA49A6}"/>
                    </a:ext>
                  </a:extLst>
                </p:cNvPr>
                <p:cNvSpPr/>
                <p:nvPr/>
              </p:nvSpPr>
              <p:spPr>
                <a:xfrm rot="11127688">
                  <a:off x="4642721" y="4634572"/>
                  <a:ext cx="1086997" cy="486706"/>
                </a:xfrm>
                <a:custGeom>
                  <a:avLst/>
                  <a:gdLst>
                    <a:gd name="connsiteX0" fmla="*/ 0 w 825022"/>
                    <a:gd name="connsiteY0" fmla="*/ 387078 h 387078"/>
                    <a:gd name="connsiteX1" fmla="*/ 178755 w 825022"/>
                    <a:gd name="connsiteY1" fmla="*/ 77694 h 387078"/>
                    <a:gd name="connsiteX2" fmla="*/ 529389 w 825022"/>
                    <a:gd name="connsiteY2" fmla="*/ 2067 h 387078"/>
                    <a:gd name="connsiteX3" fmla="*/ 825022 w 825022"/>
                    <a:gd name="connsiteY3" fmla="*/ 132696 h 387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5022" h="387078">
                      <a:moveTo>
                        <a:pt x="0" y="387078"/>
                      </a:moveTo>
                      <a:cubicBezTo>
                        <a:pt x="45262" y="264470"/>
                        <a:pt x="90524" y="141862"/>
                        <a:pt x="178755" y="77694"/>
                      </a:cubicBezTo>
                      <a:cubicBezTo>
                        <a:pt x="266987" y="13525"/>
                        <a:pt x="421678" y="-7100"/>
                        <a:pt x="529389" y="2067"/>
                      </a:cubicBezTo>
                      <a:cubicBezTo>
                        <a:pt x="637100" y="11234"/>
                        <a:pt x="731061" y="71965"/>
                        <a:pt x="825022" y="132696"/>
                      </a:cubicBezTo>
                    </a:path>
                  </a:pathLst>
                </a:custGeom>
                <a:noFill/>
                <a:ln w="50800">
                  <a:solidFill>
                    <a:srgbClr val="484848"/>
                  </a:solidFill>
                  <a:headEnd type="stealth"/>
                </a:ln>
                <a:scene3d>
                  <a:camera prst="orthographicFront">
                    <a:rot lat="360000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BE9569F-54EE-893A-F403-286E67278793}"/>
                  </a:ext>
                </a:extLst>
              </p:cNvPr>
              <p:cNvSpPr/>
              <p:nvPr/>
            </p:nvSpPr>
            <p:spPr>
              <a:xfrm rot="512069">
                <a:off x="4695753" y="3548432"/>
                <a:ext cx="940117" cy="420780"/>
              </a:xfrm>
              <a:custGeom>
                <a:avLst/>
                <a:gdLst>
                  <a:gd name="connsiteX0" fmla="*/ 0 w 825022"/>
                  <a:gd name="connsiteY0" fmla="*/ 387078 h 387078"/>
                  <a:gd name="connsiteX1" fmla="*/ 178755 w 825022"/>
                  <a:gd name="connsiteY1" fmla="*/ 77694 h 387078"/>
                  <a:gd name="connsiteX2" fmla="*/ 529389 w 825022"/>
                  <a:gd name="connsiteY2" fmla="*/ 2067 h 387078"/>
                  <a:gd name="connsiteX3" fmla="*/ 825022 w 825022"/>
                  <a:gd name="connsiteY3" fmla="*/ 132696 h 38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5022" h="387078">
                    <a:moveTo>
                      <a:pt x="0" y="387078"/>
                    </a:moveTo>
                    <a:cubicBezTo>
                      <a:pt x="45262" y="264470"/>
                      <a:pt x="90524" y="141862"/>
                      <a:pt x="178755" y="77694"/>
                    </a:cubicBezTo>
                    <a:cubicBezTo>
                      <a:pt x="266987" y="13525"/>
                      <a:pt x="421678" y="-7100"/>
                      <a:pt x="529389" y="2067"/>
                    </a:cubicBezTo>
                    <a:cubicBezTo>
                      <a:pt x="637100" y="11234"/>
                      <a:pt x="731061" y="71965"/>
                      <a:pt x="825022" y="132696"/>
                    </a:cubicBezTo>
                  </a:path>
                </a:pathLst>
              </a:custGeom>
              <a:noFill/>
              <a:ln w="53975">
                <a:solidFill>
                  <a:srgbClr val="484848"/>
                </a:solidFill>
                <a:headEnd type="stealth"/>
                <a:tailEnd w="lg" len="lg"/>
              </a:ln>
              <a:scene3d>
                <a:camera prst="orthographicFront">
                  <a:rot lat="18299985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C0E274E-648F-03F9-CB60-F34FBF622764}"/>
                </a:ext>
              </a:extLst>
            </p:cNvPr>
            <p:cNvGrpSpPr/>
            <p:nvPr/>
          </p:nvGrpSpPr>
          <p:grpSpPr>
            <a:xfrm>
              <a:off x="4127933" y="2656479"/>
              <a:ext cx="953864" cy="1041925"/>
              <a:chOff x="4202075" y="2656479"/>
              <a:chExt cx="953864" cy="104192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C39089-B7C2-8D23-0797-D8D094544FAA}"/>
                  </a:ext>
                </a:extLst>
              </p:cNvPr>
              <p:cNvSpPr/>
              <p:nvPr/>
            </p:nvSpPr>
            <p:spPr>
              <a:xfrm rot="5400000" flipH="1">
                <a:off x="4156614" y="2860192"/>
                <a:ext cx="742958" cy="652035"/>
              </a:xfrm>
              <a:prstGeom prst="blockArc">
                <a:avLst>
                  <a:gd name="adj1" fmla="val 10800000"/>
                  <a:gd name="adj2" fmla="val 91453"/>
                  <a:gd name="adj3" fmla="val 11241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760C56C3-8BCA-64EC-CF38-368D47524949}"/>
                  </a:ext>
                </a:extLst>
              </p:cNvPr>
              <p:cNvSpPr/>
              <p:nvPr/>
            </p:nvSpPr>
            <p:spPr>
              <a:xfrm rot="5400000" flipH="1">
                <a:off x="4171742" y="2714208"/>
                <a:ext cx="1041925" cy="926468"/>
              </a:xfrm>
              <a:prstGeom prst="blockArc">
                <a:avLst>
                  <a:gd name="adj1" fmla="val 10800000"/>
                  <a:gd name="adj2" fmla="val 117486"/>
                  <a:gd name="adj3" fmla="val 19828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55F5B2D-4E5F-D3A7-D143-14484F00DA40}"/>
                </a:ext>
              </a:extLst>
            </p:cNvPr>
            <p:cNvGrpSpPr/>
            <p:nvPr/>
          </p:nvGrpSpPr>
          <p:grpSpPr>
            <a:xfrm flipH="1">
              <a:off x="1994074" y="2744768"/>
              <a:ext cx="980553" cy="1029092"/>
              <a:chOff x="4200399" y="2771590"/>
              <a:chExt cx="980553" cy="1029092"/>
            </a:xfrm>
          </p:grpSpPr>
          <p:sp>
            <p:nvSpPr>
              <p:cNvPr id="49" name="Block Arc 48">
                <a:extLst>
                  <a:ext uri="{FF2B5EF4-FFF2-40B4-BE49-F238E27FC236}">
                    <a16:creationId xmlns:a16="http://schemas.microsoft.com/office/drawing/2014/main" id="{97D2B064-B3F3-1D5A-44F5-36A37FC92274}"/>
                  </a:ext>
                </a:extLst>
              </p:cNvPr>
              <p:cNvSpPr/>
              <p:nvPr/>
            </p:nvSpPr>
            <p:spPr>
              <a:xfrm rot="5400000" flipH="1">
                <a:off x="4155497" y="2929097"/>
                <a:ext cx="733808" cy="644004"/>
              </a:xfrm>
              <a:prstGeom prst="blockArc">
                <a:avLst>
                  <a:gd name="adj1" fmla="val 10800000"/>
                  <a:gd name="adj2" fmla="val 91453"/>
                  <a:gd name="adj3" fmla="val 11241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6BA999BE-F2FD-6E28-1828-F6C3E323025B}"/>
                  </a:ext>
                </a:extLst>
              </p:cNvPr>
              <p:cNvSpPr/>
              <p:nvPr/>
            </p:nvSpPr>
            <p:spPr>
              <a:xfrm rot="5400000" flipH="1">
                <a:off x="4208877" y="2828607"/>
                <a:ext cx="1029092" cy="915058"/>
              </a:xfrm>
              <a:prstGeom prst="blockArc">
                <a:avLst>
                  <a:gd name="adj1" fmla="val 10800000"/>
                  <a:gd name="adj2" fmla="val 117486"/>
                  <a:gd name="adj3" fmla="val 19828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1E746A-1753-BABD-6CE1-33080DA8D130}"/>
              </a:ext>
            </a:extLst>
          </p:cNvPr>
          <p:cNvGrpSpPr/>
          <p:nvPr/>
        </p:nvGrpSpPr>
        <p:grpSpPr>
          <a:xfrm>
            <a:off x="730200" y="4758609"/>
            <a:ext cx="3589683" cy="1551590"/>
            <a:chOff x="4658391" y="4677926"/>
            <a:chExt cx="3589683" cy="155159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D92712F-31A4-FEB3-E9DF-2254C436E55C}"/>
                </a:ext>
              </a:extLst>
            </p:cNvPr>
            <p:cNvGrpSpPr/>
            <p:nvPr/>
          </p:nvGrpSpPr>
          <p:grpSpPr>
            <a:xfrm rot="21181020">
              <a:off x="5672094" y="4677926"/>
              <a:ext cx="1652110" cy="1551590"/>
              <a:chOff x="4380769" y="3548432"/>
              <a:chExt cx="1674744" cy="1572846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788919A7-77B9-27F6-8D88-952CEAE43190}"/>
                  </a:ext>
                </a:extLst>
              </p:cNvPr>
              <p:cNvGrpSpPr/>
              <p:nvPr/>
            </p:nvGrpSpPr>
            <p:grpSpPr>
              <a:xfrm>
                <a:off x="4380769" y="4044976"/>
                <a:ext cx="1674744" cy="1076302"/>
                <a:chOff x="4380769" y="4044976"/>
                <a:chExt cx="1674744" cy="1076302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327F3D10-1B25-4883-B0AB-4BD920CF2F6C}"/>
                    </a:ext>
                  </a:extLst>
                </p:cNvPr>
                <p:cNvGrpSpPr/>
                <p:nvPr/>
              </p:nvGrpSpPr>
              <p:grpSpPr>
                <a:xfrm>
                  <a:off x="4380769" y="4044976"/>
                  <a:ext cx="1674744" cy="607895"/>
                  <a:chOff x="6950009" y="6167584"/>
                  <a:chExt cx="503926" cy="182914"/>
                </a:xfrm>
              </p:grpSpPr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245CA044-3FDF-3855-B1D6-ADD9202795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950009" y="6201649"/>
                    <a:ext cx="142974" cy="142433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Univers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08BCB502-1EBF-E8F4-74C7-6B8EB5CE9F1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270325" y="6167584"/>
                    <a:ext cx="183610" cy="18291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25400">
                    <a:solidFill>
                      <a:srgbClr val="40AAB0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Univers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07297D83-A8BF-2912-F1C4-723CB7DAEE4A}"/>
                    </a:ext>
                  </a:extLst>
                </p:cNvPr>
                <p:cNvSpPr/>
                <p:nvPr/>
              </p:nvSpPr>
              <p:spPr>
                <a:xfrm rot="11127688">
                  <a:off x="4642721" y="4634572"/>
                  <a:ext cx="1086997" cy="486706"/>
                </a:xfrm>
                <a:custGeom>
                  <a:avLst/>
                  <a:gdLst>
                    <a:gd name="connsiteX0" fmla="*/ 0 w 825022"/>
                    <a:gd name="connsiteY0" fmla="*/ 387078 h 387078"/>
                    <a:gd name="connsiteX1" fmla="*/ 178755 w 825022"/>
                    <a:gd name="connsiteY1" fmla="*/ 77694 h 387078"/>
                    <a:gd name="connsiteX2" fmla="*/ 529389 w 825022"/>
                    <a:gd name="connsiteY2" fmla="*/ 2067 h 387078"/>
                    <a:gd name="connsiteX3" fmla="*/ 825022 w 825022"/>
                    <a:gd name="connsiteY3" fmla="*/ 132696 h 387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5022" h="387078">
                      <a:moveTo>
                        <a:pt x="0" y="387078"/>
                      </a:moveTo>
                      <a:cubicBezTo>
                        <a:pt x="45262" y="264470"/>
                        <a:pt x="90524" y="141862"/>
                        <a:pt x="178755" y="77694"/>
                      </a:cubicBezTo>
                      <a:cubicBezTo>
                        <a:pt x="266987" y="13525"/>
                        <a:pt x="421678" y="-7100"/>
                        <a:pt x="529389" y="2067"/>
                      </a:cubicBezTo>
                      <a:cubicBezTo>
                        <a:pt x="637100" y="11234"/>
                        <a:pt x="731061" y="71965"/>
                        <a:pt x="825022" y="132696"/>
                      </a:cubicBezTo>
                    </a:path>
                  </a:pathLst>
                </a:custGeom>
                <a:noFill/>
                <a:ln w="50800">
                  <a:solidFill>
                    <a:srgbClr val="484848"/>
                  </a:solidFill>
                  <a:headEnd type="stealth"/>
                </a:ln>
                <a:scene3d>
                  <a:camera prst="orthographicFront">
                    <a:rot lat="360000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BC4AF779-D2F3-4CEB-13FA-163931A673C2}"/>
                  </a:ext>
                </a:extLst>
              </p:cNvPr>
              <p:cNvSpPr/>
              <p:nvPr/>
            </p:nvSpPr>
            <p:spPr>
              <a:xfrm rot="512069">
                <a:off x="4695753" y="3548432"/>
                <a:ext cx="940117" cy="420780"/>
              </a:xfrm>
              <a:custGeom>
                <a:avLst/>
                <a:gdLst>
                  <a:gd name="connsiteX0" fmla="*/ 0 w 825022"/>
                  <a:gd name="connsiteY0" fmla="*/ 387078 h 387078"/>
                  <a:gd name="connsiteX1" fmla="*/ 178755 w 825022"/>
                  <a:gd name="connsiteY1" fmla="*/ 77694 h 387078"/>
                  <a:gd name="connsiteX2" fmla="*/ 529389 w 825022"/>
                  <a:gd name="connsiteY2" fmla="*/ 2067 h 387078"/>
                  <a:gd name="connsiteX3" fmla="*/ 825022 w 825022"/>
                  <a:gd name="connsiteY3" fmla="*/ 132696 h 38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5022" h="387078">
                    <a:moveTo>
                      <a:pt x="0" y="387078"/>
                    </a:moveTo>
                    <a:cubicBezTo>
                      <a:pt x="45262" y="264470"/>
                      <a:pt x="90524" y="141862"/>
                      <a:pt x="178755" y="77694"/>
                    </a:cubicBezTo>
                    <a:cubicBezTo>
                      <a:pt x="266987" y="13525"/>
                      <a:pt x="421678" y="-7100"/>
                      <a:pt x="529389" y="2067"/>
                    </a:cubicBezTo>
                    <a:cubicBezTo>
                      <a:pt x="637100" y="11234"/>
                      <a:pt x="731061" y="71965"/>
                      <a:pt x="825022" y="132696"/>
                    </a:cubicBezTo>
                  </a:path>
                </a:pathLst>
              </a:custGeom>
              <a:noFill/>
              <a:ln w="53975">
                <a:solidFill>
                  <a:srgbClr val="484848"/>
                </a:solidFill>
                <a:headEnd type="stealth"/>
                <a:tailEnd w="lg" len="lg"/>
              </a:ln>
              <a:scene3d>
                <a:camera prst="orthographicFront">
                  <a:rot lat="18299985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  <p:sp>
          <p:nvSpPr>
            <p:cNvPr id="64" name="Block Arc 63">
              <a:extLst>
                <a:ext uri="{FF2B5EF4-FFF2-40B4-BE49-F238E27FC236}">
                  <a16:creationId xmlns:a16="http://schemas.microsoft.com/office/drawing/2014/main" id="{39EE3AB9-0952-031F-797E-02C65F4B9526}"/>
                </a:ext>
              </a:extLst>
            </p:cNvPr>
            <p:cNvSpPr/>
            <p:nvPr/>
          </p:nvSpPr>
          <p:spPr>
            <a:xfrm rot="16200000">
              <a:off x="5020673" y="5245883"/>
              <a:ext cx="776158" cy="681171"/>
            </a:xfrm>
            <a:prstGeom prst="blockArc">
              <a:avLst>
                <a:gd name="adj1" fmla="val 10800000"/>
                <a:gd name="adj2" fmla="val 21187614"/>
                <a:gd name="adj3" fmla="val 15766"/>
              </a:avLst>
            </a:prstGeom>
            <a:solidFill>
              <a:srgbClr val="B7B7B7"/>
            </a:solidFill>
            <a:ln>
              <a:noFill/>
            </a:ln>
            <a:scene3d>
              <a:camera prst="orthographicFront">
                <a:rot lat="0" lon="17099979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nivers"/>
                <a:ea typeface="+mn-ea"/>
                <a:cs typeface="+mn-cs"/>
              </a:endParaRPr>
            </a:p>
          </p:txBody>
        </p:sp>
        <p:sp>
          <p:nvSpPr>
            <p:cNvPr id="65" name="Block Arc 64">
              <a:extLst>
                <a:ext uri="{FF2B5EF4-FFF2-40B4-BE49-F238E27FC236}">
                  <a16:creationId xmlns:a16="http://schemas.microsoft.com/office/drawing/2014/main" id="{5CC5772A-CA24-F99E-71FA-CF66FAEECBBF}"/>
                </a:ext>
              </a:extLst>
            </p:cNvPr>
            <p:cNvSpPr/>
            <p:nvPr/>
          </p:nvSpPr>
          <p:spPr>
            <a:xfrm rot="16200000">
              <a:off x="4598083" y="5100482"/>
              <a:ext cx="1088483" cy="967868"/>
            </a:xfrm>
            <a:prstGeom prst="blockArc">
              <a:avLst>
                <a:gd name="adj1" fmla="val 10800000"/>
                <a:gd name="adj2" fmla="val 20963856"/>
                <a:gd name="adj3" fmla="val 11403"/>
              </a:avLst>
            </a:prstGeom>
            <a:solidFill>
              <a:srgbClr val="B7B7B7"/>
            </a:solidFill>
            <a:ln>
              <a:noFill/>
            </a:ln>
            <a:scene3d>
              <a:camera prst="orthographicFront">
                <a:rot lat="0" lon="17099979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nivers"/>
                <a:ea typeface="+mn-ea"/>
                <a:cs typeface="+mn-cs"/>
              </a:endParaRPr>
            </a:p>
          </p:txBody>
        </p:sp>
        <p:sp>
          <p:nvSpPr>
            <p:cNvPr id="77" name="Block Arc 76">
              <a:extLst>
                <a:ext uri="{FF2B5EF4-FFF2-40B4-BE49-F238E27FC236}">
                  <a16:creationId xmlns:a16="http://schemas.microsoft.com/office/drawing/2014/main" id="{E377F22C-DB43-DBD5-48AD-D052287A83E8}"/>
                </a:ext>
              </a:extLst>
            </p:cNvPr>
            <p:cNvSpPr/>
            <p:nvPr/>
          </p:nvSpPr>
          <p:spPr>
            <a:xfrm rot="5400000" flipH="1">
              <a:off x="7171160" y="5077476"/>
              <a:ext cx="776158" cy="681171"/>
            </a:xfrm>
            <a:prstGeom prst="blockArc">
              <a:avLst>
                <a:gd name="adj1" fmla="val 10800000"/>
                <a:gd name="adj2" fmla="val 21187614"/>
                <a:gd name="adj3" fmla="val 15766"/>
              </a:avLst>
            </a:prstGeom>
            <a:solidFill>
              <a:srgbClr val="B7B7B7"/>
            </a:solidFill>
            <a:ln>
              <a:noFill/>
            </a:ln>
            <a:scene3d>
              <a:camera prst="orthographicFront">
                <a:rot lat="0" lon="17099979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nivers"/>
                <a:ea typeface="+mn-ea"/>
                <a:cs typeface="+mn-cs"/>
              </a:endParaRPr>
            </a:p>
          </p:txBody>
        </p:sp>
        <p:sp>
          <p:nvSpPr>
            <p:cNvPr id="79" name="Block Arc 78">
              <a:extLst>
                <a:ext uri="{FF2B5EF4-FFF2-40B4-BE49-F238E27FC236}">
                  <a16:creationId xmlns:a16="http://schemas.microsoft.com/office/drawing/2014/main" id="{C5627017-BA9F-8E3C-534F-0299C80DE4B2}"/>
                </a:ext>
              </a:extLst>
            </p:cNvPr>
            <p:cNvSpPr/>
            <p:nvPr/>
          </p:nvSpPr>
          <p:spPr>
            <a:xfrm rot="5400000" flipH="1">
              <a:off x="7219898" y="4934128"/>
              <a:ext cx="1088483" cy="967868"/>
            </a:xfrm>
            <a:prstGeom prst="blockArc">
              <a:avLst>
                <a:gd name="adj1" fmla="val 10800000"/>
                <a:gd name="adj2" fmla="val 20963856"/>
                <a:gd name="adj3" fmla="val 11403"/>
              </a:avLst>
            </a:prstGeom>
            <a:solidFill>
              <a:srgbClr val="B7B7B7"/>
            </a:solidFill>
            <a:ln>
              <a:noFill/>
            </a:ln>
            <a:scene3d>
              <a:camera prst="orthographicFront">
                <a:rot lat="0" lon="17099979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nivers"/>
                <a:ea typeface="+mn-ea"/>
                <a:cs typeface="+mn-cs"/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C092957B-BB46-1E8E-3C96-E97966D0A3F1}"/>
              </a:ext>
            </a:extLst>
          </p:cNvPr>
          <p:cNvSpPr txBox="1"/>
          <p:nvPr/>
        </p:nvSpPr>
        <p:spPr>
          <a:xfrm>
            <a:off x="452746" y="239691"/>
            <a:ext cx="554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4D3324"/>
                </a:solidFill>
              </a:rPr>
              <a:t>E. Double compact object mergers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97FCC69-1F85-01FE-BB48-94B13C257C6C}"/>
              </a:ext>
            </a:extLst>
          </p:cNvPr>
          <p:cNvSpPr txBox="1"/>
          <p:nvPr/>
        </p:nvSpPr>
        <p:spPr>
          <a:xfrm>
            <a:off x="10534863" y="3778532"/>
            <a:ext cx="23082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b="1" dirty="0">
                <a:solidFill>
                  <a:srgbClr val="000000"/>
                </a:solidFill>
                <a:latin typeface="Calibri" panose="020F0502020204030204"/>
              </a:rPr>
              <a:t>In gas disk of Active Galactic Nuclei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238DA37-88CD-0006-68F5-F67A8E09D001}"/>
              </a:ext>
            </a:extLst>
          </p:cNvPr>
          <p:cNvGrpSpPr/>
          <p:nvPr/>
        </p:nvGrpSpPr>
        <p:grpSpPr>
          <a:xfrm>
            <a:off x="5068033" y="3117236"/>
            <a:ext cx="2114122" cy="2389149"/>
            <a:chOff x="6711696" y="4210282"/>
            <a:chExt cx="2114122" cy="2389149"/>
          </a:xfrm>
        </p:grpSpPr>
        <p:sp>
          <p:nvSpPr>
            <p:cNvPr id="89" name="Doughnut 96">
              <a:extLst>
                <a:ext uri="{FF2B5EF4-FFF2-40B4-BE49-F238E27FC236}">
                  <a16:creationId xmlns:a16="http://schemas.microsoft.com/office/drawing/2014/main" id="{50B91598-C32C-770B-41E1-FAFE1AE37CE0}"/>
                </a:ext>
              </a:extLst>
            </p:cNvPr>
            <p:cNvSpPr/>
            <p:nvPr/>
          </p:nvSpPr>
          <p:spPr>
            <a:xfrm rot="21266905">
              <a:off x="6711696" y="4210282"/>
              <a:ext cx="2114122" cy="2389149"/>
            </a:xfrm>
            <a:prstGeom prst="donut">
              <a:avLst>
                <a:gd name="adj" fmla="val 25970"/>
              </a:avLst>
            </a:prstGeom>
            <a:gradFill>
              <a:gsLst>
                <a:gs pos="75000">
                  <a:srgbClr val="82ADE4">
                    <a:lumMod val="69000"/>
                  </a:srgbClr>
                </a:gs>
                <a:gs pos="53000">
                  <a:srgbClr val="A2D1EC"/>
                </a:gs>
                <a:gs pos="42000">
                  <a:srgbClr val="699ECF"/>
                </a:gs>
                <a:gs pos="12000">
                  <a:srgbClr val="E6F5FB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scene3d>
              <a:camera prst="orthographicFront">
                <a:rot lat="16799982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sz="1524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3011F403-E27A-C4A5-F673-15F3834EB80A}"/>
                </a:ext>
              </a:extLst>
            </p:cNvPr>
            <p:cNvGrpSpPr/>
            <p:nvPr/>
          </p:nvGrpSpPr>
          <p:grpSpPr>
            <a:xfrm>
              <a:off x="6928453" y="4447519"/>
              <a:ext cx="1689004" cy="1908728"/>
              <a:chOff x="6928453" y="4447519"/>
              <a:chExt cx="1689004" cy="1908728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8ACF1DAF-3AAC-18F7-5BA4-9122CD059C4C}"/>
                  </a:ext>
                </a:extLst>
              </p:cNvPr>
              <p:cNvSpPr/>
              <p:nvPr/>
            </p:nvSpPr>
            <p:spPr>
              <a:xfrm>
                <a:off x="7521837" y="5335873"/>
                <a:ext cx="171338" cy="17790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sz="1524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90" name="Doughnut 97">
                <a:extLst>
                  <a:ext uri="{FF2B5EF4-FFF2-40B4-BE49-F238E27FC236}">
                    <a16:creationId xmlns:a16="http://schemas.microsoft.com/office/drawing/2014/main" id="{ECF660B2-24FE-5421-520A-2548E0CF9819}"/>
                  </a:ext>
                </a:extLst>
              </p:cNvPr>
              <p:cNvSpPr/>
              <p:nvPr/>
            </p:nvSpPr>
            <p:spPr>
              <a:xfrm rot="21249571">
                <a:off x="6928453" y="4447519"/>
                <a:ext cx="1689004" cy="1908728"/>
              </a:xfrm>
              <a:prstGeom prst="donut">
                <a:avLst>
                  <a:gd name="adj" fmla="val 6235"/>
                </a:avLst>
              </a:prstGeom>
              <a:solidFill>
                <a:srgbClr val="68A0D2"/>
              </a:solidFill>
              <a:ln>
                <a:noFill/>
              </a:ln>
              <a:scene3d>
                <a:camera prst="orthographicFront">
                  <a:rot lat="16799982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sz="1524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96E9E80C-C235-D722-C76F-00A31D6666F6}"/>
                  </a:ext>
                </a:extLst>
              </p:cNvPr>
              <p:cNvSpPr/>
              <p:nvPr/>
            </p:nvSpPr>
            <p:spPr>
              <a:xfrm>
                <a:off x="7871797" y="5279072"/>
                <a:ext cx="171338" cy="17790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sz="1524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49625F90-AFB2-B921-9533-AB04ADC2ADF8}"/>
                  </a:ext>
                </a:extLst>
              </p:cNvPr>
              <p:cNvSpPr/>
              <p:nvPr/>
            </p:nvSpPr>
            <p:spPr>
              <a:xfrm rot="10613454">
                <a:off x="7691487" y="5383640"/>
                <a:ext cx="381259" cy="267252"/>
              </a:xfrm>
              <a:custGeom>
                <a:avLst/>
                <a:gdLst>
                  <a:gd name="connsiteX0" fmla="*/ 0 w 825022"/>
                  <a:gd name="connsiteY0" fmla="*/ 387078 h 387078"/>
                  <a:gd name="connsiteX1" fmla="*/ 178755 w 825022"/>
                  <a:gd name="connsiteY1" fmla="*/ 77694 h 387078"/>
                  <a:gd name="connsiteX2" fmla="*/ 529389 w 825022"/>
                  <a:gd name="connsiteY2" fmla="*/ 2067 h 387078"/>
                  <a:gd name="connsiteX3" fmla="*/ 825022 w 825022"/>
                  <a:gd name="connsiteY3" fmla="*/ 132696 h 38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5022" h="387078">
                    <a:moveTo>
                      <a:pt x="0" y="387078"/>
                    </a:moveTo>
                    <a:cubicBezTo>
                      <a:pt x="45262" y="264470"/>
                      <a:pt x="90524" y="141862"/>
                      <a:pt x="178755" y="77694"/>
                    </a:cubicBezTo>
                    <a:cubicBezTo>
                      <a:pt x="266987" y="13525"/>
                      <a:pt x="421678" y="-7100"/>
                      <a:pt x="529389" y="2067"/>
                    </a:cubicBezTo>
                    <a:cubicBezTo>
                      <a:pt x="637100" y="11234"/>
                      <a:pt x="731061" y="71965"/>
                      <a:pt x="825022" y="132696"/>
                    </a:cubicBezTo>
                  </a:path>
                </a:pathLst>
              </a:custGeom>
              <a:noFill/>
              <a:ln w="50800">
                <a:solidFill>
                  <a:srgbClr val="484848"/>
                </a:solidFill>
                <a:headEnd type="stealth"/>
              </a:ln>
              <a:scene3d>
                <a:camera prst="orthographicFront">
                  <a:rot lat="3600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085C908D-0C56-2BB3-CEDC-E950E7512D9F}"/>
                  </a:ext>
                </a:extLst>
              </p:cNvPr>
              <p:cNvSpPr/>
              <p:nvPr/>
            </p:nvSpPr>
            <p:spPr>
              <a:xfrm>
                <a:off x="7543827" y="5144904"/>
                <a:ext cx="335273" cy="150062"/>
              </a:xfrm>
              <a:custGeom>
                <a:avLst/>
                <a:gdLst>
                  <a:gd name="connsiteX0" fmla="*/ 0 w 825022"/>
                  <a:gd name="connsiteY0" fmla="*/ 387078 h 387078"/>
                  <a:gd name="connsiteX1" fmla="*/ 178755 w 825022"/>
                  <a:gd name="connsiteY1" fmla="*/ 77694 h 387078"/>
                  <a:gd name="connsiteX2" fmla="*/ 529389 w 825022"/>
                  <a:gd name="connsiteY2" fmla="*/ 2067 h 387078"/>
                  <a:gd name="connsiteX3" fmla="*/ 825022 w 825022"/>
                  <a:gd name="connsiteY3" fmla="*/ 132696 h 38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5022" h="387078">
                    <a:moveTo>
                      <a:pt x="0" y="387078"/>
                    </a:moveTo>
                    <a:cubicBezTo>
                      <a:pt x="45262" y="264470"/>
                      <a:pt x="90524" y="141862"/>
                      <a:pt x="178755" y="77694"/>
                    </a:cubicBezTo>
                    <a:cubicBezTo>
                      <a:pt x="266987" y="13525"/>
                      <a:pt x="421678" y="-7100"/>
                      <a:pt x="529389" y="2067"/>
                    </a:cubicBezTo>
                    <a:cubicBezTo>
                      <a:pt x="637100" y="11234"/>
                      <a:pt x="731061" y="71965"/>
                      <a:pt x="825022" y="132696"/>
                    </a:cubicBezTo>
                  </a:path>
                </a:pathLst>
              </a:custGeom>
              <a:noFill/>
              <a:ln w="53975">
                <a:solidFill>
                  <a:srgbClr val="484848"/>
                </a:solidFill>
                <a:headEnd type="stealth"/>
                <a:tailEnd w="lg" len="lg"/>
              </a:ln>
              <a:scene3d>
                <a:camera prst="orthographicFront">
                  <a:rot lat="18299985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603F6B1-9D7C-28DF-0929-720A56BE0EF9}"/>
              </a:ext>
            </a:extLst>
          </p:cNvPr>
          <p:cNvGrpSpPr/>
          <p:nvPr/>
        </p:nvGrpSpPr>
        <p:grpSpPr>
          <a:xfrm>
            <a:off x="1884188" y="2898537"/>
            <a:ext cx="3543451" cy="1466931"/>
            <a:chOff x="1797252" y="2474874"/>
            <a:chExt cx="3543451" cy="1466931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65C5171-C902-EB3A-601F-ACE9AEAED991}"/>
                </a:ext>
              </a:extLst>
            </p:cNvPr>
            <p:cNvGrpSpPr/>
            <p:nvPr/>
          </p:nvGrpSpPr>
          <p:grpSpPr>
            <a:xfrm>
              <a:off x="2815456" y="2474874"/>
              <a:ext cx="1504418" cy="1466931"/>
              <a:chOff x="4442473" y="3548432"/>
              <a:chExt cx="1613042" cy="1572846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3AE63FE0-6195-47EF-01F9-55C4275219AD}"/>
                  </a:ext>
                </a:extLst>
              </p:cNvPr>
              <p:cNvGrpSpPr/>
              <p:nvPr/>
            </p:nvGrpSpPr>
            <p:grpSpPr>
              <a:xfrm>
                <a:off x="4442473" y="4044976"/>
                <a:ext cx="1613042" cy="1076302"/>
                <a:chOff x="4442473" y="4044976"/>
                <a:chExt cx="1613042" cy="1076302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21A68FB2-AF7B-0BF3-5EB4-412080B049EA}"/>
                    </a:ext>
                  </a:extLst>
                </p:cNvPr>
                <p:cNvGrpSpPr/>
                <p:nvPr/>
              </p:nvGrpSpPr>
              <p:grpSpPr>
                <a:xfrm>
                  <a:off x="4442473" y="4044976"/>
                  <a:ext cx="1613042" cy="607895"/>
                  <a:chOff x="6968575" y="6167584"/>
                  <a:chExt cx="485360" cy="182914"/>
                </a:xfrm>
              </p:grpSpPr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C27478BB-7A34-5DBF-33E6-AE1788595C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968575" y="6205217"/>
                    <a:ext cx="130854" cy="130358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FFFFFF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Univers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2DD382F9-A84E-8844-8E6F-E594CAD3C5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270325" y="6167584"/>
                    <a:ext cx="183610" cy="182914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FFFFFF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Univers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36" name="Freeform 135">
                  <a:extLst>
                    <a:ext uri="{FF2B5EF4-FFF2-40B4-BE49-F238E27FC236}">
                      <a16:creationId xmlns:a16="http://schemas.microsoft.com/office/drawing/2014/main" id="{642DD8C2-6CA6-69E4-DA7F-511E55622A12}"/>
                    </a:ext>
                  </a:extLst>
                </p:cNvPr>
                <p:cNvSpPr/>
                <p:nvPr/>
              </p:nvSpPr>
              <p:spPr>
                <a:xfrm rot="11127688">
                  <a:off x="4642721" y="4634572"/>
                  <a:ext cx="1086997" cy="486706"/>
                </a:xfrm>
                <a:custGeom>
                  <a:avLst/>
                  <a:gdLst>
                    <a:gd name="connsiteX0" fmla="*/ 0 w 825022"/>
                    <a:gd name="connsiteY0" fmla="*/ 387078 h 387078"/>
                    <a:gd name="connsiteX1" fmla="*/ 178755 w 825022"/>
                    <a:gd name="connsiteY1" fmla="*/ 77694 h 387078"/>
                    <a:gd name="connsiteX2" fmla="*/ 529389 w 825022"/>
                    <a:gd name="connsiteY2" fmla="*/ 2067 h 387078"/>
                    <a:gd name="connsiteX3" fmla="*/ 825022 w 825022"/>
                    <a:gd name="connsiteY3" fmla="*/ 132696 h 387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5022" h="387078">
                      <a:moveTo>
                        <a:pt x="0" y="387078"/>
                      </a:moveTo>
                      <a:cubicBezTo>
                        <a:pt x="45262" y="264470"/>
                        <a:pt x="90524" y="141862"/>
                        <a:pt x="178755" y="77694"/>
                      </a:cubicBezTo>
                      <a:cubicBezTo>
                        <a:pt x="266987" y="13525"/>
                        <a:pt x="421678" y="-7100"/>
                        <a:pt x="529389" y="2067"/>
                      </a:cubicBezTo>
                      <a:cubicBezTo>
                        <a:pt x="637100" y="11234"/>
                        <a:pt x="731061" y="71965"/>
                        <a:pt x="825022" y="132696"/>
                      </a:cubicBezTo>
                    </a:path>
                  </a:pathLst>
                </a:custGeom>
                <a:noFill/>
                <a:ln w="50800">
                  <a:solidFill>
                    <a:srgbClr val="484848"/>
                  </a:solidFill>
                  <a:headEnd type="stealth"/>
                </a:ln>
                <a:scene3d>
                  <a:camera prst="orthographicFront">
                    <a:rot lat="360000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F1E0D14-6D50-F43B-7242-70FF7204409E}"/>
                  </a:ext>
                </a:extLst>
              </p:cNvPr>
              <p:cNvSpPr/>
              <p:nvPr/>
            </p:nvSpPr>
            <p:spPr>
              <a:xfrm rot="512069">
                <a:off x="4695753" y="3548432"/>
                <a:ext cx="940117" cy="420780"/>
              </a:xfrm>
              <a:custGeom>
                <a:avLst/>
                <a:gdLst>
                  <a:gd name="connsiteX0" fmla="*/ 0 w 825022"/>
                  <a:gd name="connsiteY0" fmla="*/ 387078 h 387078"/>
                  <a:gd name="connsiteX1" fmla="*/ 178755 w 825022"/>
                  <a:gd name="connsiteY1" fmla="*/ 77694 h 387078"/>
                  <a:gd name="connsiteX2" fmla="*/ 529389 w 825022"/>
                  <a:gd name="connsiteY2" fmla="*/ 2067 h 387078"/>
                  <a:gd name="connsiteX3" fmla="*/ 825022 w 825022"/>
                  <a:gd name="connsiteY3" fmla="*/ 132696 h 38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5022" h="387078">
                    <a:moveTo>
                      <a:pt x="0" y="387078"/>
                    </a:moveTo>
                    <a:cubicBezTo>
                      <a:pt x="45262" y="264470"/>
                      <a:pt x="90524" y="141862"/>
                      <a:pt x="178755" y="77694"/>
                    </a:cubicBezTo>
                    <a:cubicBezTo>
                      <a:pt x="266987" y="13525"/>
                      <a:pt x="421678" y="-7100"/>
                      <a:pt x="529389" y="2067"/>
                    </a:cubicBezTo>
                    <a:cubicBezTo>
                      <a:pt x="637100" y="11234"/>
                      <a:pt x="731061" y="71965"/>
                      <a:pt x="825022" y="132696"/>
                    </a:cubicBezTo>
                  </a:path>
                </a:pathLst>
              </a:custGeom>
              <a:noFill/>
              <a:ln w="53975">
                <a:solidFill>
                  <a:srgbClr val="484848"/>
                </a:solidFill>
                <a:headEnd type="stealth"/>
                <a:tailEnd w="lg" len="lg"/>
              </a:ln>
              <a:scene3d>
                <a:camera prst="orthographicFront">
                  <a:rot lat="18299985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50520E9E-B5FF-E04D-CFC9-1D56880CF038}"/>
                </a:ext>
              </a:extLst>
            </p:cNvPr>
            <p:cNvGrpSpPr/>
            <p:nvPr/>
          </p:nvGrpSpPr>
          <p:grpSpPr>
            <a:xfrm>
              <a:off x="4060818" y="2659587"/>
              <a:ext cx="1279885" cy="1247782"/>
              <a:chOff x="4134960" y="2659587"/>
              <a:chExt cx="1279885" cy="1247782"/>
            </a:xfrm>
          </p:grpSpPr>
          <p:sp>
            <p:nvSpPr>
              <p:cNvPr id="131" name="Block Arc 130">
                <a:extLst>
                  <a:ext uri="{FF2B5EF4-FFF2-40B4-BE49-F238E27FC236}">
                    <a16:creationId xmlns:a16="http://schemas.microsoft.com/office/drawing/2014/main" id="{C3ACC93E-C0EF-313A-6A07-0ED0891F796F}"/>
                  </a:ext>
                </a:extLst>
              </p:cNvPr>
              <p:cNvSpPr/>
              <p:nvPr/>
            </p:nvSpPr>
            <p:spPr>
              <a:xfrm rot="5400000" flipH="1">
                <a:off x="4080516" y="2893048"/>
                <a:ext cx="889748" cy="780860"/>
              </a:xfrm>
              <a:prstGeom prst="blockArc">
                <a:avLst>
                  <a:gd name="adj1" fmla="val 10800000"/>
                  <a:gd name="adj2" fmla="val 91453"/>
                  <a:gd name="adj3" fmla="val 11241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  <p:sp>
            <p:nvSpPr>
              <p:cNvPr id="132" name="Block Arc 131">
                <a:extLst>
                  <a:ext uri="{FF2B5EF4-FFF2-40B4-BE49-F238E27FC236}">
                    <a16:creationId xmlns:a16="http://schemas.microsoft.com/office/drawing/2014/main" id="{E25A9E67-9528-B748-1272-3E476125F838}"/>
                  </a:ext>
                </a:extLst>
              </p:cNvPr>
              <p:cNvSpPr/>
              <p:nvPr/>
            </p:nvSpPr>
            <p:spPr>
              <a:xfrm rot="5400000" flipH="1">
                <a:off x="4236197" y="2728721"/>
                <a:ext cx="1247782" cy="1109514"/>
              </a:xfrm>
              <a:prstGeom prst="blockArc">
                <a:avLst>
                  <a:gd name="adj1" fmla="val 10800000"/>
                  <a:gd name="adj2" fmla="val 117486"/>
                  <a:gd name="adj3" fmla="val 19828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97C13D98-F3B0-E6BD-1B13-64CFDE55319C}"/>
                </a:ext>
              </a:extLst>
            </p:cNvPr>
            <p:cNvGrpSpPr/>
            <p:nvPr/>
          </p:nvGrpSpPr>
          <p:grpSpPr>
            <a:xfrm flipH="1">
              <a:off x="1797252" y="2632765"/>
              <a:ext cx="1292242" cy="1247782"/>
              <a:chOff x="4085532" y="2659587"/>
              <a:chExt cx="1292242" cy="1247782"/>
            </a:xfrm>
          </p:grpSpPr>
          <p:sp>
            <p:nvSpPr>
              <p:cNvPr id="125" name="Block Arc 124">
                <a:extLst>
                  <a:ext uri="{FF2B5EF4-FFF2-40B4-BE49-F238E27FC236}">
                    <a16:creationId xmlns:a16="http://schemas.microsoft.com/office/drawing/2014/main" id="{6E5DB943-4D3C-D2CA-7E86-631FCEB77D47}"/>
                  </a:ext>
                </a:extLst>
              </p:cNvPr>
              <p:cNvSpPr/>
              <p:nvPr/>
            </p:nvSpPr>
            <p:spPr>
              <a:xfrm rot="5400000" flipH="1">
                <a:off x="4031088" y="2893048"/>
                <a:ext cx="889748" cy="780860"/>
              </a:xfrm>
              <a:prstGeom prst="blockArc">
                <a:avLst>
                  <a:gd name="adj1" fmla="val 10800000"/>
                  <a:gd name="adj2" fmla="val 91453"/>
                  <a:gd name="adj3" fmla="val 11241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  <p:sp>
            <p:nvSpPr>
              <p:cNvPr id="130" name="Block Arc 129">
                <a:extLst>
                  <a:ext uri="{FF2B5EF4-FFF2-40B4-BE49-F238E27FC236}">
                    <a16:creationId xmlns:a16="http://schemas.microsoft.com/office/drawing/2014/main" id="{A0668AF2-42FE-6CAD-1384-B9045A05CF69}"/>
                  </a:ext>
                </a:extLst>
              </p:cNvPr>
              <p:cNvSpPr/>
              <p:nvPr/>
            </p:nvSpPr>
            <p:spPr>
              <a:xfrm rot="5400000" flipH="1">
                <a:off x="4199126" y="2728721"/>
                <a:ext cx="1247782" cy="1109514"/>
              </a:xfrm>
              <a:prstGeom prst="blockArc">
                <a:avLst>
                  <a:gd name="adj1" fmla="val 10800000"/>
                  <a:gd name="adj2" fmla="val 117486"/>
                  <a:gd name="adj3" fmla="val 19828"/>
                </a:avLst>
              </a:prstGeom>
              <a:solidFill>
                <a:srgbClr val="B7B7B7"/>
              </a:solidFill>
              <a:ln>
                <a:noFill/>
              </a:ln>
              <a:scene3d>
                <a:camera prst="orthographicFront">
                  <a:rot lat="0" lon="17099979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00758A1-D20D-F98F-1320-8BE9E6E7C1B7}"/>
              </a:ext>
            </a:extLst>
          </p:cNvPr>
          <p:cNvGrpSpPr/>
          <p:nvPr/>
        </p:nvGrpSpPr>
        <p:grpSpPr>
          <a:xfrm>
            <a:off x="9050216" y="4729404"/>
            <a:ext cx="2114122" cy="2389149"/>
            <a:chOff x="9050216" y="4729404"/>
            <a:chExt cx="2114122" cy="2389149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51A6848-432B-7290-11D6-849BE19A4428}"/>
                </a:ext>
              </a:extLst>
            </p:cNvPr>
            <p:cNvGrpSpPr/>
            <p:nvPr/>
          </p:nvGrpSpPr>
          <p:grpSpPr>
            <a:xfrm>
              <a:off x="9050216" y="4729404"/>
              <a:ext cx="2114122" cy="2389149"/>
              <a:chOff x="6711696" y="4210282"/>
              <a:chExt cx="2114122" cy="2389149"/>
            </a:xfrm>
          </p:grpSpPr>
          <p:sp>
            <p:nvSpPr>
              <p:cNvPr id="140" name="Doughnut 96">
                <a:extLst>
                  <a:ext uri="{FF2B5EF4-FFF2-40B4-BE49-F238E27FC236}">
                    <a16:creationId xmlns:a16="http://schemas.microsoft.com/office/drawing/2014/main" id="{9AAB3CF9-D99D-3435-8825-1D327E279463}"/>
                  </a:ext>
                </a:extLst>
              </p:cNvPr>
              <p:cNvSpPr/>
              <p:nvPr/>
            </p:nvSpPr>
            <p:spPr>
              <a:xfrm rot="21266905">
                <a:off x="6711696" y="4210282"/>
                <a:ext cx="2114122" cy="2389149"/>
              </a:xfrm>
              <a:prstGeom prst="donut">
                <a:avLst>
                  <a:gd name="adj" fmla="val 30689"/>
                </a:avLst>
              </a:prstGeom>
              <a:gradFill>
                <a:gsLst>
                  <a:gs pos="75000">
                    <a:srgbClr val="82ADE4">
                      <a:lumMod val="69000"/>
                    </a:srgbClr>
                  </a:gs>
                  <a:gs pos="53000">
                    <a:srgbClr val="A2D1EC"/>
                  </a:gs>
                  <a:gs pos="42000">
                    <a:srgbClr val="699ECF"/>
                  </a:gs>
                  <a:gs pos="12000">
                    <a:srgbClr val="E6F5FB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scene3d>
                <a:camera prst="orthographicFront">
                  <a:rot lat="16799982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sz="1524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ED3D245E-AE04-D983-A897-6FCE99149146}"/>
                  </a:ext>
                </a:extLst>
              </p:cNvPr>
              <p:cNvGrpSpPr/>
              <p:nvPr/>
            </p:nvGrpSpPr>
            <p:grpSpPr>
              <a:xfrm>
                <a:off x="6928453" y="4447519"/>
                <a:ext cx="1689004" cy="1908728"/>
                <a:chOff x="6928453" y="4447519"/>
                <a:chExt cx="1689004" cy="1908728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895FC2C3-6DC5-07D2-80FB-949988950173}"/>
                    </a:ext>
                  </a:extLst>
                </p:cNvPr>
                <p:cNvSpPr/>
                <p:nvPr/>
              </p:nvSpPr>
              <p:spPr>
                <a:xfrm>
                  <a:off x="7387569" y="5590791"/>
                  <a:ext cx="54704" cy="5680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sz="1524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4" name="Doughnut 97">
                  <a:extLst>
                    <a:ext uri="{FF2B5EF4-FFF2-40B4-BE49-F238E27FC236}">
                      <a16:creationId xmlns:a16="http://schemas.microsoft.com/office/drawing/2014/main" id="{E1DEC2D9-863A-D658-C5F8-E5D230E7D833}"/>
                    </a:ext>
                  </a:extLst>
                </p:cNvPr>
                <p:cNvSpPr/>
                <p:nvPr/>
              </p:nvSpPr>
              <p:spPr>
                <a:xfrm rot="21249571">
                  <a:off x="6928453" y="4447519"/>
                  <a:ext cx="1689004" cy="1908728"/>
                </a:xfrm>
                <a:prstGeom prst="donut">
                  <a:avLst>
                    <a:gd name="adj" fmla="val 6235"/>
                  </a:avLst>
                </a:prstGeom>
                <a:solidFill>
                  <a:srgbClr val="68A0D2"/>
                </a:solidFill>
                <a:ln>
                  <a:noFill/>
                </a:ln>
                <a:scene3d>
                  <a:camera prst="orthographicFront">
                    <a:rot lat="16799982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sz="1524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537116E6-1AA6-6AA7-8F2A-D40FBBC78A18}"/>
                    </a:ext>
                  </a:extLst>
                </p:cNvPr>
                <p:cNvSpPr/>
                <p:nvPr/>
              </p:nvSpPr>
              <p:spPr>
                <a:xfrm>
                  <a:off x="7706317" y="5296651"/>
                  <a:ext cx="171338" cy="17790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 sz="1524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2B8DCF73-0D3B-4345-6C42-09C186A3C808}"/>
                </a:ext>
              </a:extLst>
            </p:cNvPr>
            <p:cNvSpPr/>
            <p:nvPr/>
          </p:nvSpPr>
          <p:spPr>
            <a:xfrm>
              <a:off x="9846527" y="5859966"/>
              <a:ext cx="513070" cy="262054"/>
            </a:xfrm>
            <a:custGeom>
              <a:avLst/>
              <a:gdLst>
                <a:gd name="connsiteX0" fmla="*/ 0 w 513070"/>
                <a:gd name="connsiteY0" fmla="*/ 262054 h 262054"/>
                <a:gd name="connsiteX1" fmla="*/ 228600 w 513070"/>
                <a:gd name="connsiteY1" fmla="*/ 211873 h 262054"/>
                <a:gd name="connsiteX2" fmla="*/ 501805 w 513070"/>
                <a:gd name="connsiteY2" fmla="*/ 72483 h 262054"/>
                <a:gd name="connsiteX3" fmla="*/ 434897 w 513070"/>
                <a:gd name="connsiteY3" fmla="*/ 0 h 2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070" h="262054">
                  <a:moveTo>
                    <a:pt x="0" y="262054"/>
                  </a:moveTo>
                  <a:cubicBezTo>
                    <a:pt x="72483" y="252761"/>
                    <a:pt x="144966" y="243468"/>
                    <a:pt x="228600" y="211873"/>
                  </a:cubicBezTo>
                  <a:cubicBezTo>
                    <a:pt x="312234" y="180278"/>
                    <a:pt x="467422" y="107795"/>
                    <a:pt x="501805" y="72483"/>
                  </a:cubicBezTo>
                  <a:cubicBezTo>
                    <a:pt x="536188" y="37171"/>
                    <a:pt x="485542" y="18585"/>
                    <a:pt x="434897" y="0"/>
                  </a:cubicBezTo>
                </a:path>
              </a:pathLst>
            </a:custGeom>
            <a:noFill/>
            <a:ln w="9525"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46317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BDEB-F70D-9288-FDA0-222A7BCF3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9C58B-9D60-24DA-5B89-A8D66206DBE9}"/>
              </a:ext>
            </a:extLst>
          </p:cNvPr>
          <p:cNvSpPr txBox="1"/>
          <p:nvPr/>
        </p:nvSpPr>
        <p:spPr>
          <a:xfrm>
            <a:off x="474031" y="329960"/>
            <a:ext cx="554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4D3324"/>
                </a:solidFill>
              </a:rPr>
              <a:t>E. Double compact object mergers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0AD5CB-70C0-446B-4ABE-26535989A1AB}"/>
              </a:ext>
            </a:extLst>
          </p:cNvPr>
          <p:cNvSpPr txBox="1"/>
          <p:nvPr/>
        </p:nvSpPr>
        <p:spPr>
          <a:xfrm>
            <a:off x="490410" y="4594182"/>
            <a:ext cx="1484759" cy="525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L</a:t>
            </a:r>
            <a:r>
              <a:rPr lang="en-NL" sz="2800" dirty="0">
                <a:solidFill>
                  <a:schemeClr val="bg2">
                    <a:lumMod val="75000"/>
                  </a:schemeClr>
                </a:solidFill>
              </a:rPr>
              <a:t>ow  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3FC2F7-2517-8B6C-837B-726A9CFA0C35}"/>
              </a:ext>
            </a:extLst>
          </p:cNvPr>
          <p:cNvSpPr txBox="1"/>
          <p:nvPr/>
        </p:nvSpPr>
        <p:spPr>
          <a:xfrm>
            <a:off x="385212" y="4011709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E3C884"/>
                </a:solidFill>
              </a:rPr>
              <a:t>WUMa binaries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746BF-F033-5D6F-1974-7D64EE9DC61A}"/>
              </a:ext>
            </a:extLst>
          </p:cNvPr>
          <p:cNvSpPr txBox="1"/>
          <p:nvPr/>
        </p:nvSpPr>
        <p:spPr>
          <a:xfrm>
            <a:off x="611015" y="1411917"/>
            <a:ext cx="188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23221E"/>
                </a:solidFill>
              </a:rPr>
              <a:t>Massive OB stars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716230-C75D-1D5A-4994-DEC62981574E}"/>
              </a:ext>
            </a:extLst>
          </p:cNvPr>
          <p:cNvSpPr txBox="1"/>
          <p:nvPr/>
        </p:nvSpPr>
        <p:spPr>
          <a:xfrm>
            <a:off x="2500956" y="1982849"/>
            <a:ext cx="152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EDA45C"/>
                </a:solidFill>
              </a:rPr>
              <a:t>Algol binaries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FC77DE-2B96-E3C1-AF23-11942AD67B85}"/>
              </a:ext>
            </a:extLst>
          </p:cNvPr>
          <p:cNvSpPr txBox="1"/>
          <p:nvPr/>
        </p:nvSpPr>
        <p:spPr>
          <a:xfrm>
            <a:off x="3373933" y="4033905"/>
            <a:ext cx="1357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82C9ED"/>
                </a:solidFill>
              </a:rPr>
              <a:t>EL CVn-like </a:t>
            </a:r>
          </a:p>
          <a:p>
            <a:r>
              <a:rPr lang="en-NL" dirty="0">
                <a:solidFill>
                  <a:srgbClr val="82C9ED"/>
                </a:solidFill>
              </a:rPr>
              <a:t>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1DE166-4D50-C14C-F47C-E342966BB795}"/>
              </a:ext>
            </a:extLst>
          </p:cNvPr>
          <p:cNvSpPr txBox="1"/>
          <p:nvPr/>
        </p:nvSpPr>
        <p:spPr>
          <a:xfrm>
            <a:off x="4672675" y="4221601"/>
            <a:ext cx="1659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5DB6ED"/>
                </a:solidFill>
              </a:rPr>
              <a:t>Hot Subdwarfs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F22CD2-5008-0C76-EA48-6EC41862219A}"/>
              </a:ext>
            </a:extLst>
          </p:cNvPr>
          <p:cNvSpPr txBox="1"/>
          <p:nvPr/>
        </p:nvSpPr>
        <p:spPr>
          <a:xfrm>
            <a:off x="5381216" y="4566340"/>
            <a:ext cx="117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64A4E9"/>
                </a:solidFill>
              </a:rPr>
              <a:t>He Giants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7835D0-CB80-E062-CE5B-8154816D5734}"/>
              </a:ext>
            </a:extLst>
          </p:cNvPr>
          <p:cNvSpPr txBox="1"/>
          <p:nvPr/>
        </p:nvSpPr>
        <p:spPr>
          <a:xfrm>
            <a:off x="6479121" y="4047323"/>
            <a:ext cx="1179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7D7AE5"/>
                </a:solidFill>
              </a:rPr>
              <a:t>Post-AGB </a:t>
            </a:r>
          </a:p>
          <a:p>
            <a:r>
              <a:rPr lang="en-NL" dirty="0">
                <a:solidFill>
                  <a:srgbClr val="7D7AE5"/>
                </a:solidFill>
              </a:rPr>
              <a:t>binaries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C3B742-EF71-B0DF-93F6-84C2C23DDEE9}"/>
              </a:ext>
            </a:extLst>
          </p:cNvPr>
          <p:cNvSpPr txBox="1"/>
          <p:nvPr/>
        </p:nvSpPr>
        <p:spPr>
          <a:xfrm>
            <a:off x="5565998" y="1655359"/>
            <a:ext cx="1772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070C0"/>
                </a:solidFill>
              </a:rPr>
              <a:t>Intermediate-M </a:t>
            </a:r>
          </a:p>
          <a:p>
            <a:r>
              <a:rPr lang="en-NL" dirty="0">
                <a:solidFill>
                  <a:srgbClr val="0070C0"/>
                </a:solidFill>
              </a:rPr>
              <a:t>stripped stars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2F5B96-3A26-8C4F-FA89-BF24F44EB400}"/>
              </a:ext>
            </a:extLst>
          </p:cNvPr>
          <p:cNvSpPr txBox="1"/>
          <p:nvPr/>
        </p:nvSpPr>
        <p:spPr>
          <a:xfrm>
            <a:off x="8260993" y="4876344"/>
            <a:ext cx="220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EF799A"/>
                </a:solidFill>
              </a:rPr>
              <a:t>Blue straggler binary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BBC120-EEB4-B56F-5981-FD016B203279}"/>
              </a:ext>
            </a:extLst>
          </p:cNvPr>
          <p:cNvSpPr txBox="1"/>
          <p:nvPr/>
        </p:nvSpPr>
        <p:spPr>
          <a:xfrm>
            <a:off x="7736020" y="4487702"/>
            <a:ext cx="225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BD6D92"/>
                </a:solidFill>
              </a:rPr>
              <a:t>Chem. </a:t>
            </a:r>
            <a:r>
              <a:rPr lang="en-GB" dirty="0">
                <a:solidFill>
                  <a:srgbClr val="BD6D92"/>
                </a:solidFill>
              </a:rPr>
              <a:t>P</a:t>
            </a:r>
            <a:r>
              <a:rPr lang="en-NL" dirty="0">
                <a:solidFill>
                  <a:srgbClr val="BD6D92"/>
                </a:solidFill>
              </a:rPr>
              <a:t>eculiar stars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AE9E6C-1A1E-FF65-3A72-18A4F1ECD1EA}"/>
              </a:ext>
            </a:extLst>
          </p:cNvPr>
          <p:cNvSpPr txBox="1"/>
          <p:nvPr/>
        </p:nvSpPr>
        <p:spPr>
          <a:xfrm>
            <a:off x="10347860" y="4684396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DDB7C7"/>
                </a:solidFill>
              </a:rPr>
              <a:t>WD + 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BED67F-63FE-727E-7CCE-7E32D8E69577}"/>
              </a:ext>
            </a:extLst>
          </p:cNvPr>
          <p:cNvSpPr txBox="1"/>
          <p:nvPr/>
        </p:nvSpPr>
        <p:spPr>
          <a:xfrm>
            <a:off x="7517460" y="2182959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DE255"/>
                </a:solidFill>
              </a:rPr>
              <a:t>P</a:t>
            </a:r>
            <a:r>
              <a:rPr lang="en-NL" dirty="0">
                <a:solidFill>
                  <a:srgbClr val="BDE255"/>
                </a:solidFill>
              </a:rPr>
              <a:t>ulsar </a:t>
            </a:r>
          </a:p>
          <a:p>
            <a:r>
              <a:rPr lang="en-NL" dirty="0">
                <a:solidFill>
                  <a:srgbClr val="BDE255"/>
                </a:solidFill>
              </a:rPr>
              <a:t>binaries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0ABE4F-5604-FC12-7A37-22F3F9B6EC19}"/>
              </a:ext>
            </a:extLst>
          </p:cNvPr>
          <p:cNvSpPr txBox="1"/>
          <p:nvPr/>
        </p:nvSpPr>
        <p:spPr>
          <a:xfrm>
            <a:off x="7728006" y="1466908"/>
            <a:ext cx="1530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81CB45"/>
                </a:solidFill>
              </a:rPr>
              <a:t>H</a:t>
            </a:r>
            <a:r>
              <a:rPr lang="en-NL" dirty="0">
                <a:solidFill>
                  <a:srgbClr val="81CB45"/>
                </a:solidFill>
              </a:rPr>
              <a:t>igh-M </a:t>
            </a:r>
          </a:p>
          <a:p>
            <a:r>
              <a:rPr lang="en-NL" dirty="0">
                <a:solidFill>
                  <a:srgbClr val="81CB45"/>
                </a:solidFill>
              </a:rPr>
              <a:t>X-ray binaries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D2042D-6728-A4DC-4AB7-FD6F742DBD12}"/>
              </a:ext>
            </a:extLst>
          </p:cNvPr>
          <p:cNvSpPr txBox="1"/>
          <p:nvPr/>
        </p:nvSpPr>
        <p:spPr>
          <a:xfrm>
            <a:off x="8899073" y="1472532"/>
            <a:ext cx="1995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46B636"/>
                </a:solidFill>
              </a:rPr>
              <a:t>Spectroscop. C.O.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C34B6B-14B5-2555-98CE-6139ABD3943B}"/>
              </a:ext>
            </a:extLst>
          </p:cNvPr>
          <p:cNvSpPr txBox="1"/>
          <p:nvPr/>
        </p:nvSpPr>
        <p:spPr>
          <a:xfrm>
            <a:off x="9907485" y="1204847"/>
            <a:ext cx="1899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79F27"/>
                </a:solidFill>
              </a:rPr>
              <a:t>Astrometric. C.O.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F87644-9150-3F4E-CB2A-8480B1E8ACAD}"/>
              </a:ext>
            </a:extLst>
          </p:cNvPr>
          <p:cNvGrpSpPr/>
          <p:nvPr/>
        </p:nvGrpSpPr>
        <p:grpSpPr>
          <a:xfrm rot="2305534">
            <a:off x="2339839" y="2537654"/>
            <a:ext cx="677611" cy="1249417"/>
            <a:chOff x="2272072" y="2994265"/>
            <a:chExt cx="677611" cy="124941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487CAD-789F-197E-9664-0508061BF515}"/>
                    </a:ext>
                  </a:extLst>
                </p14:cNvPr>
                <p14:cNvContentPartPr/>
                <p14:nvPr/>
              </p14:nvContentPartPr>
              <p14:xfrm>
                <a:off x="2574630" y="3153072"/>
                <a:ext cx="66240" cy="363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487CAD-789F-197E-9664-0508061BF51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56532" y="3117072"/>
                  <a:ext cx="102075" cy="4352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805FA9F-140D-2E59-9A97-9461CD936D52}"/>
                </a:ext>
              </a:extLst>
            </p:cNvPr>
            <p:cNvGrpSpPr/>
            <p:nvPr/>
          </p:nvGrpSpPr>
          <p:grpSpPr>
            <a:xfrm rot="5400000">
              <a:off x="1986169" y="3280168"/>
              <a:ext cx="1249417" cy="677611"/>
              <a:chOff x="1219177" y="3119420"/>
              <a:chExt cx="1321181" cy="716531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487A2370-D392-04A9-15AD-9EDD7FA5AD4C}"/>
                  </a:ext>
                </a:extLst>
              </p:cNvPr>
              <p:cNvSpPr/>
              <p:nvPr/>
            </p:nvSpPr>
            <p:spPr>
              <a:xfrm>
                <a:off x="1219177" y="3334586"/>
                <a:ext cx="251498" cy="234841"/>
              </a:xfrm>
              <a:prstGeom prst="ellipse">
                <a:avLst/>
              </a:prstGeom>
              <a:gradFill>
                <a:gsLst>
                  <a:gs pos="88000">
                    <a:srgbClr val="608DBC">
                      <a:lumMod val="100000"/>
                    </a:srgbClr>
                  </a:gs>
                  <a:gs pos="55000">
                    <a:srgbClr val="83B7E8">
                      <a:lumMod val="96000"/>
                    </a:srgbClr>
                  </a:gs>
                  <a:gs pos="18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82" name="Teardrop 81">
                <a:extLst>
                  <a:ext uri="{FF2B5EF4-FFF2-40B4-BE49-F238E27FC236}">
                    <a16:creationId xmlns:a16="http://schemas.microsoft.com/office/drawing/2014/main" id="{9AF63FC8-831E-506A-3468-17387C5C9390}"/>
                  </a:ext>
                </a:extLst>
              </p:cNvPr>
              <p:cNvSpPr/>
              <p:nvPr/>
            </p:nvSpPr>
            <p:spPr>
              <a:xfrm rot="13502577">
                <a:off x="1823827" y="3119420"/>
                <a:ext cx="716531" cy="716531"/>
              </a:xfrm>
              <a:prstGeom prst="teardrop">
                <a:avLst/>
              </a:prstGeom>
              <a:gradFill>
                <a:gsLst>
                  <a:gs pos="85000">
                    <a:srgbClr val="F5941B"/>
                  </a:gs>
                  <a:gs pos="57000">
                    <a:srgbClr val="FFC000"/>
                  </a:gs>
                  <a:gs pos="4000">
                    <a:srgbClr val="FCF8D9"/>
                  </a:gs>
                  <a:gs pos="32000">
                    <a:srgbClr val="F4F7A0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44621A8-363C-5C3F-87A8-AB3896DFF53B}"/>
              </a:ext>
            </a:extLst>
          </p:cNvPr>
          <p:cNvGrpSpPr/>
          <p:nvPr/>
        </p:nvGrpSpPr>
        <p:grpSpPr>
          <a:xfrm rot="21091238">
            <a:off x="1033304" y="2632784"/>
            <a:ext cx="493605" cy="978913"/>
            <a:chOff x="1041625" y="2523278"/>
            <a:chExt cx="493605" cy="97891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57D05F0-9982-CB98-2AFA-6D7E5B5699C0}"/>
                </a:ext>
              </a:extLst>
            </p:cNvPr>
            <p:cNvGrpSpPr/>
            <p:nvPr/>
          </p:nvGrpSpPr>
          <p:grpSpPr>
            <a:xfrm rot="7789791">
              <a:off x="798971" y="2765932"/>
              <a:ext cx="978913" cy="493605"/>
              <a:chOff x="3723385" y="4934297"/>
              <a:chExt cx="2139986" cy="732045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AC2E8A2-D7F2-F654-A6E0-46811E7E0A1C}"/>
                  </a:ext>
                </a:extLst>
              </p:cNvPr>
              <p:cNvSpPr/>
              <p:nvPr/>
            </p:nvSpPr>
            <p:spPr>
              <a:xfrm>
                <a:off x="3723385" y="4934297"/>
                <a:ext cx="1271446" cy="732045"/>
              </a:xfrm>
              <a:prstGeom prst="ellipse">
                <a:avLst/>
              </a:prstGeom>
              <a:gradFill>
                <a:gsLst>
                  <a:gs pos="59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22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FC25BDA-EF37-A0A3-1961-37102056E2AD}"/>
                  </a:ext>
                </a:extLst>
              </p:cNvPr>
              <p:cNvSpPr/>
              <p:nvPr/>
            </p:nvSpPr>
            <p:spPr>
              <a:xfrm>
                <a:off x="4835365" y="5056978"/>
                <a:ext cx="1028006" cy="565671"/>
              </a:xfrm>
              <a:prstGeom prst="ellipse">
                <a:avLst/>
              </a:prstGeom>
              <a:gradFill>
                <a:gsLst>
                  <a:gs pos="54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25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0DA9550-C7B1-CE91-E02C-A7B575E016CD}"/>
                </a:ext>
              </a:extLst>
            </p:cNvPr>
            <p:cNvSpPr/>
            <p:nvPr/>
          </p:nvSpPr>
          <p:spPr>
            <a:xfrm rot="2395926">
              <a:off x="1174339" y="2750145"/>
              <a:ext cx="94820" cy="575760"/>
            </a:xfrm>
            <a:prstGeom prst="ellipse">
              <a:avLst/>
            </a:prstGeom>
            <a:solidFill>
              <a:srgbClr val="E2F3FB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49C36A1D-FF61-6EF7-1F90-D6EF5F1C0F81}"/>
              </a:ext>
            </a:extLst>
          </p:cNvPr>
          <p:cNvSpPr txBox="1"/>
          <p:nvPr/>
        </p:nvSpPr>
        <p:spPr>
          <a:xfrm>
            <a:off x="5966825" y="3548855"/>
            <a:ext cx="136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stripped star</a:t>
            </a:r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E53AC76B-BD09-B4E6-C308-DF7128C5C4A3}"/>
              </a:ext>
            </a:extLst>
          </p:cNvPr>
          <p:cNvSpPr/>
          <p:nvPr/>
        </p:nvSpPr>
        <p:spPr>
          <a:xfrm rot="14049865" flipV="1">
            <a:off x="5607107" y="3683301"/>
            <a:ext cx="261775" cy="364279"/>
          </a:xfrm>
          <a:custGeom>
            <a:avLst/>
            <a:gdLst>
              <a:gd name="connsiteX0" fmla="*/ 0 w 209974"/>
              <a:gd name="connsiteY0" fmla="*/ 0 h 223520"/>
              <a:gd name="connsiteX1" fmla="*/ 74507 w 209974"/>
              <a:gd name="connsiteY1" fmla="*/ 162560 h 223520"/>
              <a:gd name="connsiteX2" fmla="*/ 209974 w 209974"/>
              <a:gd name="connsiteY2" fmla="*/ 223520 h 22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974" h="223520">
                <a:moveTo>
                  <a:pt x="0" y="0"/>
                </a:moveTo>
                <a:cubicBezTo>
                  <a:pt x="19755" y="62653"/>
                  <a:pt x="39511" y="125307"/>
                  <a:pt x="74507" y="162560"/>
                </a:cubicBezTo>
                <a:cubicBezTo>
                  <a:pt x="109503" y="199813"/>
                  <a:pt x="159738" y="211666"/>
                  <a:pt x="209974" y="22352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08889A0-30DA-4754-9503-A1A8C8821B88}"/>
              </a:ext>
            </a:extLst>
          </p:cNvPr>
          <p:cNvGrpSpPr/>
          <p:nvPr/>
        </p:nvGrpSpPr>
        <p:grpSpPr>
          <a:xfrm>
            <a:off x="3784403" y="2642165"/>
            <a:ext cx="766016" cy="1093408"/>
            <a:chOff x="3582353" y="2575693"/>
            <a:chExt cx="766016" cy="1093408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D83A4E7A-96D9-DC48-479C-3D3D0DE33C98}"/>
                </a:ext>
              </a:extLst>
            </p:cNvPr>
            <p:cNvSpPr/>
            <p:nvPr/>
          </p:nvSpPr>
          <p:spPr>
            <a:xfrm rot="1472995">
              <a:off x="3702804" y="2719179"/>
              <a:ext cx="614181" cy="76047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  <a:alpha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37B1758-008A-DF60-E1AE-4271C7C77063}"/>
                </a:ext>
              </a:extLst>
            </p:cNvPr>
            <p:cNvSpPr/>
            <p:nvPr/>
          </p:nvSpPr>
          <p:spPr>
            <a:xfrm>
              <a:off x="3582353" y="3256053"/>
              <a:ext cx="427541" cy="413048"/>
            </a:xfrm>
            <a:prstGeom prst="ellipse">
              <a:avLst/>
            </a:prstGeom>
            <a:gradFill>
              <a:gsLst>
                <a:gs pos="85000">
                  <a:srgbClr val="F5941B"/>
                </a:gs>
                <a:gs pos="74000">
                  <a:srgbClr val="FFC000"/>
                </a:gs>
                <a:gs pos="4000">
                  <a:srgbClr val="FCF8D9"/>
                </a:gs>
                <a:gs pos="41000">
                  <a:srgbClr val="F4F7A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3D82324-1629-F800-25D1-1812A9A58F74}"/>
                </a:ext>
              </a:extLst>
            </p:cNvPr>
            <p:cNvGrpSpPr/>
            <p:nvPr/>
          </p:nvGrpSpPr>
          <p:grpSpPr>
            <a:xfrm>
              <a:off x="4026567" y="2575693"/>
              <a:ext cx="321802" cy="317900"/>
              <a:chOff x="4030666" y="2458275"/>
              <a:chExt cx="435368" cy="430089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3090D0A7-EEB3-D156-FA4E-BB34BED92B12}"/>
                  </a:ext>
                </a:extLst>
              </p:cNvPr>
              <p:cNvSpPr/>
              <p:nvPr/>
            </p:nvSpPr>
            <p:spPr>
              <a:xfrm>
                <a:off x="4030666" y="2458275"/>
                <a:ext cx="435368" cy="430089"/>
              </a:xfrm>
              <a:prstGeom prst="ellipse">
                <a:avLst/>
              </a:prstGeom>
              <a:solidFill>
                <a:srgbClr val="77B0E6">
                  <a:alpha val="6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A56CE30-DB52-A647-64FE-C98BE3F1264C}"/>
                  </a:ext>
                </a:extLst>
              </p:cNvPr>
              <p:cNvSpPr/>
              <p:nvPr/>
            </p:nvSpPr>
            <p:spPr>
              <a:xfrm>
                <a:off x="4079958" y="2506969"/>
                <a:ext cx="336786" cy="332701"/>
              </a:xfrm>
              <a:prstGeom prst="ellipse">
                <a:avLst/>
              </a:prstGeom>
              <a:gradFill>
                <a:gsLst>
                  <a:gs pos="88000">
                    <a:srgbClr val="608DBC">
                      <a:lumMod val="100000"/>
                    </a:srgbClr>
                  </a:gs>
                  <a:gs pos="55000">
                    <a:srgbClr val="83B7E8">
                      <a:lumMod val="96000"/>
                    </a:srgb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EA61181-006A-6CEC-1850-DB5C5DAB809F}"/>
              </a:ext>
            </a:extLst>
          </p:cNvPr>
          <p:cNvGrpSpPr/>
          <p:nvPr/>
        </p:nvGrpSpPr>
        <p:grpSpPr>
          <a:xfrm rot="1870429">
            <a:off x="5326274" y="2332452"/>
            <a:ext cx="724134" cy="1733082"/>
            <a:chOff x="4821425" y="2078831"/>
            <a:chExt cx="724134" cy="1733082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681BF92-4102-1BEB-E87C-EFCA8BBA72F6}"/>
                </a:ext>
              </a:extLst>
            </p:cNvPr>
            <p:cNvSpPr/>
            <p:nvPr/>
          </p:nvSpPr>
          <p:spPr>
            <a:xfrm>
              <a:off x="4821425" y="2315377"/>
              <a:ext cx="724134" cy="136736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  <a:alpha val="85232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F44B91-AE62-DEEC-D5B4-6D3526E4DA72}"/>
                </a:ext>
              </a:extLst>
            </p:cNvPr>
            <p:cNvSpPr/>
            <p:nvPr/>
          </p:nvSpPr>
          <p:spPr>
            <a:xfrm>
              <a:off x="5045746" y="3545760"/>
              <a:ext cx="275492" cy="266153"/>
            </a:xfrm>
            <a:prstGeom prst="ellipse">
              <a:avLst/>
            </a:prstGeom>
            <a:gradFill>
              <a:gsLst>
                <a:gs pos="57000">
                  <a:srgbClr val="72C0F3"/>
                </a:gs>
                <a:gs pos="95000">
                  <a:schemeClr val="tx2">
                    <a:lumMod val="50000"/>
                    <a:lumOff val="50000"/>
                  </a:schemeClr>
                </a:gs>
                <a:gs pos="67000">
                  <a:srgbClr val="C4E3F6"/>
                </a:gs>
                <a:gs pos="44000">
                  <a:srgbClr val="C4E3F6"/>
                </a:gs>
                <a:gs pos="14000">
                  <a:srgbClr val="E2F3FB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AA1AD97-5DB4-269C-D7B7-D95DC39F1B9A}"/>
                </a:ext>
              </a:extLst>
            </p:cNvPr>
            <p:cNvSpPr/>
            <p:nvPr/>
          </p:nvSpPr>
          <p:spPr>
            <a:xfrm>
              <a:off x="4887379" y="2078831"/>
              <a:ext cx="592225" cy="590152"/>
            </a:xfrm>
            <a:prstGeom prst="ellipse">
              <a:avLst/>
            </a:prstGeom>
            <a:gradFill>
              <a:gsLst>
                <a:gs pos="88000">
                  <a:srgbClr val="608DBC">
                    <a:lumMod val="100000"/>
                  </a:srgbClr>
                </a:gs>
                <a:gs pos="55000">
                  <a:srgbClr val="83B7E8">
                    <a:lumMod val="96000"/>
                  </a:srgbClr>
                </a:gs>
                <a:gs pos="18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94090E0-D92D-D921-21BB-1E1414D69C0F}"/>
              </a:ext>
            </a:extLst>
          </p:cNvPr>
          <p:cNvGrpSpPr/>
          <p:nvPr/>
        </p:nvGrpSpPr>
        <p:grpSpPr>
          <a:xfrm rot="4536077">
            <a:off x="10308635" y="1863449"/>
            <a:ext cx="986463" cy="845396"/>
            <a:chOff x="10174273" y="1545234"/>
            <a:chExt cx="958526" cy="797395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11E811E3-E32C-CC75-CA84-1EF7D6B8CD5B}"/>
                </a:ext>
              </a:extLst>
            </p:cNvPr>
            <p:cNvSpPr/>
            <p:nvPr/>
          </p:nvSpPr>
          <p:spPr>
            <a:xfrm rot="18472838">
              <a:off x="10404730" y="1488311"/>
              <a:ext cx="493795" cy="945508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  <a:alpha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2EC83A3-0332-0753-4604-C5F2A9DD5CE8}"/>
                </a:ext>
              </a:extLst>
            </p:cNvPr>
            <p:cNvSpPr/>
            <p:nvPr/>
          </p:nvSpPr>
          <p:spPr>
            <a:xfrm>
              <a:off x="10951554" y="2167528"/>
              <a:ext cx="181245" cy="175101"/>
            </a:xfrm>
            <a:prstGeom prst="ellipse">
              <a:avLst/>
            </a:prstGeom>
            <a:solidFill>
              <a:schemeClr val="tx1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3DFD029-A1D8-86D6-F8F7-A0E80EE9E974}"/>
                </a:ext>
              </a:extLst>
            </p:cNvPr>
            <p:cNvGrpSpPr/>
            <p:nvPr/>
          </p:nvGrpSpPr>
          <p:grpSpPr>
            <a:xfrm>
              <a:off x="10174273" y="1545234"/>
              <a:ext cx="228203" cy="225436"/>
              <a:chOff x="4255383" y="2706764"/>
              <a:chExt cx="435368" cy="43008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34A5C4CA-B669-DC29-C5C9-AADB066F82F5}"/>
                  </a:ext>
                </a:extLst>
              </p:cNvPr>
              <p:cNvSpPr/>
              <p:nvPr/>
            </p:nvSpPr>
            <p:spPr>
              <a:xfrm>
                <a:off x="4304674" y="2755458"/>
                <a:ext cx="336785" cy="332703"/>
              </a:xfrm>
              <a:prstGeom prst="ellipse">
                <a:avLst/>
              </a:prstGeom>
              <a:solidFill>
                <a:srgbClr val="FCCE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289EB4D0-D93A-9A75-ECA6-65A1A1DF0728}"/>
                  </a:ext>
                </a:extLst>
              </p:cNvPr>
              <p:cNvSpPr/>
              <p:nvPr/>
            </p:nvSpPr>
            <p:spPr>
              <a:xfrm>
                <a:off x="4255383" y="2706764"/>
                <a:ext cx="435368" cy="430089"/>
              </a:xfrm>
              <a:prstGeom prst="ellipse">
                <a:avLst/>
              </a:prstGeom>
              <a:solidFill>
                <a:srgbClr val="FCCE29">
                  <a:alpha val="459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D601F83-B3A9-6CCA-A8EC-0F2EEF50B9AB}"/>
              </a:ext>
            </a:extLst>
          </p:cNvPr>
          <p:cNvGrpSpPr/>
          <p:nvPr/>
        </p:nvGrpSpPr>
        <p:grpSpPr>
          <a:xfrm rot="974216">
            <a:off x="4384515" y="726413"/>
            <a:ext cx="869836" cy="1326200"/>
            <a:chOff x="8727267" y="1895750"/>
            <a:chExt cx="685072" cy="1044499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BC06B76-1491-F0E7-0A9A-00B0803BA457}"/>
                </a:ext>
              </a:extLst>
            </p:cNvPr>
            <p:cNvSpPr/>
            <p:nvPr/>
          </p:nvSpPr>
          <p:spPr>
            <a:xfrm rot="1296632">
              <a:off x="8727267" y="2084015"/>
              <a:ext cx="568378" cy="774710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  <a:alpha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DA15733-5EFF-EC31-592E-17D712A960FB}"/>
                </a:ext>
              </a:extLst>
            </p:cNvPr>
            <p:cNvSpPr/>
            <p:nvPr/>
          </p:nvSpPr>
          <p:spPr>
            <a:xfrm>
              <a:off x="8750766" y="2777903"/>
              <a:ext cx="168042" cy="162346"/>
            </a:xfrm>
            <a:prstGeom prst="ellipse">
              <a:avLst/>
            </a:prstGeom>
            <a:gradFill>
              <a:gsLst>
                <a:gs pos="91000">
                  <a:srgbClr val="AFDED0"/>
                </a:gs>
                <a:gs pos="70000">
                  <a:srgbClr val="92D050"/>
                </a:gs>
                <a:gs pos="21000">
                  <a:srgbClr val="C3E3B3"/>
                </a:gs>
                <a:gs pos="7000">
                  <a:srgbClr val="D8EBDE"/>
                </a:gs>
              </a:gsLst>
              <a:path path="circle">
                <a:fillToRect l="50000" t="50000" r="50000" b="50000"/>
              </a:path>
            </a:gradFill>
            <a:ln w="254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A3E176E-9EBB-C5ED-1B0C-02D86B0B0DAB}"/>
                </a:ext>
              </a:extLst>
            </p:cNvPr>
            <p:cNvSpPr/>
            <p:nvPr/>
          </p:nvSpPr>
          <p:spPr>
            <a:xfrm rot="7281029">
              <a:off x="8982440" y="1889043"/>
              <a:ext cx="423191" cy="436606"/>
            </a:xfrm>
            <a:prstGeom prst="ellipse">
              <a:avLst/>
            </a:prstGeom>
            <a:gradFill>
              <a:gsLst>
                <a:gs pos="59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2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2F049EF-0A29-E273-A9D2-15DF8D91A056}"/>
              </a:ext>
            </a:extLst>
          </p:cNvPr>
          <p:cNvGrpSpPr/>
          <p:nvPr/>
        </p:nvGrpSpPr>
        <p:grpSpPr>
          <a:xfrm>
            <a:off x="9651972" y="3322207"/>
            <a:ext cx="1046992" cy="1022822"/>
            <a:chOff x="9583353" y="3466585"/>
            <a:chExt cx="1046992" cy="1022822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922BB18C-8500-CFC3-0940-3E38E340E230}"/>
                </a:ext>
              </a:extLst>
            </p:cNvPr>
            <p:cNvGrpSpPr/>
            <p:nvPr/>
          </p:nvGrpSpPr>
          <p:grpSpPr>
            <a:xfrm rot="6210821">
              <a:off x="9719420" y="3578481"/>
              <a:ext cx="1022822" cy="799029"/>
              <a:chOff x="10157605" y="1545234"/>
              <a:chExt cx="1022822" cy="799029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4E3070F5-3044-7CF2-EBCC-9759CC71AF76}"/>
                  </a:ext>
                </a:extLst>
              </p:cNvPr>
              <p:cNvSpPr/>
              <p:nvPr/>
            </p:nvSpPr>
            <p:spPr>
              <a:xfrm rot="18472838">
                <a:off x="10317842" y="1481679"/>
                <a:ext cx="702347" cy="1022822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  <a:alpha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EE561E55-B30A-7823-BE3B-0D908D0D7667}"/>
                  </a:ext>
                </a:extLst>
              </p:cNvPr>
              <p:cNvGrpSpPr/>
              <p:nvPr/>
            </p:nvGrpSpPr>
            <p:grpSpPr>
              <a:xfrm>
                <a:off x="10174273" y="1545234"/>
                <a:ext cx="228203" cy="225436"/>
                <a:chOff x="4255383" y="2706764"/>
                <a:chExt cx="435368" cy="430089"/>
              </a:xfrm>
            </p:grpSpPr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65763333-0792-7E84-6C97-36941D6F33E4}"/>
                    </a:ext>
                  </a:extLst>
                </p:cNvPr>
                <p:cNvSpPr/>
                <p:nvPr/>
              </p:nvSpPr>
              <p:spPr>
                <a:xfrm>
                  <a:off x="4304674" y="2755458"/>
                  <a:ext cx="336785" cy="332703"/>
                </a:xfrm>
                <a:prstGeom prst="ellipse">
                  <a:avLst/>
                </a:prstGeom>
                <a:solidFill>
                  <a:srgbClr val="FCCE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49B79C7E-1828-D16A-40C1-E5F2216BD90D}"/>
                    </a:ext>
                  </a:extLst>
                </p:cNvPr>
                <p:cNvSpPr/>
                <p:nvPr/>
              </p:nvSpPr>
              <p:spPr>
                <a:xfrm>
                  <a:off x="4255383" y="2706764"/>
                  <a:ext cx="435368" cy="430089"/>
                </a:xfrm>
                <a:prstGeom prst="ellipse">
                  <a:avLst/>
                </a:prstGeom>
                <a:solidFill>
                  <a:srgbClr val="FCCE29">
                    <a:alpha val="45982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8CA32DC-067A-2478-545C-EBB4B6260BB2}"/>
                </a:ext>
              </a:extLst>
            </p:cNvPr>
            <p:cNvSpPr/>
            <p:nvPr/>
          </p:nvSpPr>
          <p:spPr>
            <a:xfrm>
              <a:off x="9583353" y="4133245"/>
              <a:ext cx="341613" cy="330033"/>
            </a:xfrm>
            <a:prstGeom prst="ellipse">
              <a:avLst/>
            </a:prstGeom>
            <a:gradFill>
              <a:gsLst>
                <a:gs pos="84000">
                  <a:srgbClr val="D4D0D2"/>
                </a:gs>
                <a:gs pos="17000">
                  <a:srgbClr val="FFFFFF"/>
                </a:gs>
                <a:gs pos="39000">
                  <a:srgbClr val="FAF0FA"/>
                </a:gs>
              </a:gsLst>
              <a:path path="circle">
                <a:fillToRect l="50000" t="50000" r="50000" b="50000"/>
              </a:path>
            </a:gra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DFDFA3EA-B887-A64D-F420-0C8265ABB6E8}"/>
              </a:ext>
            </a:extLst>
          </p:cNvPr>
          <p:cNvSpPr txBox="1"/>
          <p:nvPr/>
        </p:nvSpPr>
        <p:spPr>
          <a:xfrm>
            <a:off x="9232852" y="2976802"/>
            <a:ext cx="43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NS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031090E-6D5D-EAE6-69F0-881B6FACD19B}"/>
              </a:ext>
            </a:extLst>
          </p:cNvPr>
          <p:cNvSpPr txBox="1"/>
          <p:nvPr/>
        </p:nvSpPr>
        <p:spPr>
          <a:xfrm>
            <a:off x="10692530" y="259889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BH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A57FDFE-9634-1619-7F85-B893F8C90852}"/>
              </a:ext>
            </a:extLst>
          </p:cNvPr>
          <p:cNvSpPr txBox="1"/>
          <p:nvPr/>
        </p:nvSpPr>
        <p:spPr>
          <a:xfrm>
            <a:off x="4238374" y="5214802"/>
            <a:ext cx="2586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8ACDEF"/>
                </a:solidFill>
              </a:rPr>
              <a:t>Low-M stripped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0E47DC0-544E-9F31-FDDE-E6EE43773E94}"/>
              </a:ext>
            </a:extLst>
          </p:cNvPr>
          <p:cNvSpPr txBox="1"/>
          <p:nvPr/>
        </p:nvSpPr>
        <p:spPr>
          <a:xfrm>
            <a:off x="9172063" y="5406632"/>
            <a:ext cx="2069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E3BCC9"/>
                </a:solidFill>
              </a:rPr>
              <a:t>WD binaries</a:t>
            </a:r>
          </a:p>
        </p:txBody>
      </p:sp>
      <p:sp>
        <p:nvSpPr>
          <p:cNvPr id="161" name="Right Brace 160">
            <a:extLst>
              <a:ext uri="{FF2B5EF4-FFF2-40B4-BE49-F238E27FC236}">
                <a16:creationId xmlns:a16="http://schemas.microsoft.com/office/drawing/2014/main" id="{456801A3-A8E6-DA50-14DC-3A1832800993}"/>
              </a:ext>
            </a:extLst>
          </p:cNvPr>
          <p:cNvSpPr/>
          <p:nvPr/>
        </p:nvSpPr>
        <p:spPr>
          <a:xfrm rot="5400000">
            <a:off x="5263487" y="3146365"/>
            <a:ext cx="369334" cy="3933754"/>
          </a:xfrm>
          <a:prstGeom prst="rightBrace">
            <a:avLst>
              <a:gd name="adj1" fmla="val 81151"/>
              <a:gd name="adj2" fmla="val 50456"/>
            </a:avLst>
          </a:prstGeom>
          <a:ln>
            <a:solidFill>
              <a:srgbClr val="8AC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2" name="Right Brace 161">
            <a:extLst>
              <a:ext uri="{FF2B5EF4-FFF2-40B4-BE49-F238E27FC236}">
                <a16:creationId xmlns:a16="http://schemas.microsoft.com/office/drawing/2014/main" id="{E449BC63-7B7E-E6E2-82D1-CAF8CB2085ED}"/>
              </a:ext>
            </a:extLst>
          </p:cNvPr>
          <p:cNvSpPr/>
          <p:nvPr/>
        </p:nvSpPr>
        <p:spPr>
          <a:xfrm rot="5400000">
            <a:off x="9283131" y="3680548"/>
            <a:ext cx="263627" cy="3250526"/>
          </a:xfrm>
          <a:prstGeom prst="rightBrace">
            <a:avLst>
              <a:gd name="adj1" fmla="val 81151"/>
              <a:gd name="adj2" fmla="val 29496"/>
            </a:avLst>
          </a:prstGeom>
          <a:ln>
            <a:solidFill>
              <a:srgbClr val="E3BC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C631CB0-E197-4544-4F35-8083CC6741EA}"/>
              </a:ext>
            </a:extLst>
          </p:cNvPr>
          <p:cNvSpPr txBox="1"/>
          <p:nvPr/>
        </p:nvSpPr>
        <p:spPr>
          <a:xfrm>
            <a:off x="9981035" y="4077061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WD</a:t>
            </a:r>
          </a:p>
        </p:txBody>
      </p:sp>
    </p:spTree>
    <p:extLst>
      <p:ext uri="{BB962C8B-B14F-4D97-AF65-F5344CB8AC3E}">
        <p14:creationId xmlns:p14="http://schemas.microsoft.com/office/powerpoint/2010/main" val="363982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A664-C583-B1FF-16D0-F784F024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7BB341-42D8-9F02-9991-282C9E5060FE}"/>
              </a:ext>
            </a:extLst>
          </p:cNvPr>
          <p:cNvSpPr txBox="1"/>
          <p:nvPr/>
        </p:nvSpPr>
        <p:spPr>
          <a:xfrm>
            <a:off x="474031" y="329960"/>
            <a:ext cx="3438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90C9DD"/>
                </a:solidFill>
              </a:rPr>
              <a:t>POST MT CARTOONS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05793-1FED-AF08-DDDF-49AEE2B16AF5}"/>
              </a:ext>
            </a:extLst>
          </p:cNvPr>
          <p:cNvSpPr txBox="1"/>
          <p:nvPr/>
        </p:nvSpPr>
        <p:spPr>
          <a:xfrm>
            <a:off x="490410" y="4594182"/>
            <a:ext cx="1484759" cy="525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L</a:t>
            </a:r>
            <a:r>
              <a:rPr lang="en-NL" sz="2800" dirty="0">
                <a:solidFill>
                  <a:schemeClr val="bg2">
                    <a:lumMod val="75000"/>
                  </a:schemeClr>
                </a:solidFill>
              </a:rPr>
              <a:t>ow  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E23430-ED0E-9B0C-2980-24C0C9E8148C}"/>
              </a:ext>
            </a:extLst>
          </p:cNvPr>
          <p:cNvSpPr txBox="1"/>
          <p:nvPr/>
        </p:nvSpPr>
        <p:spPr>
          <a:xfrm>
            <a:off x="385212" y="4011709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E3C884"/>
                </a:solidFill>
              </a:rPr>
              <a:t>WUMa binaries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D62DE7-01A2-6B38-54F2-465C12C7AB34}"/>
              </a:ext>
            </a:extLst>
          </p:cNvPr>
          <p:cNvSpPr txBox="1"/>
          <p:nvPr/>
        </p:nvSpPr>
        <p:spPr>
          <a:xfrm>
            <a:off x="611015" y="1411917"/>
            <a:ext cx="188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23221E"/>
                </a:solidFill>
              </a:rPr>
              <a:t>Massive OB stars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95969B-E62F-C9D9-7913-9A83A1EE0D14}"/>
              </a:ext>
            </a:extLst>
          </p:cNvPr>
          <p:cNvSpPr txBox="1"/>
          <p:nvPr/>
        </p:nvSpPr>
        <p:spPr>
          <a:xfrm>
            <a:off x="2500956" y="1982849"/>
            <a:ext cx="1523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EDA45C"/>
                </a:solidFill>
              </a:rPr>
              <a:t>Algol binaries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C138A-4BFD-DD21-1232-79A761557BFE}"/>
              </a:ext>
            </a:extLst>
          </p:cNvPr>
          <p:cNvSpPr txBox="1"/>
          <p:nvPr/>
        </p:nvSpPr>
        <p:spPr>
          <a:xfrm>
            <a:off x="3373933" y="4033905"/>
            <a:ext cx="1357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82C9ED"/>
                </a:solidFill>
              </a:rPr>
              <a:t>EL CVn-like </a:t>
            </a:r>
          </a:p>
          <a:p>
            <a:r>
              <a:rPr lang="en-NL" dirty="0">
                <a:solidFill>
                  <a:srgbClr val="82C9ED"/>
                </a:solidFill>
              </a:rPr>
              <a:t>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14E1C-7BAE-C495-BBF8-F9197B4BB20B}"/>
              </a:ext>
            </a:extLst>
          </p:cNvPr>
          <p:cNvSpPr txBox="1"/>
          <p:nvPr/>
        </p:nvSpPr>
        <p:spPr>
          <a:xfrm>
            <a:off x="4672675" y="4221601"/>
            <a:ext cx="1659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5DB6ED"/>
                </a:solidFill>
              </a:rPr>
              <a:t>Hot Subdwarfs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940000-221D-A4F1-53C2-BD0A68C13658}"/>
              </a:ext>
            </a:extLst>
          </p:cNvPr>
          <p:cNvSpPr txBox="1"/>
          <p:nvPr/>
        </p:nvSpPr>
        <p:spPr>
          <a:xfrm>
            <a:off x="5381216" y="4566340"/>
            <a:ext cx="117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64A4E9"/>
                </a:solidFill>
              </a:rPr>
              <a:t>He Giants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3E8FE5-B205-5803-7AC9-33171A4AA8C2}"/>
              </a:ext>
            </a:extLst>
          </p:cNvPr>
          <p:cNvSpPr txBox="1"/>
          <p:nvPr/>
        </p:nvSpPr>
        <p:spPr>
          <a:xfrm>
            <a:off x="6479121" y="4047323"/>
            <a:ext cx="1179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7D7AE5"/>
                </a:solidFill>
              </a:rPr>
              <a:t>Post-AGB </a:t>
            </a:r>
          </a:p>
          <a:p>
            <a:r>
              <a:rPr lang="en-NL" dirty="0">
                <a:solidFill>
                  <a:srgbClr val="7D7AE5"/>
                </a:solidFill>
              </a:rPr>
              <a:t>binaries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B1B3AA-0541-3FAF-D0D7-1BE551733AFE}"/>
              </a:ext>
            </a:extLst>
          </p:cNvPr>
          <p:cNvSpPr txBox="1"/>
          <p:nvPr/>
        </p:nvSpPr>
        <p:spPr>
          <a:xfrm>
            <a:off x="5565998" y="1655359"/>
            <a:ext cx="1772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070C0"/>
                </a:solidFill>
              </a:rPr>
              <a:t>Intermediate-M </a:t>
            </a:r>
          </a:p>
          <a:p>
            <a:r>
              <a:rPr lang="en-NL" dirty="0">
                <a:solidFill>
                  <a:srgbClr val="0070C0"/>
                </a:solidFill>
              </a:rPr>
              <a:t>stripped stars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7E3AB-8671-09B6-5305-DBDFD1BB31E2}"/>
              </a:ext>
            </a:extLst>
          </p:cNvPr>
          <p:cNvSpPr txBox="1"/>
          <p:nvPr/>
        </p:nvSpPr>
        <p:spPr>
          <a:xfrm>
            <a:off x="8260993" y="4876344"/>
            <a:ext cx="220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EF799A"/>
                </a:solidFill>
              </a:rPr>
              <a:t>Blue straggler binary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71276D-2CFD-6201-7C04-F06691932CBF}"/>
              </a:ext>
            </a:extLst>
          </p:cNvPr>
          <p:cNvSpPr txBox="1"/>
          <p:nvPr/>
        </p:nvSpPr>
        <p:spPr>
          <a:xfrm>
            <a:off x="7736020" y="4487702"/>
            <a:ext cx="225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BD6D92"/>
                </a:solidFill>
              </a:rPr>
              <a:t>Chem. </a:t>
            </a:r>
            <a:r>
              <a:rPr lang="en-GB" dirty="0">
                <a:solidFill>
                  <a:srgbClr val="BD6D92"/>
                </a:solidFill>
              </a:rPr>
              <a:t>P</a:t>
            </a:r>
            <a:r>
              <a:rPr lang="en-NL" dirty="0">
                <a:solidFill>
                  <a:srgbClr val="BD6D92"/>
                </a:solidFill>
              </a:rPr>
              <a:t>eculiar stars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A56CBF-4B2B-2822-F514-9DB18795A847}"/>
              </a:ext>
            </a:extLst>
          </p:cNvPr>
          <p:cNvSpPr txBox="1"/>
          <p:nvPr/>
        </p:nvSpPr>
        <p:spPr>
          <a:xfrm>
            <a:off x="10347860" y="4684396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DDB7C7"/>
                </a:solidFill>
              </a:rPr>
              <a:t>WD + 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A49E56-8FBC-6F89-781D-7CC72A355CF2}"/>
              </a:ext>
            </a:extLst>
          </p:cNvPr>
          <p:cNvSpPr txBox="1"/>
          <p:nvPr/>
        </p:nvSpPr>
        <p:spPr>
          <a:xfrm>
            <a:off x="7517460" y="2182959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DE255"/>
                </a:solidFill>
              </a:rPr>
              <a:t>P</a:t>
            </a:r>
            <a:r>
              <a:rPr lang="en-NL" dirty="0">
                <a:solidFill>
                  <a:srgbClr val="BDE255"/>
                </a:solidFill>
              </a:rPr>
              <a:t>ulsar </a:t>
            </a:r>
          </a:p>
          <a:p>
            <a:r>
              <a:rPr lang="en-NL" dirty="0">
                <a:solidFill>
                  <a:srgbClr val="BDE255"/>
                </a:solidFill>
              </a:rPr>
              <a:t>binaries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65E16E-EE23-2675-7D68-DADA59BCAD79}"/>
              </a:ext>
            </a:extLst>
          </p:cNvPr>
          <p:cNvSpPr txBox="1"/>
          <p:nvPr/>
        </p:nvSpPr>
        <p:spPr>
          <a:xfrm>
            <a:off x="7728006" y="1466908"/>
            <a:ext cx="1530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81CB45"/>
                </a:solidFill>
              </a:rPr>
              <a:t>H</a:t>
            </a:r>
            <a:r>
              <a:rPr lang="en-NL" dirty="0">
                <a:solidFill>
                  <a:srgbClr val="81CB45"/>
                </a:solidFill>
              </a:rPr>
              <a:t>igh-M </a:t>
            </a:r>
          </a:p>
          <a:p>
            <a:r>
              <a:rPr lang="en-NL" dirty="0">
                <a:solidFill>
                  <a:srgbClr val="81CB45"/>
                </a:solidFill>
              </a:rPr>
              <a:t>X-ray binaries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88CE47-D664-01B2-707B-8FF5FBCBFC43}"/>
              </a:ext>
            </a:extLst>
          </p:cNvPr>
          <p:cNvSpPr txBox="1"/>
          <p:nvPr/>
        </p:nvSpPr>
        <p:spPr>
          <a:xfrm>
            <a:off x="8899073" y="1472532"/>
            <a:ext cx="1995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46B636"/>
                </a:solidFill>
              </a:rPr>
              <a:t>Spectroscop. C.O.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DD6273-41E8-4BED-2B49-D1CCE74AACFC}"/>
              </a:ext>
            </a:extLst>
          </p:cNvPr>
          <p:cNvSpPr txBox="1"/>
          <p:nvPr/>
        </p:nvSpPr>
        <p:spPr>
          <a:xfrm>
            <a:off x="9907485" y="1204847"/>
            <a:ext cx="1899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79F27"/>
                </a:solidFill>
              </a:rPr>
              <a:t>Astrometric. C.O.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BD8DF0E-59A0-5820-B71B-B4C84BB873A1}"/>
              </a:ext>
            </a:extLst>
          </p:cNvPr>
          <p:cNvGrpSpPr/>
          <p:nvPr/>
        </p:nvGrpSpPr>
        <p:grpSpPr>
          <a:xfrm rot="2305534">
            <a:off x="2339839" y="2537654"/>
            <a:ext cx="677611" cy="1249417"/>
            <a:chOff x="2272072" y="2994265"/>
            <a:chExt cx="677611" cy="124941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AE84E3-2039-2B38-58AA-557BDD59309A}"/>
                    </a:ext>
                  </a:extLst>
                </p14:cNvPr>
                <p14:cNvContentPartPr/>
                <p14:nvPr/>
              </p14:nvContentPartPr>
              <p14:xfrm>
                <a:off x="2574630" y="3153072"/>
                <a:ext cx="66240" cy="363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E3249AB-1B2A-BCAD-12F7-565726B8C3C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56990" y="3117432"/>
                  <a:ext cx="101880" cy="4352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92A6BD3-6DC4-29EB-A96C-1E8D28D20AB6}"/>
                </a:ext>
              </a:extLst>
            </p:cNvPr>
            <p:cNvGrpSpPr/>
            <p:nvPr/>
          </p:nvGrpSpPr>
          <p:grpSpPr>
            <a:xfrm rot="5400000">
              <a:off x="1986169" y="3280168"/>
              <a:ext cx="1249417" cy="677611"/>
              <a:chOff x="1219177" y="3119420"/>
              <a:chExt cx="1321181" cy="716531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89493AC-1A37-DE6B-B102-51BF69908496}"/>
                  </a:ext>
                </a:extLst>
              </p:cNvPr>
              <p:cNvSpPr/>
              <p:nvPr/>
            </p:nvSpPr>
            <p:spPr>
              <a:xfrm>
                <a:off x="1219177" y="3334586"/>
                <a:ext cx="251498" cy="234841"/>
              </a:xfrm>
              <a:prstGeom prst="ellipse">
                <a:avLst/>
              </a:prstGeom>
              <a:gradFill>
                <a:gsLst>
                  <a:gs pos="88000">
                    <a:srgbClr val="608DBC">
                      <a:lumMod val="100000"/>
                    </a:srgbClr>
                  </a:gs>
                  <a:gs pos="55000">
                    <a:srgbClr val="83B7E8">
                      <a:lumMod val="96000"/>
                    </a:srgbClr>
                  </a:gs>
                  <a:gs pos="18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82" name="Teardrop 81">
                <a:extLst>
                  <a:ext uri="{FF2B5EF4-FFF2-40B4-BE49-F238E27FC236}">
                    <a16:creationId xmlns:a16="http://schemas.microsoft.com/office/drawing/2014/main" id="{821BA746-5A20-29F5-2CD6-570394CE265D}"/>
                  </a:ext>
                </a:extLst>
              </p:cNvPr>
              <p:cNvSpPr/>
              <p:nvPr/>
            </p:nvSpPr>
            <p:spPr>
              <a:xfrm rot="13502577">
                <a:off x="1823827" y="3119420"/>
                <a:ext cx="716531" cy="716531"/>
              </a:xfrm>
              <a:prstGeom prst="teardrop">
                <a:avLst/>
              </a:prstGeom>
              <a:gradFill>
                <a:gsLst>
                  <a:gs pos="85000">
                    <a:srgbClr val="F5941B"/>
                  </a:gs>
                  <a:gs pos="57000">
                    <a:srgbClr val="FFC000"/>
                  </a:gs>
                  <a:gs pos="4000">
                    <a:srgbClr val="FCF8D9"/>
                  </a:gs>
                  <a:gs pos="32000">
                    <a:srgbClr val="F4F7A0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E7D00A1-C647-8248-778B-56344661E324}"/>
              </a:ext>
            </a:extLst>
          </p:cNvPr>
          <p:cNvGrpSpPr/>
          <p:nvPr/>
        </p:nvGrpSpPr>
        <p:grpSpPr>
          <a:xfrm rot="21091238">
            <a:off x="1033304" y="2632784"/>
            <a:ext cx="493605" cy="978913"/>
            <a:chOff x="1041625" y="2523278"/>
            <a:chExt cx="493605" cy="97891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C298B94-06DC-E8D8-7EF8-6628E607094A}"/>
                </a:ext>
              </a:extLst>
            </p:cNvPr>
            <p:cNvGrpSpPr/>
            <p:nvPr/>
          </p:nvGrpSpPr>
          <p:grpSpPr>
            <a:xfrm rot="7789791">
              <a:off x="798971" y="2765932"/>
              <a:ext cx="978913" cy="493605"/>
              <a:chOff x="3723385" y="4934297"/>
              <a:chExt cx="2139986" cy="732045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5C9A625-B446-EDBC-23EE-819D3430C144}"/>
                  </a:ext>
                </a:extLst>
              </p:cNvPr>
              <p:cNvSpPr/>
              <p:nvPr/>
            </p:nvSpPr>
            <p:spPr>
              <a:xfrm>
                <a:off x="3723385" y="4934297"/>
                <a:ext cx="1271446" cy="732045"/>
              </a:xfrm>
              <a:prstGeom prst="ellipse">
                <a:avLst/>
              </a:prstGeom>
              <a:gradFill>
                <a:gsLst>
                  <a:gs pos="59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22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D35AA83-9273-8903-E678-C45063A6390B}"/>
                  </a:ext>
                </a:extLst>
              </p:cNvPr>
              <p:cNvSpPr/>
              <p:nvPr/>
            </p:nvSpPr>
            <p:spPr>
              <a:xfrm>
                <a:off x="4835365" y="5056978"/>
                <a:ext cx="1028006" cy="565671"/>
              </a:xfrm>
              <a:prstGeom prst="ellipse">
                <a:avLst/>
              </a:prstGeom>
              <a:gradFill>
                <a:gsLst>
                  <a:gs pos="54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25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948657F-6933-651E-1ECA-8B72A8E2D325}"/>
                </a:ext>
              </a:extLst>
            </p:cNvPr>
            <p:cNvSpPr/>
            <p:nvPr/>
          </p:nvSpPr>
          <p:spPr>
            <a:xfrm rot="2395926">
              <a:off x="1174339" y="2750145"/>
              <a:ext cx="94820" cy="575760"/>
            </a:xfrm>
            <a:prstGeom prst="ellipse">
              <a:avLst/>
            </a:prstGeom>
            <a:solidFill>
              <a:srgbClr val="E2F3FB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855040F8-33A0-9156-6CF2-3A76806A3AAA}"/>
              </a:ext>
            </a:extLst>
          </p:cNvPr>
          <p:cNvSpPr txBox="1"/>
          <p:nvPr/>
        </p:nvSpPr>
        <p:spPr>
          <a:xfrm>
            <a:off x="5966825" y="3548855"/>
            <a:ext cx="136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stripped star</a:t>
            </a:r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5DB20D33-17E7-29C8-7DFE-58B1A9BB8A08}"/>
              </a:ext>
            </a:extLst>
          </p:cNvPr>
          <p:cNvSpPr/>
          <p:nvPr/>
        </p:nvSpPr>
        <p:spPr>
          <a:xfrm rot="14049865" flipV="1">
            <a:off x="5607107" y="3683301"/>
            <a:ext cx="261775" cy="364279"/>
          </a:xfrm>
          <a:custGeom>
            <a:avLst/>
            <a:gdLst>
              <a:gd name="connsiteX0" fmla="*/ 0 w 209974"/>
              <a:gd name="connsiteY0" fmla="*/ 0 h 223520"/>
              <a:gd name="connsiteX1" fmla="*/ 74507 w 209974"/>
              <a:gd name="connsiteY1" fmla="*/ 162560 h 223520"/>
              <a:gd name="connsiteX2" fmla="*/ 209974 w 209974"/>
              <a:gd name="connsiteY2" fmla="*/ 223520 h 22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974" h="223520">
                <a:moveTo>
                  <a:pt x="0" y="0"/>
                </a:moveTo>
                <a:cubicBezTo>
                  <a:pt x="19755" y="62653"/>
                  <a:pt x="39511" y="125307"/>
                  <a:pt x="74507" y="162560"/>
                </a:cubicBezTo>
                <a:cubicBezTo>
                  <a:pt x="109503" y="199813"/>
                  <a:pt x="159738" y="211666"/>
                  <a:pt x="209974" y="22352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AB79EEA-C854-1D78-B2D5-4D831CCBED94}"/>
              </a:ext>
            </a:extLst>
          </p:cNvPr>
          <p:cNvGrpSpPr/>
          <p:nvPr/>
        </p:nvGrpSpPr>
        <p:grpSpPr>
          <a:xfrm>
            <a:off x="3784403" y="2642165"/>
            <a:ext cx="766016" cy="1093408"/>
            <a:chOff x="3582353" y="2575693"/>
            <a:chExt cx="766016" cy="1093408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AE67C27C-DEFA-9C5F-78C7-A741A495F803}"/>
                </a:ext>
              </a:extLst>
            </p:cNvPr>
            <p:cNvSpPr/>
            <p:nvPr/>
          </p:nvSpPr>
          <p:spPr>
            <a:xfrm rot="1472995">
              <a:off x="3702804" y="2719179"/>
              <a:ext cx="614181" cy="76047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  <a:alpha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A277CFE-7FC5-F427-B21B-5BC064938515}"/>
                </a:ext>
              </a:extLst>
            </p:cNvPr>
            <p:cNvSpPr/>
            <p:nvPr/>
          </p:nvSpPr>
          <p:spPr>
            <a:xfrm>
              <a:off x="3582353" y="3256053"/>
              <a:ext cx="427541" cy="413048"/>
            </a:xfrm>
            <a:prstGeom prst="ellipse">
              <a:avLst/>
            </a:prstGeom>
            <a:gradFill>
              <a:gsLst>
                <a:gs pos="85000">
                  <a:srgbClr val="F5941B"/>
                </a:gs>
                <a:gs pos="74000">
                  <a:srgbClr val="FFC000"/>
                </a:gs>
                <a:gs pos="4000">
                  <a:srgbClr val="FCF8D9"/>
                </a:gs>
                <a:gs pos="41000">
                  <a:srgbClr val="F4F7A0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10C0D738-0C49-D74C-4244-F7131296E5B7}"/>
                </a:ext>
              </a:extLst>
            </p:cNvPr>
            <p:cNvGrpSpPr/>
            <p:nvPr/>
          </p:nvGrpSpPr>
          <p:grpSpPr>
            <a:xfrm>
              <a:off x="4026567" y="2575693"/>
              <a:ext cx="321802" cy="317900"/>
              <a:chOff x="4030666" y="2458275"/>
              <a:chExt cx="435368" cy="430089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814DFCF6-5470-0225-53B4-D1311D0D0AEE}"/>
                  </a:ext>
                </a:extLst>
              </p:cNvPr>
              <p:cNvSpPr/>
              <p:nvPr/>
            </p:nvSpPr>
            <p:spPr>
              <a:xfrm>
                <a:off x="4030666" y="2458275"/>
                <a:ext cx="435368" cy="430089"/>
              </a:xfrm>
              <a:prstGeom prst="ellipse">
                <a:avLst/>
              </a:prstGeom>
              <a:solidFill>
                <a:srgbClr val="77B0E6">
                  <a:alpha val="6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B6EAF482-FED8-E69A-365C-8EE56C95B82A}"/>
                  </a:ext>
                </a:extLst>
              </p:cNvPr>
              <p:cNvSpPr/>
              <p:nvPr/>
            </p:nvSpPr>
            <p:spPr>
              <a:xfrm>
                <a:off x="4079958" y="2506969"/>
                <a:ext cx="336786" cy="332701"/>
              </a:xfrm>
              <a:prstGeom prst="ellipse">
                <a:avLst/>
              </a:prstGeom>
              <a:gradFill>
                <a:gsLst>
                  <a:gs pos="88000">
                    <a:srgbClr val="608DBC">
                      <a:lumMod val="100000"/>
                    </a:srgbClr>
                  </a:gs>
                  <a:gs pos="55000">
                    <a:srgbClr val="83B7E8">
                      <a:lumMod val="96000"/>
                    </a:srgb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C0E4EC5-5543-C16E-10D8-88FE4F329B3D}"/>
              </a:ext>
            </a:extLst>
          </p:cNvPr>
          <p:cNvGrpSpPr/>
          <p:nvPr/>
        </p:nvGrpSpPr>
        <p:grpSpPr>
          <a:xfrm rot="1870429">
            <a:off x="5326274" y="2332452"/>
            <a:ext cx="724134" cy="1733082"/>
            <a:chOff x="4821425" y="2078831"/>
            <a:chExt cx="724134" cy="1733082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E77D511-FA61-12FC-7094-0B045239E889}"/>
                </a:ext>
              </a:extLst>
            </p:cNvPr>
            <p:cNvSpPr/>
            <p:nvPr/>
          </p:nvSpPr>
          <p:spPr>
            <a:xfrm>
              <a:off x="4821425" y="2315377"/>
              <a:ext cx="724134" cy="136736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  <a:alpha val="85232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DB2C2D5A-BBCF-772B-B3A2-337608AFFCD9}"/>
                </a:ext>
              </a:extLst>
            </p:cNvPr>
            <p:cNvSpPr/>
            <p:nvPr/>
          </p:nvSpPr>
          <p:spPr>
            <a:xfrm>
              <a:off x="5045746" y="3545760"/>
              <a:ext cx="275492" cy="266153"/>
            </a:xfrm>
            <a:prstGeom prst="ellipse">
              <a:avLst/>
            </a:prstGeom>
            <a:gradFill>
              <a:gsLst>
                <a:gs pos="57000">
                  <a:srgbClr val="72C0F3"/>
                </a:gs>
                <a:gs pos="95000">
                  <a:schemeClr val="tx2">
                    <a:lumMod val="50000"/>
                    <a:lumOff val="50000"/>
                  </a:schemeClr>
                </a:gs>
                <a:gs pos="67000">
                  <a:srgbClr val="C4E3F6"/>
                </a:gs>
                <a:gs pos="44000">
                  <a:srgbClr val="C4E3F6"/>
                </a:gs>
                <a:gs pos="14000">
                  <a:srgbClr val="E2F3FB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30B01276-B34C-20E8-7670-4D3102C8293E}"/>
                </a:ext>
              </a:extLst>
            </p:cNvPr>
            <p:cNvSpPr/>
            <p:nvPr/>
          </p:nvSpPr>
          <p:spPr>
            <a:xfrm>
              <a:off x="4887379" y="2078831"/>
              <a:ext cx="592225" cy="590152"/>
            </a:xfrm>
            <a:prstGeom prst="ellipse">
              <a:avLst/>
            </a:prstGeom>
            <a:gradFill>
              <a:gsLst>
                <a:gs pos="88000">
                  <a:srgbClr val="608DBC">
                    <a:lumMod val="100000"/>
                  </a:srgbClr>
                </a:gs>
                <a:gs pos="55000">
                  <a:srgbClr val="83B7E8">
                    <a:lumMod val="96000"/>
                  </a:srgbClr>
                </a:gs>
                <a:gs pos="18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0CB0E4E-FFD5-74C4-30EA-30E12A305A96}"/>
              </a:ext>
            </a:extLst>
          </p:cNvPr>
          <p:cNvGrpSpPr/>
          <p:nvPr/>
        </p:nvGrpSpPr>
        <p:grpSpPr>
          <a:xfrm rot="4536077">
            <a:off x="10308635" y="1863449"/>
            <a:ext cx="986463" cy="845396"/>
            <a:chOff x="10174273" y="1545234"/>
            <a:chExt cx="958526" cy="797395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DFDFA21E-6055-88A5-CA5F-3323974F98BF}"/>
                </a:ext>
              </a:extLst>
            </p:cNvPr>
            <p:cNvSpPr/>
            <p:nvPr/>
          </p:nvSpPr>
          <p:spPr>
            <a:xfrm rot="18472838">
              <a:off x="10404730" y="1488311"/>
              <a:ext cx="493795" cy="945508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  <a:alpha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F48DB89-6E71-766A-78C2-14328ED721E7}"/>
                </a:ext>
              </a:extLst>
            </p:cNvPr>
            <p:cNvSpPr/>
            <p:nvPr/>
          </p:nvSpPr>
          <p:spPr>
            <a:xfrm>
              <a:off x="10951554" y="2167528"/>
              <a:ext cx="181245" cy="175101"/>
            </a:xfrm>
            <a:prstGeom prst="ellipse">
              <a:avLst/>
            </a:prstGeom>
            <a:solidFill>
              <a:schemeClr val="tx1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8005386-581D-0A00-DEA8-CAE11601C61F}"/>
                </a:ext>
              </a:extLst>
            </p:cNvPr>
            <p:cNvGrpSpPr/>
            <p:nvPr/>
          </p:nvGrpSpPr>
          <p:grpSpPr>
            <a:xfrm>
              <a:off x="10174273" y="1545234"/>
              <a:ext cx="228203" cy="225436"/>
              <a:chOff x="4255383" y="2706764"/>
              <a:chExt cx="435368" cy="43008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94C9DEF3-17B2-CE79-C905-20B6F2AEEE1F}"/>
                  </a:ext>
                </a:extLst>
              </p:cNvPr>
              <p:cNvSpPr/>
              <p:nvPr/>
            </p:nvSpPr>
            <p:spPr>
              <a:xfrm>
                <a:off x="4304674" y="2755458"/>
                <a:ext cx="336785" cy="332703"/>
              </a:xfrm>
              <a:prstGeom prst="ellipse">
                <a:avLst/>
              </a:prstGeom>
              <a:solidFill>
                <a:srgbClr val="FCCE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4596E9AA-7F59-7BF5-48D9-72A729399E04}"/>
                  </a:ext>
                </a:extLst>
              </p:cNvPr>
              <p:cNvSpPr/>
              <p:nvPr/>
            </p:nvSpPr>
            <p:spPr>
              <a:xfrm>
                <a:off x="4255383" y="2706764"/>
                <a:ext cx="435368" cy="430089"/>
              </a:xfrm>
              <a:prstGeom prst="ellipse">
                <a:avLst/>
              </a:prstGeom>
              <a:solidFill>
                <a:srgbClr val="FCCE29">
                  <a:alpha val="459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314BD6A-6522-2D04-D698-FAABC636B8C6}"/>
              </a:ext>
            </a:extLst>
          </p:cNvPr>
          <p:cNvGrpSpPr/>
          <p:nvPr/>
        </p:nvGrpSpPr>
        <p:grpSpPr>
          <a:xfrm rot="974216">
            <a:off x="4384515" y="726413"/>
            <a:ext cx="869836" cy="1326200"/>
            <a:chOff x="8727267" y="1895750"/>
            <a:chExt cx="685072" cy="1044499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7DB45C3-EB12-1A1C-9529-72C290A20EBA}"/>
                </a:ext>
              </a:extLst>
            </p:cNvPr>
            <p:cNvSpPr/>
            <p:nvPr/>
          </p:nvSpPr>
          <p:spPr>
            <a:xfrm rot="1296632">
              <a:off x="8727267" y="2084015"/>
              <a:ext cx="568378" cy="774710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  <a:alpha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4B456A8-D254-3985-DFA4-E8CFF617B944}"/>
                </a:ext>
              </a:extLst>
            </p:cNvPr>
            <p:cNvSpPr/>
            <p:nvPr/>
          </p:nvSpPr>
          <p:spPr>
            <a:xfrm>
              <a:off x="8750766" y="2777903"/>
              <a:ext cx="168042" cy="162346"/>
            </a:xfrm>
            <a:prstGeom prst="ellipse">
              <a:avLst/>
            </a:prstGeom>
            <a:gradFill>
              <a:gsLst>
                <a:gs pos="91000">
                  <a:srgbClr val="AFDED0"/>
                </a:gs>
                <a:gs pos="70000">
                  <a:srgbClr val="92D050"/>
                </a:gs>
                <a:gs pos="21000">
                  <a:srgbClr val="C3E3B3"/>
                </a:gs>
                <a:gs pos="7000">
                  <a:srgbClr val="D8EBDE"/>
                </a:gs>
              </a:gsLst>
              <a:path path="circle">
                <a:fillToRect l="50000" t="50000" r="50000" b="50000"/>
              </a:path>
            </a:gradFill>
            <a:ln w="254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052B474-08F8-3147-5C32-0EDBF74DAEED}"/>
                </a:ext>
              </a:extLst>
            </p:cNvPr>
            <p:cNvSpPr/>
            <p:nvPr/>
          </p:nvSpPr>
          <p:spPr>
            <a:xfrm rot="7281029">
              <a:off x="8982440" y="1889043"/>
              <a:ext cx="423191" cy="436606"/>
            </a:xfrm>
            <a:prstGeom prst="ellipse">
              <a:avLst/>
            </a:prstGeom>
            <a:gradFill>
              <a:gsLst>
                <a:gs pos="59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2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8459CAB-7ECE-8E8D-6C16-485919E37A6A}"/>
              </a:ext>
            </a:extLst>
          </p:cNvPr>
          <p:cNvGrpSpPr/>
          <p:nvPr/>
        </p:nvGrpSpPr>
        <p:grpSpPr>
          <a:xfrm>
            <a:off x="9651972" y="3322207"/>
            <a:ext cx="1046992" cy="1022822"/>
            <a:chOff x="9583353" y="3466585"/>
            <a:chExt cx="1046992" cy="1022822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CC5496D1-41B1-2B5D-9479-B23C557231B9}"/>
                </a:ext>
              </a:extLst>
            </p:cNvPr>
            <p:cNvGrpSpPr/>
            <p:nvPr/>
          </p:nvGrpSpPr>
          <p:grpSpPr>
            <a:xfrm rot="6210821">
              <a:off x="9719420" y="3578481"/>
              <a:ext cx="1022822" cy="799029"/>
              <a:chOff x="10157605" y="1545234"/>
              <a:chExt cx="1022822" cy="799029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ACF8C35D-C8D5-5555-B152-ACF181D8A28B}"/>
                  </a:ext>
                </a:extLst>
              </p:cNvPr>
              <p:cNvSpPr/>
              <p:nvPr/>
            </p:nvSpPr>
            <p:spPr>
              <a:xfrm rot="18472838">
                <a:off x="10317842" y="1481679"/>
                <a:ext cx="702347" cy="1022822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  <a:alpha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FA36290C-7F0F-3B31-4466-397CAA7D2CEB}"/>
                  </a:ext>
                </a:extLst>
              </p:cNvPr>
              <p:cNvGrpSpPr/>
              <p:nvPr/>
            </p:nvGrpSpPr>
            <p:grpSpPr>
              <a:xfrm>
                <a:off x="10174273" y="1545234"/>
                <a:ext cx="228203" cy="225436"/>
                <a:chOff x="4255383" y="2706764"/>
                <a:chExt cx="435368" cy="430089"/>
              </a:xfrm>
            </p:grpSpPr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8A08972E-0440-0354-4071-2D8100D14DCD}"/>
                    </a:ext>
                  </a:extLst>
                </p:cNvPr>
                <p:cNvSpPr/>
                <p:nvPr/>
              </p:nvSpPr>
              <p:spPr>
                <a:xfrm>
                  <a:off x="4304674" y="2755458"/>
                  <a:ext cx="336785" cy="332703"/>
                </a:xfrm>
                <a:prstGeom prst="ellipse">
                  <a:avLst/>
                </a:prstGeom>
                <a:solidFill>
                  <a:srgbClr val="FCCE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7CCA377F-0F93-E660-73F3-0B39C77B9838}"/>
                    </a:ext>
                  </a:extLst>
                </p:cNvPr>
                <p:cNvSpPr/>
                <p:nvPr/>
              </p:nvSpPr>
              <p:spPr>
                <a:xfrm>
                  <a:off x="4255383" y="2706764"/>
                  <a:ext cx="435368" cy="430089"/>
                </a:xfrm>
                <a:prstGeom prst="ellipse">
                  <a:avLst/>
                </a:prstGeom>
                <a:solidFill>
                  <a:srgbClr val="FCCE29">
                    <a:alpha val="45982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4441D56-C3D9-3D92-017B-713B2DC922C1}"/>
                </a:ext>
              </a:extLst>
            </p:cNvPr>
            <p:cNvSpPr/>
            <p:nvPr/>
          </p:nvSpPr>
          <p:spPr>
            <a:xfrm>
              <a:off x="9583353" y="4133245"/>
              <a:ext cx="341613" cy="330033"/>
            </a:xfrm>
            <a:prstGeom prst="ellipse">
              <a:avLst/>
            </a:prstGeom>
            <a:gradFill>
              <a:gsLst>
                <a:gs pos="84000">
                  <a:srgbClr val="D4D0D2"/>
                </a:gs>
                <a:gs pos="17000">
                  <a:srgbClr val="FFFFFF"/>
                </a:gs>
                <a:gs pos="39000">
                  <a:srgbClr val="FAF0FA"/>
                </a:gs>
              </a:gsLst>
              <a:path path="circle">
                <a:fillToRect l="50000" t="50000" r="50000" b="50000"/>
              </a:path>
            </a:gra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200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BC6CEE0F-76D1-4FF2-6A01-2E2B9F141709}"/>
              </a:ext>
            </a:extLst>
          </p:cNvPr>
          <p:cNvSpPr txBox="1"/>
          <p:nvPr/>
        </p:nvSpPr>
        <p:spPr>
          <a:xfrm>
            <a:off x="9232852" y="2976802"/>
            <a:ext cx="43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NS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CE89211-19E0-E216-CE2B-A6F6D56C30A7}"/>
              </a:ext>
            </a:extLst>
          </p:cNvPr>
          <p:cNvSpPr txBox="1"/>
          <p:nvPr/>
        </p:nvSpPr>
        <p:spPr>
          <a:xfrm>
            <a:off x="10692530" y="259889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BH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D95EC64-1886-7FF1-1C0F-D6C19322B78E}"/>
              </a:ext>
            </a:extLst>
          </p:cNvPr>
          <p:cNvSpPr txBox="1"/>
          <p:nvPr/>
        </p:nvSpPr>
        <p:spPr>
          <a:xfrm>
            <a:off x="4238374" y="5214802"/>
            <a:ext cx="2586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8ACDEF"/>
                </a:solidFill>
              </a:rPr>
              <a:t>Low-M stripped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BA489F2-3DC8-60D6-3A64-A1C241F2484D}"/>
              </a:ext>
            </a:extLst>
          </p:cNvPr>
          <p:cNvSpPr txBox="1"/>
          <p:nvPr/>
        </p:nvSpPr>
        <p:spPr>
          <a:xfrm>
            <a:off x="9172063" y="5406632"/>
            <a:ext cx="2069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E3BCC9"/>
                </a:solidFill>
              </a:rPr>
              <a:t>WD binaries</a:t>
            </a:r>
          </a:p>
        </p:txBody>
      </p:sp>
      <p:sp>
        <p:nvSpPr>
          <p:cNvPr id="161" name="Right Brace 160">
            <a:extLst>
              <a:ext uri="{FF2B5EF4-FFF2-40B4-BE49-F238E27FC236}">
                <a16:creationId xmlns:a16="http://schemas.microsoft.com/office/drawing/2014/main" id="{8B1298FD-971F-7087-FCC5-4E634AD0921E}"/>
              </a:ext>
            </a:extLst>
          </p:cNvPr>
          <p:cNvSpPr/>
          <p:nvPr/>
        </p:nvSpPr>
        <p:spPr>
          <a:xfrm rot="5400000">
            <a:off x="5263487" y="3146365"/>
            <a:ext cx="369334" cy="3933754"/>
          </a:xfrm>
          <a:prstGeom prst="rightBrace">
            <a:avLst>
              <a:gd name="adj1" fmla="val 81151"/>
              <a:gd name="adj2" fmla="val 50456"/>
            </a:avLst>
          </a:prstGeom>
          <a:ln>
            <a:solidFill>
              <a:srgbClr val="8AC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2" name="Right Brace 161">
            <a:extLst>
              <a:ext uri="{FF2B5EF4-FFF2-40B4-BE49-F238E27FC236}">
                <a16:creationId xmlns:a16="http://schemas.microsoft.com/office/drawing/2014/main" id="{56289AC7-9015-844E-35BD-03FDDE8FD340}"/>
              </a:ext>
            </a:extLst>
          </p:cNvPr>
          <p:cNvSpPr/>
          <p:nvPr/>
        </p:nvSpPr>
        <p:spPr>
          <a:xfrm rot="5400000">
            <a:off x="9283131" y="3680548"/>
            <a:ext cx="263627" cy="3250526"/>
          </a:xfrm>
          <a:prstGeom prst="rightBrace">
            <a:avLst>
              <a:gd name="adj1" fmla="val 81151"/>
              <a:gd name="adj2" fmla="val 29496"/>
            </a:avLst>
          </a:prstGeom>
          <a:ln>
            <a:solidFill>
              <a:srgbClr val="E3BC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453F0C6-9A11-A826-FC26-56DD146CE403}"/>
              </a:ext>
            </a:extLst>
          </p:cNvPr>
          <p:cNvSpPr txBox="1"/>
          <p:nvPr/>
        </p:nvSpPr>
        <p:spPr>
          <a:xfrm>
            <a:off x="9981035" y="4077061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WD</a:t>
            </a:r>
          </a:p>
        </p:txBody>
      </p:sp>
    </p:spTree>
    <p:extLst>
      <p:ext uri="{BB962C8B-B14F-4D97-AF65-F5344CB8AC3E}">
        <p14:creationId xmlns:p14="http://schemas.microsoft.com/office/powerpoint/2010/main" val="3432608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615D7C8-D745-382D-01C5-AE0AC3A47003}"/>
              </a:ext>
            </a:extLst>
          </p:cNvPr>
          <p:cNvCxnSpPr>
            <a:cxnSpLocks/>
          </p:cNvCxnSpPr>
          <p:nvPr/>
        </p:nvCxnSpPr>
        <p:spPr>
          <a:xfrm>
            <a:off x="5580436" y="-4598581"/>
            <a:ext cx="0" cy="8726891"/>
          </a:xfrm>
          <a:prstGeom prst="line">
            <a:avLst/>
          </a:prstGeom>
          <a:ln w="19050">
            <a:solidFill>
              <a:srgbClr val="737A7F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0B1403A0-4F1F-76AB-D8E2-8B5CE2DD6E91}"/>
              </a:ext>
            </a:extLst>
          </p:cNvPr>
          <p:cNvGrpSpPr/>
          <p:nvPr/>
        </p:nvGrpSpPr>
        <p:grpSpPr>
          <a:xfrm>
            <a:off x="4989008" y="1215112"/>
            <a:ext cx="1575345" cy="1072743"/>
            <a:chOff x="1365070" y="2944622"/>
            <a:chExt cx="1575345" cy="1072743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D974B62-E76C-6018-807D-D6723AA26E1A}"/>
                </a:ext>
              </a:extLst>
            </p:cNvPr>
            <p:cNvSpPr/>
            <p:nvPr/>
          </p:nvSpPr>
          <p:spPr>
            <a:xfrm>
              <a:off x="1436076" y="3371991"/>
              <a:ext cx="161004" cy="1503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9DD649F-C8C4-621D-3EEB-A52CE4D9B384}"/>
                </a:ext>
              </a:extLst>
            </p:cNvPr>
            <p:cNvSpPr/>
            <p:nvPr/>
          </p:nvSpPr>
          <p:spPr>
            <a:xfrm>
              <a:off x="1365070" y="3288044"/>
              <a:ext cx="298946" cy="281267"/>
            </a:xfrm>
            <a:prstGeom prst="ellipse">
              <a:avLst/>
            </a:prstGeom>
            <a:noFill/>
            <a:ln w="41275">
              <a:solidFill>
                <a:srgbClr val="6B9CD1">
                  <a:alpha val="97000"/>
                </a:srgbClr>
              </a:solidFill>
            </a:ln>
            <a:scene3d>
              <a:camera prst="orthographicFront">
                <a:rot lat="16620000" lon="0" rev="0"/>
              </a:camera>
              <a:lightRig rig="soft" dir="t">
                <a:rot lat="0" lon="0" rev="10200000"/>
              </a:lightRig>
            </a:scene3d>
            <a:sp3d prstMaterial="matte">
              <a:bevelT w="38100" h="19050"/>
              <a:bevelB w="44450" h="190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Chord 62">
              <a:extLst>
                <a:ext uri="{FF2B5EF4-FFF2-40B4-BE49-F238E27FC236}">
                  <a16:creationId xmlns:a16="http://schemas.microsoft.com/office/drawing/2014/main" id="{21227D7A-8F85-28D0-D5AF-29C7C3082CB6}"/>
                </a:ext>
              </a:extLst>
            </p:cNvPr>
            <p:cNvSpPr/>
            <p:nvPr/>
          </p:nvSpPr>
          <p:spPr>
            <a:xfrm rot="7151688">
              <a:off x="1434062" y="3339727"/>
              <a:ext cx="169642" cy="169642"/>
            </a:xfrm>
            <a:prstGeom prst="chord">
              <a:avLst>
                <a:gd name="adj1" fmla="val 2700000"/>
                <a:gd name="adj2" fmla="val 1541038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349B80E-78AE-B6E1-4B0C-2874E70AD02B}"/>
                </a:ext>
              </a:extLst>
            </p:cNvPr>
            <p:cNvGrpSpPr/>
            <p:nvPr/>
          </p:nvGrpSpPr>
          <p:grpSpPr>
            <a:xfrm>
              <a:off x="1867672" y="2944622"/>
              <a:ext cx="1072743" cy="1072743"/>
              <a:chOff x="5245118" y="2933665"/>
              <a:chExt cx="1072743" cy="1072743"/>
            </a:xfrm>
          </p:grpSpPr>
          <p:sp>
            <p:nvSpPr>
              <p:cNvPr id="65" name="Teardrop 64">
                <a:extLst>
                  <a:ext uri="{FF2B5EF4-FFF2-40B4-BE49-F238E27FC236}">
                    <a16:creationId xmlns:a16="http://schemas.microsoft.com/office/drawing/2014/main" id="{DAA481AB-0225-C325-3DC4-0BABD46E6544}"/>
                  </a:ext>
                </a:extLst>
              </p:cNvPr>
              <p:cNvSpPr/>
              <p:nvPr/>
            </p:nvSpPr>
            <p:spPr>
              <a:xfrm rot="13664817">
                <a:off x="5245118" y="2933665"/>
                <a:ext cx="1072743" cy="1072743"/>
              </a:xfrm>
              <a:prstGeom prst="teardrop">
                <a:avLst/>
              </a:prstGeom>
              <a:gradFill>
                <a:gsLst>
                  <a:gs pos="95000">
                    <a:srgbClr val="608DBC">
                      <a:lumMod val="100000"/>
                    </a:srgbClr>
                  </a:gs>
                  <a:gs pos="63000">
                    <a:srgbClr val="83B7E8">
                      <a:lumMod val="96000"/>
                    </a:srgbClr>
                  </a:gs>
                  <a:gs pos="4000">
                    <a:srgbClr val="CCE9F8">
                      <a:lumMod val="38000"/>
                      <a:lumOff val="62000"/>
                    </a:srgbClr>
                  </a:gs>
                  <a:gs pos="32000">
                    <a:srgbClr val="CCE9F8"/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6B58C01-2E5F-272E-FDB7-74E76B64DE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43374" y="3336631"/>
                <a:ext cx="278612" cy="277556"/>
              </a:xfrm>
              <a:prstGeom prst="ellipse">
                <a:avLst/>
              </a:prstGeom>
              <a:gradFill flip="none" rotWithShape="1">
                <a:gsLst>
                  <a:gs pos="89000">
                    <a:srgbClr val="82ADE4">
                      <a:lumMod val="69000"/>
                    </a:srgbClr>
                  </a:gs>
                  <a:gs pos="63000">
                    <a:srgbClr val="95C5EC"/>
                  </a:gs>
                  <a:gs pos="1000">
                    <a:srgbClr val="E6F5FB">
                      <a:lumMod val="70000"/>
                      <a:lumOff val="30000"/>
                    </a:srgbClr>
                  </a:gs>
                  <a:gs pos="30000">
                    <a:srgbClr val="E6F5FB"/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3F625B9-CBA7-15AE-1D8D-FCD8CD01C4F7}"/>
              </a:ext>
            </a:extLst>
          </p:cNvPr>
          <p:cNvGrpSpPr/>
          <p:nvPr/>
        </p:nvGrpSpPr>
        <p:grpSpPr>
          <a:xfrm>
            <a:off x="4795396" y="-4049666"/>
            <a:ext cx="1303767" cy="446874"/>
            <a:chOff x="3838438" y="736819"/>
            <a:chExt cx="1303767" cy="446874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92348CA-7CC3-49FF-6939-B28CBF98C6F5}"/>
                </a:ext>
              </a:extLst>
            </p:cNvPr>
            <p:cNvSpPr/>
            <p:nvPr/>
          </p:nvSpPr>
          <p:spPr>
            <a:xfrm>
              <a:off x="3838438" y="736819"/>
              <a:ext cx="446874" cy="446874"/>
            </a:xfrm>
            <a:prstGeom prst="ellipse">
              <a:avLst/>
            </a:prstGeom>
            <a:gradFill>
              <a:gsLst>
                <a:gs pos="95000">
                  <a:srgbClr val="608DBC">
                    <a:lumMod val="100000"/>
                  </a:srgbClr>
                </a:gs>
                <a:gs pos="63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3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12FCE7A-DF49-0CEF-36E7-6000989DE6F2}"/>
                </a:ext>
              </a:extLst>
            </p:cNvPr>
            <p:cNvSpPr/>
            <p:nvPr/>
          </p:nvSpPr>
          <p:spPr>
            <a:xfrm>
              <a:off x="4832471" y="795990"/>
              <a:ext cx="309734" cy="309734"/>
            </a:xfrm>
            <a:prstGeom prst="ellipse">
              <a:avLst/>
            </a:prstGeom>
            <a:gradFill>
              <a:gsLst>
                <a:gs pos="95000">
                  <a:srgbClr val="608DBC">
                    <a:lumMod val="100000"/>
                  </a:srgbClr>
                </a:gs>
                <a:gs pos="63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3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725ECC-CFF6-93DF-B370-9D51E9479469}"/>
              </a:ext>
            </a:extLst>
          </p:cNvPr>
          <p:cNvGrpSpPr/>
          <p:nvPr/>
        </p:nvGrpSpPr>
        <p:grpSpPr>
          <a:xfrm>
            <a:off x="4806281" y="-549588"/>
            <a:ext cx="2053407" cy="991722"/>
            <a:chOff x="3206436" y="3348347"/>
            <a:chExt cx="2053407" cy="991722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1378686-F076-4D52-7019-9D66FBD55C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06436" y="3752751"/>
              <a:ext cx="183610" cy="182914"/>
            </a:xfrm>
            <a:prstGeom prst="ellipse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76174A5-6BD2-9618-8D36-B00615F5B325}"/>
                </a:ext>
              </a:extLst>
            </p:cNvPr>
            <p:cNvSpPr/>
            <p:nvPr/>
          </p:nvSpPr>
          <p:spPr>
            <a:xfrm>
              <a:off x="4268121" y="3348347"/>
              <a:ext cx="991722" cy="991722"/>
            </a:xfrm>
            <a:prstGeom prst="ellipse">
              <a:avLst/>
            </a:prstGeom>
            <a:gradFill>
              <a:gsLst>
                <a:gs pos="95000">
                  <a:srgbClr val="608DBC">
                    <a:lumMod val="100000"/>
                  </a:srgbClr>
                </a:gs>
                <a:gs pos="63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3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899C53-61F2-63D4-A5C1-680BB1EA5A57}"/>
              </a:ext>
            </a:extLst>
          </p:cNvPr>
          <p:cNvGrpSpPr/>
          <p:nvPr/>
        </p:nvGrpSpPr>
        <p:grpSpPr>
          <a:xfrm>
            <a:off x="4495379" y="-3194786"/>
            <a:ext cx="1766850" cy="1072743"/>
            <a:chOff x="3538426" y="1986515"/>
            <a:chExt cx="1766850" cy="1072743"/>
          </a:xfrm>
        </p:grpSpPr>
        <p:sp>
          <p:nvSpPr>
            <p:cNvPr id="53" name="Teardrop 52">
              <a:extLst>
                <a:ext uri="{FF2B5EF4-FFF2-40B4-BE49-F238E27FC236}">
                  <a16:creationId xmlns:a16="http://schemas.microsoft.com/office/drawing/2014/main" id="{DFBEB3B0-B070-F6E0-E69E-95C76B41DF51}"/>
                </a:ext>
              </a:extLst>
            </p:cNvPr>
            <p:cNvSpPr/>
            <p:nvPr/>
          </p:nvSpPr>
          <p:spPr>
            <a:xfrm rot="7935183" flipH="1">
              <a:off x="3538426" y="1986515"/>
              <a:ext cx="1072743" cy="1072743"/>
            </a:xfrm>
            <a:prstGeom prst="teardrop">
              <a:avLst/>
            </a:prstGeom>
            <a:gradFill>
              <a:gsLst>
                <a:gs pos="95000">
                  <a:srgbClr val="608DBC">
                    <a:lumMod val="100000"/>
                  </a:srgbClr>
                </a:gs>
                <a:gs pos="63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3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F620B5D-9580-056A-A5B7-8EA7BE7D94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32283" y="2384108"/>
              <a:ext cx="278612" cy="277556"/>
            </a:xfrm>
            <a:prstGeom prst="ellipse">
              <a:avLst/>
            </a:prstGeom>
            <a:gradFill flip="none" rotWithShape="1">
              <a:gsLst>
                <a:gs pos="89000">
                  <a:srgbClr val="82ADE4">
                    <a:lumMod val="69000"/>
                  </a:srgbClr>
                </a:gs>
                <a:gs pos="63000">
                  <a:srgbClr val="95C5EC"/>
                </a:gs>
                <a:gs pos="1000">
                  <a:srgbClr val="E6F5FB">
                    <a:lumMod val="70000"/>
                    <a:lumOff val="30000"/>
                  </a:srgbClr>
                </a:gs>
                <a:gs pos="30000">
                  <a:srgbClr val="E6F5FB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CB4F2EC-590C-453F-C86D-BC29E74FB5AC}"/>
                </a:ext>
              </a:extLst>
            </p:cNvPr>
            <p:cNvSpPr/>
            <p:nvPr/>
          </p:nvSpPr>
          <p:spPr>
            <a:xfrm>
              <a:off x="4877922" y="2319286"/>
              <a:ext cx="375581" cy="375581"/>
            </a:xfrm>
            <a:prstGeom prst="ellipse">
              <a:avLst/>
            </a:prstGeom>
            <a:gradFill>
              <a:gsLst>
                <a:gs pos="95000">
                  <a:srgbClr val="608DBC">
                    <a:lumMod val="100000"/>
                  </a:srgbClr>
                </a:gs>
                <a:gs pos="63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3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C7F7129-3FE1-30E6-0BEB-D4FB447A1DA9}"/>
                </a:ext>
              </a:extLst>
            </p:cNvPr>
            <p:cNvSpPr/>
            <p:nvPr/>
          </p:nvSpPr>
          <p:spPr>
            <a:xfrm>
              <a:off x="4787016" y="2316131"/>
              <a:ext cx="518260" cy="277556"/>
            </a:xfrm>
            <a:prstGeom prst="ellipse">
              <a:avLst/>
            </a:prstGeom>
            <a:noFill/>
            <a:ln w="41275">
              <a:solidFill>
                <a:srgbClr val="6B9CD1"/>
              </a:solidFill>
              <a:bevel/>
            </a:ln>
            <a:scene3d>
              <a:camera prst="orthographicFront">
                <a:rot lat="16080000" lon="0" rev="0"/>
              </a:camera>
              <a:lightRig rig="soft" dir="t">
                <a:rot lat="0" lon="0" rev="10200000"/>
              </a:lightRig>
            </a:scene3d>
            <a:sp3d prstMaterial="matte">
              <a:bevelT w="50800" h="38100"/>
              <a:bevelB w="444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B1F20407-ACDD-ED83-93BB-C91304943549}"/>
              </a:ext>
            </a:extLst>
          </p:cNvPr>
          <p:cNvSpPr>
            <a:spLocks noChangeAspect="1"/>
          </p:cNvSpPr>
          <p:nvPr/>
        </p:nvSpPr>
        <p:spPr>
          <a:xfrm>
            <a:off x="5562443" y="3422214"/>
            <a:ext cx="183610" cy="18291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08F9F2-FB11-CE88-07D1-2C82DFBC8EE5}"/>
              </a:ext>
            </a:extLst>
          </p:cNvPr>
          <p:cNvSpPr/>
          <p:nvPr/>
        </p:nvSpPr>
        <p:spPr>
          <a:xfrm>
            <a:off x="4076896" y="-4571433"/>
            <a:ext cx="12546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M</a:t>
            </a:r>
            <a:r>
              <a:rPr lang="en-US" sz="2200" baseline="-25000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ZAMS,a</a:t>
            </a:r>
            <a:endParaRPr lang="en-NL" sz="2200" baseline="-250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A9B7D-FCD0-3537-AEF3-62AFFC833A9F}"/>
              </a:ext>
            </a:extLst>
          </p:cNvPr>
          <p:cNvSpPr/>
          <p:nvPr/>
        </p:nvSpPr>
        <p:spPr>
          <a:xfrm>
            <a:off x="5912954" y="-4571433"/>
            <a:ext cx="14150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M</a:t>
            </a:r>
            <a:r>
              <a:rPr lang="en-US" sz="2200" baseline="-25000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ZAMS,b</a:t>
            </a:r>
            <a:endParaRPr lang="en-NL" sz="2200" baseline="-250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91F027-0719-F213-A35C-3B441C791958}"/>
              </a:ext>
            </a:extLst>
          </p:cNvPr>
          <p:cNvSpPr/>
          <p:nvPr/>
        </p:nvSpPr>
        <p:spPr>
          <a:xfrm>
            <a:off x="4375862" y="-40891"/>
            <a:ext cx="95571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M</a:t>
            </a:r>
            <a:r>
              <a:rPr lang="en-US" sz="2200" baseline="-25000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BH,a</a:t>
            </a:r>
            <a:endParaRPr lang="en-NL" sz="2200" baseline="-250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FC5DFD-139B-1185-B6C8-5AC85AAC3606}"/>
              </a:ext>
            </a:extLst>
          </p:cNvPr>
          <p:cNvSpPr/>
          <p:nvPr/>
        </p:nvSpPr>
        <p:spPr>
          <a:xfrm>
            <a:off x="6276088" y="323368"/>
            <a:ext cx="18473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NL" baseline="-250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4AC46C-2568-6715-A4D5-4F82DD2E047D}"/>
              </a:ext>
            </a:extLst>
          </p:cNvPr>
          <p:cNvSpPr/>
          <p:nvPr/>
        </p:nvSpPr>
        <p:spPr>
          <a:xfrm>
            <a:off x="6808059" y="1699167"/>
            <a:ext cx="8869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M</a:t>
            </a:r>
            <a:r>
              <a:rPr lang="en-US" sz="2000" baseline="-25000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core</a:t>
            </a:r>
            <a:endParaRPr lang="en-NL" sz="2000" baseline="-250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62AAA8-0106-27EB-3E76-7373A9C01DE0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236411" y="1802341"/>
            <a:ext cx="571648" cy="96881"/>
          </a:xfrm>
          <a:prstGeom prst="straightConnector1">
            <a:avLst/>
          </a:prstGeom>
          <a:ln w="19050">
            <a:solidFill>
              <a:srgbClr val="737A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0C2ABBD-460F-F95F-98BA-38D8C3213560}"/>
              </a:ext>
            </a:extLst>
          </p:cNvPr>
          <p:cNvSpPr/>
          <p:nvPr/>
        </p:nvSpPr>
        <p:spPr>
          <a:xfrm>
            <a:off x="5776681" y="-3354528"/>
            <a:ext cx="244034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37A7F"/>
                </a:solidFill>
              </a:rPr>
              <a:t>1</a:t>
            </a:r>
            <a:r>
              <a:rPr lang="en-US" sz="2200" b="1" baseline="30000" dirty="0">
                <a:solidFill>
                  <a:srgbClr val="737A7F"/>
                </a:solidFill>
              </a:rPr>
              <a:t>st</a:t>
            </a:r>
            <a:r>
              <a:rPr lang="en-US" sz="2200" b="1" dirty="0">
                <a:solidFill>
                  <a:srgbClr val="737A7F"/>
                </a:solidFill>
              </a:rPr>
              <a:t> mass transfer</a:t>
            </a:r>
            <a:endParaRPr lang="en-NL" sz="2200" baseline="-25000" dirty="0">
              <a:solidFill>
                <a:srgbClr val="737A7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6308D9-5BF7-E042-D36C-0915EEEC440F}"/>
              </a:ext>
            </a:extLst>
          </p:cNvPr>
          <p:cNvSpPr/>
          <p:nvPr/>
        </p:nvSpPr>
        <p:spPr>
          <a:xfrm>
            <a:off x="5776676" y="719784"/>
            <a:ext cx="24403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37A7F"/>
                </a:solidFill>
              </a:rPr>
              <a:t>2</a:t>
            </a:r>
            <a:r>
              <a:rPr lang="en-US" sz="2200" b="1" baseline="30000" dirty="0">
                <a:solidFill>
                  <a:srgbClr val="737A7F"/>
                </a:solidFill>
              </a:rPr>
              <a:t>nd</a:t>
            </a:r>
            <a:r>
              <a:rPr lang="en-US" sz="2200" b="1" dirty="0">
                <a:solidFill>
                  <a:srgbClr val="737A7F"/>
                </a:solidFill>
              </a:rPr>
              <a:t> mass transfer</a:t>
            </a:r>
            <a:endParaRPr lang="en-NL" sz="2200" baseline="-25000" dirty="0">
              <a:solidFill>
                <a:srgbClr val="737A7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B3CA81-CAC9-2C97-D169-743949BB0873}"/>
                  </a:ext>
                </a:extLst>
              </p:cNvPr>
              <p:cNvSpPr txBox="1"/>
              <p:nvPr/>
            </p:nvSpPr>
            <p:spPr>
              <a:xfrm>
                <a:off x="6349005" y="-3732562"/>
                <a:ext cx="2816243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𝑀𝑎𝑠𝑠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𝑡𝑟𝑎𝑛𝑠𝑓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. 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𝑠𝑡𝑎𝑏𝑖𝑙𝑖𝑡𝑦</m:t>
                      </m:r>
                    </m:oMath>
                  </m:oMathPara>
                </a14:m>
                <a:endParaRPr lang="en-NL" sz="2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B3CA81-CAC9-2C97-D169-743949BB0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05" y="-3732562"/>
                <a:ext cx="2816243" cy="338554"/>
              </a:xfrm>
              <a:prstGeom prst="rect">
                <a:avLst/>
              </a:prstGeom>
              <a:blipFill>
                <a:blip r:embed="rId2"/>
                <a:stretch>
                  <a:fillRect l="-3604" t="-7407" r="-2252" b="-4074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2DAF233-0987-1AE3-A5F0-DF35F711B3B2}"/>
                  </a:ext>
                </a:extLst>
              </p:cNvPr>
              <p:cNvSpPr/>
              <p:nvPr/>
            </p:nvSpPr>
            <p:spPr>
              <a:xfrm>
                <a:off x="6960218" y="-1318540"/>
                <a:ext cx="1228221" cy="4230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𝑀</m:t>
                      </m:r>
                      <m:r>
                        <m:rPr>
                          <m:sty m:val="p"/>
                        </m:rPr>
                        <a:rPr lang="en-US" sz="2200" baseline="-25000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post</m:t>
                      </m:r>
                      <m:r>
                        <a:rPr lang="en-US" sz="2200" baseline="-25000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aseline="-25000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MT</m:t>
                      </m:r>
                      <m:r>
                        <a:rPr lang="en-US" sz="2200" baseline="-25000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1</m:t>
                      </m:r>
                    </m:oMath>
                  </m:oMathPara>
                </a14:m>
                <a:endParaRPr lang="en-NL" sz="2200" baseline="-250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2DAF233-0987-1AE3-A5F0-DF35F711B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218" y="-1318540"/>
                <a:ext cx="1228221" cy="423065"/>
              </a:xfrm>
              <a:prstGeom prst="rect">
                <a:avLst/>
              </a:prstGeom>
              <a:blipFill>
                <a:blip r:embed="rId3"/>
                <a:stretch>
                  <a:fillRect l="-1031" b="-3529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32E7C773-8F4A-0057-B170-832F124F9B8C}"/>
              </a:ext>
            </a:extLst>
          </p:cNvPr>
          <p:cNvSpPr/>
          <p:nvPr/>
        </p:nvSpPr>
        <p:spPr>
          <a:xfrm>
            <a:off x="4537485" y="2790883"/>
            <a:ext cx="95571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00" i="1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M</a:t>
            </a:r>
            <a:r>
              <a:rPr lang="en-US" sz="2200" baseline="-25000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BH,a</a:t>
            </a:r>
            <a:endParaRPr lang="en-NL" sz="2200" baseline="-250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89B532-7B31-7135-0476-3764D4F75989}"/>
              </a:ext>
            </a:extLst>
          </p:cNvPr>
          <p:cNvSpPr/>
          <p:nvPr/>
        </p:nvSpPr>
        <p:spPr>
          <a:xfrm>
            <a:off x="4773539" y="3384172"/>
            <a:ext cx="955711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2200" i="1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M</a:t>
            </a:r>
            <a:r>
              <a:rPr lang="en-US" sz="2200" baseline="-25000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BH,b</a:t>
            </a:r>
            <a:endParaRPr lang="en-NL" sz="2200" baseline="-250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CF9F2C-BD40-3C3F-EB4C-E00AD29FF929}"/>
              </a:ext>
            </a:extLst>
          </p:cNvPr>
          <p:cNvSpPr/>
          <p:nvPr/>
        </p:nvSpPr>
        <p:spPr>
          <a:xfrm>
            <a:off x="6547845" y="1189953"/>
            <a:ext cx="240344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00" i="1" dirty="0">
                <a:latin typeface="Latin Modern Math" panose="02000503000000000000" pitchFamily="2" charset="77"/>
                <a:ea typeface="Latin Modern Math" panose="02000503000000000000" pitchFamily="2" charset="77"/>
              </a:rPr>
              <a:t>Core mass fraction</a:t>
            </a:r>
            <a:endParaRPr lang="en-NL" sz="2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E7161D8-E8DB-30F4-38CF-1A44846AAC9E}"/>
              </a:ext>
            </a:extLst>
          </p:cNvPr>
          <p:cNvCxnSpPr>
            <a:cxnSpLocks/>
          </p:cNvCxnSpPr>
          <p:nvPr/>
        </p:nvCxnSpPr>
        <p:spPr>
          <a:xfrm flipV="1">
            <a:off x="6704892" y="1542729"/>
            <a:ext cx="2209844" cy="7770"/>
          </a:xfrm>
          <a:prstGeom prst="line">
            <a:avLst/>
          </a:prstGeom>
          <a:ln w="57150">
            <a:solidFill>
              <a:srgbClr val="F6AF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B4346F-4387-EDFA-FFC6-1657065DC637}"/>
              </a:ext>
            </a:extLst>
          </p:cNvPr>
          <p:cNvCxnSpPr>
            <a:cxnSpLocks/>
          </p:cNvCxnSpPr>
          <p:nvPr/>
        </p:nvCxnSpPr>
        <p:spPr>
          <a:xfrm>
            <a:off x="6333955" y="-3376517"/>
            <a:ext cx="2831293" cy="21988"/>
          </a:xfrm>
          <a:prstGeom prst="line">
            <a:avLst/>
          </a:prstGeom>
          <a:ln w="57150">
            <a:solidFill>
              <a:srgbClr val="C0CC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6F829D4-DDCB-3EEA-95A2-8F7E7A22737B}"/>
              </a:ext>
            </a:extLst>
          </p:cNvPr>
          <p:cNvGrpSpPr/>
          <p:nvPr/>
        </p:nvGrpSpPr>
        <p:grpSpPr>
          <a:xfrm>
            <a:off x="4753122" y="-1877047"/>
            <a:ext cx="2125269" cy="991722"/>
            <a:chOff x="6347894" y="2886543"/>
            <a:chExt cx="2125269" cy="991722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829C625-4407-2976-B911-9B915DE6AB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47894" y="3243626"/>
              <a:ext cx="278612" cy="277556"/>
            </a:xfrm>
            <a:prstGeom prst="ellipse">
              <a:avLst/>
            </a:prstGeom>
            <a:gradFill flip="none" rotWithShape="1">
              <a:gsLst>
                <a:gs pos="89000">
                  <a:srgbClr val="82ADE4">
                    <a:lumMod val="69000"/>
                  </a:srgbClr>
                </a:gs>
                <a:gs pos="63000">
                  <a:srgbClr val="95C5EC"/>
                </a:gs>
                <a:gs pos="1000">
                  <a:srgbClr val="E6F5FB">
                    <a:lumMod val="70000"/>
                    <a:lumOff val="30000"/>
                  </a:srgbClr>
                </a:gs>
                <a:gs pos="30000">
                  <a:srgbClr val="E6F5FB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678A1CD-0A9A-E662-C3E1-AAA02950754F}"/>
                </a:ext>
              </a:extLst>
            </p:cNvPr>
            <p:cNvSpPr/>
            <p:nvPr/>
          </p:nvSpPr>
          <p:spPr>
            <a:xfrm>
              <a:off x="7481441" y="2886543"/>
              <a:ext cx="991722" cy="991722"/>
            </a:xfrm>
            <a:prstGeom prst="ellipse">
              <a:avLst/>
            </a:prstGeom>
            <a:gradFill>
              <a:gsLst>
                <a:gs pos="95000">
                  <a:srgbClr val="608DBC">
                    <a:lumMod val="100000"/>
                  </a:srgbClr>
                </a:gs>
                <a:gs pos="63000">
                  <a:srgbClr val="83B7E8">
                    <a:lumMod val="96000"/>
                  </a:srgbClr>
                </a:gs>
                <a:gs pos="4000">
                  <a:srgbClr val="CCE9F8">
                    <a:lumMod val="38000"/>
                    <a:lumOff val="62000"/>
                  </a:srgbClr>
                </a:gs>
                <a:gs pos="32000">
                  <a:srgbClr val="CCE9F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1ADAF2D3-9D55-786F-304B-1916C1D6F619}"/>
              </a:ext>
            </a:extLst>
          </p:cNvPr>
          <p:cNvSpPr/>
          <p:nvPr/>
        </p:nvSpPr>
        <p:spPr>
          <a:xfrm>
            <a:off x="3026752" y="402952"/>
            <a:ext cx="207714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00" i="1" dirty="0">
                <a:latin typeface="Latin Modern Math" panose="02000503000000000000" pitchFamily="2" charset="77"/>
                <a:ea typeface="Latin Modern Math" panose="02000503000000000000" pitchFamily="2" charset="77"/>
              </a:rPr>
              <a:t>Remnant mass</a:t>
            </a:r>
            <a:endParaRPr lang="en-NL" sz="22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0672810-58C6-B3C1-C23F-6DA5F5BE1F97}"/>
                  </a:ext>
                </a:extLst>
              </p:cNvPr>
              <p:cNvSpPr/>
              <p:nvPr/>
            </p:nvSpPr>
            <p:spPr>
              <a:xfrm>
                <a:off x="6081907" y="-2602765"/>
                <a:ext cx="2816251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𝐴𝑐𝑐𝑟𝑒𝑡𝑖𝑜𝑛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Latin Modern Math" panose="02000503000000000000" pitchFamily="2" charset="77"/>
                        </a:rPr>
                        <m:t>𝑒𝑓𝑓𝑖𝑐𝑖𝑒𝑛𝑐𝑦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Latin Modern Math" panose="02000503000000000000" pitchFamily="2" charset="77"/>
                </a:endParaRPr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0672810-58C6-B3C1-C23F-6DA5F5BE1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907" y="-2602765"/>
                <a:ext cx="2816251" cy="430887"/>
              </a:xfrm>
              <a:prstGeom prst="rect">
                <a:avLst/>
              </a:prstGeom>
              <a:blipFill>
                <a:blip r:embed="rId4"/>
                <a:stretch>
                  <a:fillRect r="-901" b="-1714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DC56A5-90BA-09B0-F304-11C2EEAC3C8D}"/>
              </a:ext>
            </a:extLst>
          </p:cNvPr>
          <p:cNvCxnSpPr>
            <a:cxnSpLocks/>
          </p:cNvCxnSpPr>
          <p:nvPr/>
        </p:nvCxnSpPr>
        <p:spPr>
          <a:xfrm flipV="1">
            <a:off x="6174644" y="-2196634"/>
            <a:ext cx="2601349" cy="21896"/>
          </a:xfrm>
          <a:prstGeom prst="line">
            <a:avLst/>
          </a:prstGeom>
          <a:ln w="57150">
            <a:solidFill>
              <a:srgbClr val="FA5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8DFA9B6-F0D4-4171-604F-E72A98A6DD06}"/>
              </a:ext>
            </a:extLst>
          </p:cNvPr>
          <p:cNvCxnSpPr>
            <a:cxnSpLocks/>
          </p:cNvCxnSpPr>
          <p:nvPr/>
        </p:nvCxnSpPr>
        <p:spPr>
          <a:xfrm>
            <a:off x="3365210" y="833834"/>
            <a:ext cx="1664992" cy="0"/>
          </a:xfrm>
          <a:prstGeom prst="line">
            <a:avLst/>
          </a:prstGeom>
          <a:ln w="57150">
            <a:solidFill>
              <a:srgbClr val="39A1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4376429-3EB0-4B0F-FDF5-35FA0951C296}"/>
              </a:ext>
            </a:extLst>
          </p:cNvPr>
          <p:cNvSpPr/>
          <p:nvPr/>
        </p:nvSpPr>
        <p:spPr>
          <a:xfrm>
            <a:off x="6122986" y="3384172"/>
            <a:ext cx="955711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2200" i="1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M</a:t>
            </a:r>
            <a:r>
              <a:rPr lang="en-US" sz="2200" baseline="-25000" dirty="0" err="1">
                <a:latin typeface="Latin Modern Math" panose="02000503000000000000" pitchFamily="2" charset="77"/>
                <a:ea typeface="Latin Modern Math" panose="02000503000000000000" pitchFamily="2" charset="77"/>
              </a:rPr>
              <a:t>NS,b</a:t>
            </a:r>
            <a:endParaRPr lang="en-NL" sz="2200" baseline="-25000" dirty="0">
              <a:latin typeface="Latin Modern Math" panose="02000503000000000000" pitchFamily="2" charset="77"/>
              <a:ea typeface="Latin Modern Math" panose="02000503000000000000" pitchFamily="2" charset="77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773916-7A18-0C32-3514-6FE1B7F54D0C}"/>
              </a:ext>
            </a:extLst>
          </p:cNvPr>
          <p:cNvCxnSpPr>
            <a:cxnSpLocks/>
            <a:stCxn id="35" idx="4"/>
            <a:endCxn id="33" idx="0"/>
          </p:cNvCxnSpPr>
          <p:nvPr/>
        </p:nvCxnSpPr>
        <p:spPr>
          <a:xfrm>
            <a:off x="5804252" y="3004242"/>
            <a:ext cx="194292" cy="417973"/>
          </a:xfrm>
          <a:prstGeom prst="line">
            <a:avLst/>
          </a:prstGeom>
          <a:ln w="19050">
            <a:solidFill>
              <a:srgbClr val="737A7F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24A9FC7A-A403-0F05-8501-9422EBC01787}"/>
              </a:ext>
            </a:extLst>
          </p:cNvPr>
          <p:cNvSpPr>
            <a:spLocks noChangeAspect="1"/>
          </p:cNvSpPr>
          <p:nvPr/>
        </p:nvSpPr>
        <p:spPr>
          <a:xfrm>
            <a:off x="5906739" y="3422214"/>
            <a:ext cx="183610" cy="182914"/>
          </a:xfrm>
          <a:prstGeom prst="ellipse">
            <a:avLst/>
          </a:prstGeom>
          <a:gradFill flip="none" rotWithShape="1">
            <a:gsLst>
              <a:gs pos="8000">
                <a:schemeClr val="accent6">
                  <a:lumMod val="20000"/>
                  <a:lumOff val="80000"/>
                </a:schemeClr>
              </a:gs>
              <a:gs pos="70000">
                <a:schemeClr val="accent6">
                  <a:lumMod val="60000"/>
                  <a:lumOff val="40000"/>
                </a:schemeClr>
              </a:gs>
              <a:gs pos="87000">
                <a:schemeClr val="accent3">
                  <a:lumMod val="60000"/>
                  <a:lumOff val="40000"/>
                </a:schemeClr>
              </a:gs>
              <a:gs pos="97000">
                <a:schemeClr val="accent3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3BD546B-8505-5F73-62F0-B89524FC5500}"/>
              </a:ext>
            </a:extLst>
          </p:cNvPr>
          <p:cNvCxnSpPr>
            <a:cxnSpLocks/>
            <a:stCxn id="35" idx="4"/>
            <a:endCxn id="10" idx="0"/>
          </p:cNvCxnSpPr>
          <p:nvPr/>
        </p:nvCxnSpPr>
        <p:spPr>
          <a:xfrm flipH="1">
            <a:off x="5654248" y="3004242"/>
            <a:ext cx="150004" cy="417973"/>
          </a:xfrm>
          <a:prstGeom prst="line">
            <a:avLst/>
          </a:prstGeom>
          <a:ln w="19050">
            <a:solidFill>
              <a:srgbClr val="737A7F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108D3D5-3A93-A855-A4F4-E2E7E0D84BB6}"/>
              </a:ext>
            </a:extLst>
          </p:cNvPr>
          <p:cNvSpPr>
            <a:spLocks noChangeAspect="1"/>
          </p:cNvSpPr>
          <p:nvPr/>
        </p:nvSpPr>
        <p:spPr>
          <a:xfrm>
            <a:off x="5664946" y="2726685"/>
            <a:ext cx="278612" cy="277556"/>
          </a:xfrm>
          <a:prstGeom prst="ellipse">
            <a:avLst/>
          </a:prstGeom>
          <a:gradFill flip="none" rotWithShape="1">
            <a:gsLst>
              <a:gs pos="89000">
                <a:srgbClr val="82ADE4">
                  <a:lumMod val="69000"/>
                </a:srgbClr>
              </a:gs>
              <a:gs pos="63000">
                <a:srgbClr val="95C5EC"/>
              </a:gs>
              <a:gs pos="1000">
                <a:srgbClr val="E6F5FB">
                  <a:lumMod val="70000"/>
                  <a:lumOff val="30000"/>
                </a:srgbClr>
              </a:gs>
              <a:gs pos="30000">
                <a:srgbClr val="E6F5FB"/>
              </a:gs>
            </a:gsLst>
            <a:path path="circle">
              <a:fillToRect l="50000" t="50000" r="50000" b="50000"/>
            </a:path>
            <a:tileRect/>
          </a:gra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45EFF8-10D4-D83D-D0F2-FAE033191FE3}"/>
              </a:ext>
            </a:extLst>
          </p:cNvPr>
          <p:cNvSpPr>
            <a:spLocks noChangeAspect="1"/>
          </p:cNvSpPr>
          <p:nvPr/>
        </p:nvSpPr>
        <p:spPr>
          <a:xfrm>
            <a:off x="5288922" y="2774006"/>
            <a:ext cx="183610" cy="182914"/>
          </a:xfrm>
          <a:prstGeom prst="ellipse">
            <a:avLst/>
          </a:prstGeom>
          <a:solidFill>
            <a:srgbClr val="000000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6CA242D-F435-DFBB-545E-39AF5B50C77A}"/>
              </a:ext>
            </a:extLst>
          </p:cNvPr>
          <p:cNvCxnSpPr>
            <a:cxnSpLocks/>
          </p:cNvCxnSpPr>
          <p:nvPr/>
        </p:nvCxnSpPr>
        <p:spPr>
          <a:xfrm>
            <a:off x="5935556" y="3244075"/>
            <a:ext cx="678488" cy="0"/>
          </a:xfrm>
          <a:prstGeom prst="straightConnector1">
            <a:avLst/>
          </a:prstGeom>
          <a:ln w="19050">
            <a:solidFill>
              <a:srgbClr val="737A7F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37">
            <a:extLst>
              <a:ext uri="{FF2B5EF4-FFF2-40B4-BE49-F238E27FC236}">
                <a16:creationId xmlns:a16="http://schemas.microsoft.com/office/drawing/2014/main" id="{98A6391F-9B8C-7772-0F07-F9865CC18C16}"/>
              </a:ext>
            </a:extLst>
          </p:cNvPr>
          <p:cNvSpPr/>
          <p:nvPr/>
        </p:nvSpPr>
        <p:spPr>
          <a:xfrm>
            <a:off x="4621719" y="-1138115"/>
            <a:ext cx="195588" cy="841263"/>
          </a:xfrm>
          <a:custGeom>
            <a:avLst/>
            <a:gdLst>
              <a:gd name="connsiteX0" fmla="*/ 328638 w 328638"/>
              <a:gd name="connsiteY0" fmla="*/ 0 h 814388"/>
              <a:gd name="connsiteX1" fmla="*/ 26 w 328638"/>
              <a:gd name="connsiteY1" fmla="*/ 385763 h 814388"/>
              <a:gd name="connsiteX2" fmla="*/ 314351 w 328638"/>
              <a:gd name="connsiteY2" fmla="*/ 814388 h 81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8638" h="814388">
                <a:moveTo>
                  <a:pt x="328638" y="0"/>
                </a:moveTo>
                <a:cubicBezTo>
                  <a:pt x="165522" y="125016"/>
                  <a:pt x="2407" y="250032"/>
                  <a:pt x="26" y="385763"/>
                </a:cubicBezTo>
                <a:cubicBezTo>
                  <a:pt x="-2355" y="521494"/>
                  <a:pt x="155998" y="667941"/>
                  <a:pt x="314351" y="814388"/>
                </a:cubicBezTo>
              </a:path>
            </a:pathLst>
          </a:custGeom>
          <a:noFill/>
          <a:ln>
            <a:solidFill>
              <a:schemeClr val="tx2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2A61771-8DBF-9572-82D6-2667C138F26A}"/>
              </a:ext>
            </a:extLst>
          </p:cNvPr>
          <p:cNvCxnSpPr>
            <a:cxnSpLocks/>
          </p:cNvCxnSpPr>
          <p:nvPr/>
        </p:nvCxnSpPr>
        <p:spPr>
          <a:xfrm>
            <a:off x="3567735" y="-3394008"/>
            <a:ext cx="0" cy="343173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98BD19A-8920-9F99-4C9F-1A60D086C7ED}"/>
              </a:ext>
            </a:extLst>
          </p:cNvPr>
          <p:cNvSpPr txBox="1"/>
          <p:nvPr/>
        </p:nvSpPr>
        <p:spPr>
          <a:xfrm rot="16200000">
            <a:off x="2100416" y="-2227054"/>
            <a:ext cx="29062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Rubin, </a:t>
            </a:r>
            <a:r>
              <a:rPr lang="en-NL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Gaia</a:t>
            </a:r>
            <a:r>
              <a:rPr lang="en-NL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ELT</a:t>
            </a:r>
          </a:p>
          <a:p>
            <a:r>
              <a:rPr lang="en-NL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APOGEE, BLOeM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9182C75-D0A2-EB6D-BBAD-5F07D371447C}"/>
              </a:ext>
            </a:extLst>
          </p:cNvPr>
          <p:cNvCxnSpPr>
            <a:cxnSpLocks/>
          </p:cNvCxnSpPr>
          <p:nvPr/>
        </p:nvCxnSpPr>
        <p:spPr>
          <a:xfrm>
            <a:off x="4642615" y="3422214"/>
            <a:ext cx="0" cy="175728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3D1B931-205B-66F0-CAC8-E0259B068DAB}"/>
              </a:ext>
            </a:extLst>
          </p:cNvPr>
          <p:cNvSpPr txBox="1"/>
          <p:nvPr/>
        </p:nvSpPr>
        <p:spPr>
          <a:xfrm rot="16200000">
            <a:off x="3701389" y="3788357"/>
            <a:ext cx="18994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LVK, ET, CE</a:t>
            </a:r>
          </a:p>
          <a:p>
            <a:r>
              <a:rPr lang="en-NL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LISA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2095511-3543-7386-50A6-CBE2583C6BFF}"/>
              </a:ext>
            </a:extLst>
          </p:cNvPr>
          <p:cNvGrpSpPr/>
          <p:nvPr/>
        </p:nvGrpSpPr>
        <p:grpSpPr>
          <a:xfrm>
            <a:off x="7359590" y="4759887"/>
            <a:ext cx="900447" cy="910477"/>
            <a:chOff x="5139597" y="4222555"/>
            <a:chExt cx="900447" cy="910477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4095F3A-EA2B-DFDA-02E7-1F14BCC097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023" y="4523394"/>
              <a:ext cx="183610" cy="182914"/>
            </a:xfrm>
            <a:prstGeom prst="ellipse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50EB0C4-77A4-8C39-ED9D-65AF0F2A0C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0173" y="4653421"/>
              <a:ext cx="159986" cy="159380"/>
            </a:xfrm>
            <a:prstGeom prst="ellipse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Moon 44">
              <a:extLst>
                <a:ext uri="{FF2B5EF4-FFF2-40B4-BE49-F238E27FC236}">
                  <a16:creationId xmlns:a16="http://schemas.microsoft.com/office/drawing/2014/main" id="{54D4D953-8850-9B4A-4F86-6AA28786186E}"/>
                </a:ext>
              </a:extLst>
            </p:cNvPr>
            <p:cNvSpPr/>
            <p:nvPr/>
          </p:nvSpPr>
          <p:spPr>
            <a:xfrm rot="4345754">
              <a:off x="5469534" y="4340524"/>
              <a:ext cx="147215" cy="336315"/>
            </a:xfrm>
            <a:prstGeom prst="moon">
              <a:avLst>
                <a:gd name="adj" fmla="val 26969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6" name="Moon 45">
              <a:extLst>
                <a:ext uri="{FF2B5EF4-FFF2-40B4-BE49-F238E27FC236}">
                  <a16:creationId xmlns:a16="http://schemas.microsoft.com/office/drawing/2014/main" id="{6E354F19-A2E4-B9B7-AD37-1BF730A01322}"/>
                </a:ext>
              </a:extLst>
            </p:cNvPr>
            <p:cNvSpPr/>
            <p:nvPr/>
          </p:nvSpPr>
          <p:spPr>
            <a:xfrm rot="4529969">
              <a:off x="5411570" y="4199126"/>
              <a:ext cx="222611" cy="505529"/>
            </a:xfrm>
            <a:prstGeom prst="moon">
              <a:avLst>
                <a:gd name="adj" fmla="val 1326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7" name="Moon 46">
              <a:extLst>
                <a:ext uri="{FF2B5EF4-FFF2-40B4-BE49-F238E27FC236}">
                  <a16:creationId xmlns:a16="http://schemas.microsoft.com/office/drawing/2014/main" id="{BE4824C5-E15F-774B-FFF3-2FEB66562B1D}"/>
                </a:ext>
              </a:extLst>
            </p:cNvPr>
            <p:cNvSpPr/>
            <p:nvPr/>
          </p:nvSpPr>
          <p:spPr>
            <a:xfrm rot="4375379">
              <a:off x="5324208" y="4037944"/>
              <a:ext cx="320819" cy="690042"/>
            </a:xfrm>
            <a:prstGeom prst="moon">
              <a:avLst>
                <a:gd name="adj" fmla="val 510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8" name="Moon 47">
              <a:extLst>
                <a:ext uri="{FF2B5EF4-FFF2-40B4-BE49-F238E27FC236}">
                  <a16:creationId xmlns:a16="http://schemas.microsoft.com/office/drawing/2014/main" id="{73A4191D-7320-A4AA-A21F-80EEFC938B88}"/>
                </a:ext>
              </a:extLst>
            </p:cNvPr>
            <p:cNvSpPr/>
            <p:nvPr/>
          </p:nvSpPr>
          <p:spPr>
            <a:xfrm rot="15250780" flipV="1">
              <a:off x="5565928" y="4663068"/>
              <a:ext cx="154631" cy="366824"/>
            </a:xfrm>
            <a:prstGeom prst="moon">
              <a:avLst>
                <a:gd name="adj" fmla="val 27641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9" name="Moon 48">
              <a:extLst>
                <a:ext uri="{FF2B5EF4-FFF2-40B4-BE49-F238E27FC236}">
                  <a16:creationId xmlns:a16="http://schemas.microsoft.com/office/drawing/2014/main" id="{4B9C16C1-E0CE-9B95-2023-BB6F9A066043}"/>
                </a:ext>
              </a:extLst>
            </p:cNvPr>
            <p:cNvSpPr/>
            <p:nvPr/>
          </p:nvSpPr>
          <p:spPr>
            <a:xfrm rot="15122799" flipV="1">
              <a:off x="5568988" y="4682736"/>
              <a:ext cx="222611" cy="505529"/>
            </a:xfrm>
            <a:prstGeom prst="moon">
              <a:avLst>
                <a:gd name="adj" fmla="val 1326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0" name="Moon 49">
              <a:extLst>
                <a:ext uri="{FF2B5EF4-FFF2-40B4-BE49-F238E27FC236}">
                  <a16:creationId xmlns:a16="http://schemas.microsoft.com/office/drawing/2014/main" id="{70650E93-074B-CF32-1FA2-A1F86DCB7AB9}"/>
                </a:ext>
              </a:extLst>
            </p:cNvPr>
            <p:cNvSpPr/>
            <p:nvPr/>
          </p:nvSpPr>
          <p:spPr>
            <a:xfrm rot="15043622" flipV="1">
              <a:off x="5534613" y="4627602"/>
              <a:ext cx="320819" cy="690042"/>
            </a:xfrm>
            <a:prstGeom prst="moon">
              <a:avLst>
                <a:gd name="adj" fmla="val 510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138276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8378</TotalTime>
  <Words>409</Words>
  <Application>Microsoft Macintosh PowerPoint</Application>
  <PresentationFormat>Widescreen</PresentationFormat>
  <Paragraphs>142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Latin Modern Math</vt:lpstr>
      <vt:lpstr>Liberation Serif</vt:lpstr>
      <vt:lpstr>Luxi Sans</vt:lpstr>
      <vt:lpstr>Univers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Son, A.A.C. van (Lieke)</dc:creator>
  <cp:lastModifiedBy>Son, A.A.C. van (Lieke)</cp:lastModifiedBy>
  <cp:revision>15</cp:revision>
  <dcterms:created xsi:type="dcterms:W3CDTF">2026-05-22T14:34:41Z</dcterms:created>
  <dcterms:modified xsi:type="dcterms:W3CDTF">2026-06-19T09:28:58Z</dcterms:modified>
</cp:coreProperties>
</file>